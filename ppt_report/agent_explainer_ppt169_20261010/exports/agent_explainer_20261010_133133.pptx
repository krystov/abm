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Hi. A quick question first: what does the word "agent" mean? In computer science it's a program that acts on your behalf — something like a chatbot. In social science it's much smaller: a stand-in for a person or a firm. Today I want to show you what happened when we put the first kind of agent inside the second kind. Three parts: what an agent is, where the AI goes in, and what changed when it did.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A social-science agent is a small piece of code standing in for a decision-maker. It has a state — what it owns, what it can spend. A rule — when it buys, when it produces. And neighbours it can see. Here is the key idea: the rules are the theory. If the rules are wrong, the model is wrong. Nothing is learned inside the agent; everything was written down by the researcher, and you can read it line by line. An AI agent is almost the opposite — flexible, general, and not fully inspectable. Both are useful. This talk is about putting the second one inside the first.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Why build a model like this at all? Install a panel because your neighbour did. Install one because the subsidy changed. Install one because the price fell. Do that across a few hundred households and a pattern appears: a slow start, a take-off, a saturation. Nobody planned that curve. No agent in the model even knows what a diffusion curve is. That is the point of the method — the interesting result emerges from the rules. The curve on this page is a sketch, by the way; no data is plotted on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Our case is Germany's solar boom, 1991 to 2016. Three kinds of agent. Five hundred adopters — households and firms, scaled down a thousand-fold from about twenty million potential buyers. Two manufacturers, one domestic and one foreign. Two installers, handling the order queue and the labour market. Above them, a macro environment hands out the monthly signals: electricity price, feed-in tariff, media attention, and public research spending. One tick is one month. This is the baseline — formula only.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What makes the agents move? Two rules. Rule one is adoption, and it happens in two stages. First the agent has to get the idea — neighbours, information, green-mindedness, expected return. Then it has to pass an economic test: net present value must be non-negative — unless it's a hard-core environmentalist, who installs anyway. Rule two is the cost of a module: it falls with cumulative production, learning by doing, and with the knowledge built up by research, learning by research. The same equation, every manufacturer, every month. So notice: the consumer is a pure optimiser, and no manufacturer ever has to be persuaded to invest.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where does the AI go in? We did not hand over the model. We replaced one step: the decision. The state — prices, knowledge, orders, neighbours — is still the original model. The language model decides; the model applies the decision and moves to the next month. Two agent types were opened up. For manufacturers, the monthly decision now comes from a board of five AI directors with different mandates — they vote, and they leave minutes. For consumers, five per cent of the undecided adopters are asked each month. And if a call fails, the model falls back to the equation, so the simulation never stalls.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First change. The rule-based consumer has a gate: if the numbers don't work, you don't buy. The AI consumer gets the same figures, and there is no gate. It can buy because the neighbours are doing it, because it likes the technology, or because it expects the next subsidy round to be generous. Those are reasons an equation cannot hold — and they are how people actually behave. Our baseline ends at about ten per cent adoption, against a historical rate closer to seven. One honest caveat: we have verified this mechanism in the code and in short live runs; the full twenty-six-year comparison is still pending.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Second change: the manufacturer. In the formula model, cost reduction is silent and automatic. Here it has to be argued. Five directors, five mandates: chair, finance, technology, marketing, compliance. They disagree by design. In the first live board meeting the vote was three to one to one — the firm expanded, and it chose to spend that month's research budget rather than stand still. Every reason and every reservation is written into the minutes. So research stops being a setting in the code and becomes an argument you can read afterwards.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what does this buy? Behaviour an equation cannot express: peer pressure, emotion, expectations — and real disagreement inside a firm, with a record you can inspect. It also keeps a clean seam: the decision changes, the accounting does not. What it does not buy is accuracy. The long run is not finished; language-model decisions are not reproducible run to run; and each one costs money and time. A more realistic story is not automatically a truer number. Every AI decision is schema-checked and falls back to the equation — that is what makes the experiment safe to try.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Let me leave you with the boundary we drew. The equations stay. The world — prices, costs, orders, the monthly loop — is still the model. The AI only decides: buy or not, expand or not, which research to fund. Agents gave the model its mechanism. The AI gave the agents a voice. Thank you.</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agent_explainer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agent_explainer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a:solidFill>
            <a:schemeClr val="tx1"/>
          </a:solidFill>
          <a:latin typeface="+mn-lt"/>
          <a:ea typeface="+mn-ea"/>
          <a:cs typeface="+mn-cs"/>
        </a:defRPr>
      </a:lvl9pPr>
    </p:bodyStyle>
    <p:otherStyle>
      <a:defPPr>
        <a:defRPr lang="en-US"/>
      </a:defPPr>
      <a:lvl1pPr marL="0" algn="l" defTabSz="457200" rtl="0" eaLnBrk="1" latinLnBrk="0" hangingPunct="1">
        <a:defRPr sz="2100" kern="1200">
          <a:solidFill>
            <a:schemeClr val="tx1"/>
          </a:solidFill>
          <a:latin typeface="+mn-lt"/>
          <a:ea typeface="+mn-ea"/>
          <a:cs typeface="+mn-cs"/>
        </a:defRPr>
      </a:lvl1pPr>
      <a:lvl2pPr marL="457200" algn="l" defTabSz="457200" rtl="0" eaLnBrk="1" latinLnBrk="0" hangingPunct="1">
        <a:defRPr sz="1950" kern="1200">
          <a:solidFill>
            <a:schemeClr val="tx1"/>
          </a:solidFill>
          <a:latin typeface="+mn-lt"/>
          <a:ea typeface="+mn-ea"/>
          <a:cs typeface="+mn-cs"/>
        </a:defRPr>
      </a:lvl2pPr>
      <a:lvl3pPr marL="914400" algn="l" defTabSz="457200" rtl="0" eaLnBrk="1" latinLnBrk="0" hangingPunct="1">
        <a:defRPr sz="1850" kern="1200">
          <a:solidFill>
            <a:schemeClr val="tx1"/>
          </a:solidFill>
          <a:latin typeface="+mn-lt"/>
          <a:ea typeface="+mn-ea"/>
          <a:cs typeface="+mn-cs"/>
        </a:defRPr>
      </a:lvl3pPr>
      <a:lvl4pPr marL="1371600" algn="l" defTabSz="457200" rtl="0" eaLnBrk="1" latinLnBrk="0" hangingPunct="1">
        <a:defRPr sz="1700" kern="1200">
          <a:solidFill>
            <a:schemeClr val="tx1"/>
          </a:solidFill>
          <a:latin typeface="+mn-lt"/>
          <a:ea typeface="+mn-ea"/>
          <a:cs typeface="+mn-cs"/>
        </a:defRPr>
      </a:lvl4pPr>
      <a:lvl5pPr marL="1828800" algn="l" defTabSz="457200" rtl="0" eaLnBrk="1" latinLnBrk="0" hangingPunct="1">
        <a:defRPr sz="1600" kern="1200">
          <a:solidFill>
            <a:schemeClr val="tx1"/>
          </a:solidFill>
          <a:latin typeface="+mn-lt"/>
          <a:ea typeface="+mn-ea"/>
          <a:cs typeface="+mn-cs"/>
        </a:defRPr>
      </a:lvl5pPr>
      <a:lvl6pPr marL="2286000" algn="l" defTabSz="457200" rtl="0" eaLnBrk="1" latinLnBrk="0" hangingPunct="1">
        <a:defRPr sz="1450" kern="1200">
          <a:solidFill>
            <a:schemeClr val="tx1"/>
          </a:solidFill>
          <a:latin typeface="+mn-lt"/>
          <a:ea typeface="+mn-ea"/>
          <a:cs typeface="+mn-cs"/>
        </a:defRPr>
      </a:lvl6pPr>
      <a:lvl7pPr marL="2743200" algn="l" defTabSz="457200" rtl="0" eaLnBrk="1" latinLnBrk="0" hangingPunct="1">
        <a:defRPr sz="13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83c602104f667cf.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6750" y="1123950"/>
            <a:ext cx="6410897" cy="3951351"/>
            <a:chOff x="666750" y="1123950"/>
            <a:chExt cx="6410897" cy="3951351"/>
          </a:xfrm>
        </p:grpSpPr>
        <p:sp>
          <p:nvSpPr>
            <p:cNvPr id="2" name="Rectangle 2"/>
            <p:cNvSpPr/>
            <p:nvPr/>
          </p:nvSpPr>
          <p:spPr>
            <a:xfrm>
              <a:off x="685800" y="1123950"/>
              <a:ext cx="533400" cy="38100"/>
            </a:xfrm>
            <a:prstGeom prst="rect">
              <a:avLst/>
            </a:prstGeom>
            <a:solidFill>
              <a:schemeClr val="accent2"/>
            </a:solidFill>
            <a:ln>
              <a:noFill/>
            </a:ln>
          </p:spPr>
        </p:sp>
        <p:sp>
          <p:nvSpPr>
            <p:cNvPr id="3" name="TextBox 3"/>
            <p:cNvSpPr txBox="1"/>
            <p:nvPr/>
          </p:nvSpPr>
          <p:spPr>
            <a:xfrm>
              <a:off x="678180" y="1438275"/>
              <a:ext cx="3087624"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SCIENCE EXPLAINER · 5 MINUTES</a:t>
              </a:r>
            </a:p>
          </p:txBody>
        </p:sp>
        <p:sp>
          <p:nvSpPr>
            <p:cNvPr id="4" name="TextBox 4"/>
            <p:cNvSpPr txBox="1"/>
            <p:nvPr/>
          </p:nvSpPr>
          <p:spPr>
            <a:xfrm>
              <a:off x="666750" y="2236470"/>
              <a:ext cx="6410897" cy="1047750"/>
            </a:xfrm>
            <a:prstGeom prst="rect">
              <a:avLst/>
            </a:prstGeom>
            <a:noFill/>
            <a:ln>
              <a:noFill/>
            </a:ln>
          </p:spPr>
          <p:txBody>
            <a:bodyPr wrap="none" lIns="0" tIns="0" rIns="0" bIns="0" anchor="t" anchorCtr="0">
              <a:spAutoFit/>
            </a:bodyPr>
            <a:lstStyle/>
            <a:p>
              <a:pPr algn="l"/>
              <a:r>
                <a:rPr lang="en" sz="5400" b="1" dirty="0">
                  <a:solidFill>
                    <a:schemeClr val="accent1"/>
                  </a:solidFill>
                  <a:latin typeface="+mj-lt"/>
                  <a:ea typeface="+mj-ea"/>
                  <a:cs typeface="+mj-cs"/>
                </a:rPr>
                <a:t>Agents, then AI</a:t>
              </a:r>
            </a:p>
          </p:txBody>
        </p:sp>
        <p:sp>
          <p:nvSpPr>
            <p:cNvPr id="5" name="TextBox 5"/>
            <p:cNvSpPr txBox="1"/>
            <p:nvPr/>
          </p:nvSpPr>
          <p:spPr>
            <a:xfrm>
              <a:off x="672084" y="3232785"/>
              <a:ext cx="5479542" cy="1842516"/>
            </a:xfrm>
            <a:prstGeom prst="rect">
              <a:avLst/>
            </a:prstGeom>
            <a:noFill/>
            <a:ln>
              <a:noFill/>
            </a:ln>
          </p:spPr>
          <p:txBody>
            <a:bodyPr wrap="none" lIns="0" tIns="0" rIns="0" bIns="0" anchor="t" anchorCtr="0">
              <a:spAutoFit/>
            </a:bodyPr>
            <a:lstStyle/>
            <a:p>
              <a:pPr algn="l">
                <a:lnSpc>
                  <a:spcPts val="3450"/>
                </a:lnSpc>
              </a:pPr>
              <a:r>
                <a:rPr lang="en" sz="2700" dirty="0">
                  <a:solidFill>
                    <a:schemeClr val="dk1"/>
                  </a:solidFill>
                  <a:latin typeface="+mn-lt"/>
                  <a:ea typeface="+mn-ea"/>
                  <a:cs typeface="+mn-cs"/>
                </a:rPr>
                <a:t>What happens when you hand the</a:t>
              </a:r>
              <a:br/>
              <a:r>
                <a:rPr lang="en" sz="2700" dirty="0">
                  <a:solidFill>
                    <a:schemeClr val="dk1"/>
                  </a:solidFill>
                  <a:latin typeface="+mn-lt"/>
                  <a:ea typeface="+mn-ea"/>
                  <a:cs typeface="+mn-cs"/>
                </a:rPr>
                <a:t>decision step of a social-science</a:t>
              </a:r>
              <a:br/>
              <a:r>
                <a:rPr lang="en" sz="2700" dirty="0">
                  <a:solidFill>
                    <a:schemeClr val="dk1"/>
                  </a:solidFill>
                  <a:latin typeface="+mn-lt"/>
                  <a:ea typeface="+mn-ea"/>
                  <a:cs typeface="+mn-cs"/>
                </a:rPr>
                <a:t>simulation to a large language</a:t>
              </a:r>
              <a:br/>
              <a:r>
                <a:rPr lang="en" sz="2700" dirty="0">
                  <a:solidFill>
                    <a:schemeClr val="dk1"/>
                  </a:solidFill>
                  <a:latin typeface="+mn-lt"/>
                  <a:ea typeface="+mn-ea"/>
                  <a:cs typeface="+mn-cs"/>
                </a:rPr>
                <a:t>model</a:t>
              </a:r>
            </a:p>
          </p:txBody>
        </p:sp>
      </p:grpSp>
      <p:grpSp>
        <p:nvGrpSpPr>
          <p:cNvPr id="15" name="Group 15"/>
          <p:cNvGrpSpPr/>
          <p:nvPr/>
        </p:nvGrpSpPr>
        <p:grpSpPr>
          <a:xfrm>
            <a:off x="7981950" y="1436370"/>
            <a:ext cx="3524250" cy="4019550"/>
            <a:chOff x="7981950" y="1436370"/>
            <a:chExt cx="3524250" cy="4019550"/>
          </a:xfrm>
        </p:grpSpPr>
        <p:sp>
          <p:nvSpPr>
            <p:cNvPr id="7" name="TextBox 7"/>
            <p:cNvSpPr txBox="1"/>
            <p:nvPr/>
          </p:nvSpPr>
          <p:spPr>
            <a:xfrm>
              <a:off x="7981950" y="1436370"/>
              <a:ext cx="1297537" cy="1047750"/>
            </a:xfrm>
            <a:prstGeom prst="rect">
              <a:avLst/>
            </a:prstGeom>
            <a:noFill/>
            <a:ln>
              <a:noFill/>
            </a:ln>
          </p:spPr>
          <p:txBody>
            <a:bodyPr wrap="none" lIns="0" tIns="0" rIns="0" bIns="0" anchor="t" anchorCtr="0">
              <a:spAutoFit/>
            </a:bodyPr>
            <a:lstStyle/>
            <a:p>
              <a:pPr algn="l"/>
              <a:r>
                <a:rPr lang="en" sz="5400" b="1" dirty="0">
                  <a:solidFill>
                    <a:schemeClr val="accent2"/>
                  </a:solidFill>
                  <a:latin typeface="Consolas"/>
                  <a:ea typeface="Consolas"/>
                  <a:cs typeface="Consolas"/>
                </a:rPr>
                <a:t>500</a:t>
              </a:r>
            </a:p>
          </p:txBody>
        </p:sp>
        <p:sp>
          <p:nvSpPr>
            <p:cNvPr id="8" name="TextBox 8"/>
            <p:cNvSpPr txBox="1"/>
            <p:nvPr/>
          </p:nvSpPr>
          <p:spPr>
            <a:xfrm>
              <a:off x="7993380" y="2181225"/>
              <a:ext cx="25488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agents in the model, scaled</a:t>
              </a:r>
              <a:br/>
              <a:r>
                <a:rPr lang="en" sz="1500" dirty="0">
                  <a:solidFill>
                    <a:schemeClr val="dk1"/>
                  </a:solidFill>
                  <a:latin typeface="+mn-lt"/>
                  <a:ea typeface="+mn-ea"/>
                  <a:cs typeface="+mn-cs"/>
                </a:rPr>
                <a:t>1:1000 from 20.8 M buyers</a:t>
              </a:r>
            </a:p>
          </p:txBody>
        </p:sp>
        <p:sp>
          <p:nvSpPr>
            <p:cNvPr id="9" name="Line 9"/>
            <p:cNvSpPr/>
            <p:nvPr/>
          </p:nvSpPr>
          <p:spPr>
            <a:xfrm>
              <a:off x="8001000" y="2724150"/>
              <a:ext cx="3505200" cy="9525"/>
            </a:xfrm>
            <a:custGeom>
              <a:avLst/>
              <a:gdLst/>
              <a:ahLst/>
              <a:cxnLst/>
              <a:rect l="l" t="t" r="r" b="b"/>
              <a:pathLst>
                <a:path w="3505200" h="9525">
                  <a:moveTo>
                    <a:pt x="0" y="0"/>
                  </a:moveTo>
                  <a:lnTo>
                    <a:pt x="3505200" y="0"/>
                  </a:lnTo>
                </a:path>
              </a:pathLst>
            </a:custGeom>
            <a:noFill/>
            <a:ln w="9525">
              <a:solidFill>
                <a:schemeClr val="accent1">
                  <a:alpha val="22000"/>
                </a:schemeClr>
              </a:solidFill>
            </a:ln>
          </p:spPr>
        </p:sp>
        <p:sp>
          <p:nvSpPr>
            <p:cNvPr id="10" name="TextBox 10"/>
            <p:cNvSpPr txBox="1"/>
            <p:nvPr/>
          </p:nvSpPr>
          <p:spPr>
            <a:xfrm>
              <a:off x="7981950" y="2922270"/>
              <a:ext cx="1297537" cy="1047750"/>
            </a:xfrm>
            <a:prstGeom prst="rect">
              <a:avLst/>
            </a:prstGeom>
            <a:noFill/>
            <a:ln>
              <a:noFill/>
            </a:ln>
          </p:spPr>
          <p:txBody>
            <a:bodyPr wrap="none" lIns="0" tIns="0" rIns="0" bIns="0" anchor="t" anchorCtr="0">
              <a:spAutoFit/>
            </a:bodyPr>
            <a:lstStyle/>
            <a:p>
              <a:pPr algn="l"/>
              <a:r>
                <a:rPr lang="en" sz="5400" b="1" dirty="0">
                  <a:solidFill>
                    <a:schemeClr val="accent1"/>
                  </a:solidFill>
                  <a:latin typeface="Consolas"/>
                  <a:ea typeface="Consolas"/>
                  <a:cs typeface="Consolas"/>
                </a:rPr>
                <a:t>312</a:t>
              </a:r>
            </a:p>
          </p:txBody>
        </p:sp>
        <p:sp>
          <p:nvSpPr>
            <p:cNvPr id="11" name="TextBox 11"/>
            <p:cNvSpPr txBox="1"/>
            <p:nvPr/>
          </p:nvSpPr>
          <p:spPr>
            <a:xfrm>
              <a:off x="7993380" y="3667125"/>
              <a:ext cx="2801874"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monthly steps, 1991 to 2016</a:t>
              </a:r>
            </a:p>
          </p:txBody>
        </p:sp>
        <p:sp>
          <p:nvSpPr>
            <p:cNvPr id="12" name="Line 12"/>
            <p:cNvSpPr/>
            <p:nvPr/>
          </p:nvSpPr>
          <p:spPr>
            <a:xfrm>
              <a:off x="8001000" y="4210050"/>
              <a:ext cx="3505200" cy="9525"/>
            </a:xfrm>
            <a:custGeom>
              <a:avLst/>
              <a:gdLst/>
              <a:ahLst/>
              <a:cxnLst/>
              <a:rect l="l" t="t" r="r" b="b"/>
              <a:pathLst>
                <a:path w="3505200" h="9525">
                  <a:moveTo>
                    <a:pt x="0" y="0"/>
                  </a:moveTo>
                  <a:lnTo>
                    <a:pt x="3505200" y="0"/>
                  </a:lnTo>
                </a:path>
              </a:pathLst>
            </a:custGeom>
            <a:noFill/>
            <a:ln w="9525">
              <a:solidFill>
                <a:schemeClr val="accent1">
                  <a:alpha val="22000"/>
                </a:schemeClr>
              </a:solidFill>
            </a:ln>
          </p:spPr>
        </p:sp>
        <p:sp>
          <p:nvSpPr>
            <p:cNvPr id="13" name="TextBox 13"/>
            <p:cNvSpPr txBox="1"/>
            <p:nvPr/>
          </p:nvSpPr>
          <p:spPr>
            <a:xfrm>
              <a:off x="7981950" y="4408170"/>
              <a:ext cx="457912" cy="1047750"/>
            </a:xfrm>
            <a:prstGeom prst="rect">
              <a:avLst/>
            </a:prstGeom>
            <a:noFill/>
            <a:ln>
              <a:noFill/>
            </a:ln>
          </p:spPr>
          <p:txBody>
            <a:bodyPr wrap="none" lIns="0" tIns="0" rIns="0" bIns="0" anchor="t" anchorCtr="0">
              <a:spAutoFit/>
            </a:bodyPr>
            <a:lstStyle/>
            <a:p>
              <a:pPr algn="l"/>
              <a:r>
                <a:rPr lang="en" sz="5400" b="1" dirty="0">
                  <a:solidFill>
                    <a:schemeClr val="accent2"/>
                  </a:solidFill>
                  <a:latin typeface="Consolas"/>
                  <a:ea typeface="Consolas"/>
                  <a:cs typeface="Consolas"/>
                </a:rPr>
                <a:t>2</a:t>
              </a:r>
            </a:p>
          </p:txBody>
        </p:sp>
        <p:sp>
          <p:nvSpPr>
            <p:cNvPr id="14" name="TextBox 14"/>
            <p:cNvSpPr txBox="1"/>
            <p:nvPr/>
          </p:nvSpPr>
          <p:spPr>
            <a:xfrm>
              <a:off x="7993380" y="5153025"/>
              <a:ext cx="2318576"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agent types use an LLM</a:t>
              </a:r>
            </a:p>
          </p:txBody>
        </p:sp>
      </p:grpSp>
      <p:grpSp>
        <p:nvGrpSpPr>
          <p:cNvPr id="19" name="Group 19"/>
          <p:cNvGrpSpPr/>
          <p:nvPr/>
        </p:nvGrpSpPr>
        <p:grpSpPr>
          <a:xfrm>
            <a:off x="678942" y="5943600"/>
            <a:ext cx="10834116" cy="480251"/>
            <a:chOff x="678942" y="5943600"/>
            <a:chExt cx="10834116" cy="480251"/>
          </a:xfrm>
        </p:grpSpPr>
        <p:sp>
          <p:nvSpPr>
            <p:cNvPr id="16" name="Line 16"/>
            <p:cNvSpPr/>
            <p:nvPr/>
          </p:nvSpPr>
          <p:spPr>
            <a:xfrm>
              <a:off x="685800" y="59436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17" name="TextBox 17"/>
            <p:cNvSpPr txBox="1"/>
            <p:nvPr/>
          </p:nvSpPr>
          <p:spPr>
            <a:xfrm>
              <a:off x="678942" y="6159818"/>
              <a:ext cx="6214731"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Case: agent-based model of Germany's solar PV policy mix, 1991–2016</a:t>
              </a:r>
            </a:p>
          </p:txBody>
        </p:sp>
        <p:sp>
          <p:nvSpPr>
            <p:cNvPr id="18" name="TextBox 18"/>
            <p:cNvSpPr txBox="1"/>
            <p:nvPr/>
          </p:nvSpPr>
          <p:spPr>
            <a:xfrm>
              <a:off x="10890523" y="61598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01 / 10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1732788"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THE IDEA · 1 OF 3</a:t>
              </a:r>
            </a:p>
          </p:txBody>
        </p:sp>
        <p:sp>
          <p:nvSpPr>
            <p:cNvPr id="4" name="TextBox 4"/>
            <p:cNvSpPr txBox="1"/>
            <p:nvPr/>
          </p:nvSpPr>
          <p:spPr>
            <a:xfrm>
              <a:off x="667512" y="963930"/>
              <a:ext cx="5517421"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An agent is not an AI</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4" name="Group 14"/>
          <p:cNvGrpSpPr/>
          <p:nvPr/>
        </p:nvGrpSpPr>
        <p:grpSpPr>
          <a:xfrm>
            <a:off x="675132" y="1940719"/>
            <a:ext cx="4395216" cy="3577304"/>
            <a:chOff x="675132" y="1940719"/>
            <a:chExt cx="4395216" cy="3577304"/>
          </a:xfrm>
        </p:grpSpPr>
        <p:grpSp>
          <p:nvGrpSpPr>
            <p:cNvPr id="11" name="Group 11"/>
            <p:cNvGrpSpPr/>
            <p:nvPr/>
          </p:nvGrpSpPr>
          <p:grpSpPr>
            <a:xfrm>
              <a:off x="721519" y="1940719"/>
              <a:ext cx="214313" cy="214313"/>
              <a:chOff x="721519" y="1940719"/>
              <a:chExt cx="214313" cy="214313"/>
            </a:xfrm>
          </p:grpSpPr>
          <p:sp>
            <p:nvSpPr>
              <p:cNvPr id="7" name="Freeform 7"/>
              <p:cNvSpPr/>
              <p:nvPr/>
            </p:nvSpPr>
            <p:spPr>
              <a:xfrm>
                <a:off x="745331" y="1940719"/>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23812">
                <a:solidFill>
                  <a:schemeClr val="accent2"/>
                </a:solidFill>
              </a:ln>
            </p:spPr>
          </p:sp>
          <p:sp>
            <p:nvSpPr>
              <p:cNvPr id="8" name="Freeform 8"/>
              <p:cNvSpPr/>
              <p:nvPr/>
            </p:nvSpPr>
            <p:spPr>
              <a:xfrm>
                <a:off x="721519" y="2083594"/>
                <a:ext cx="142875" cy="71438"/>
              </a:xfrm>
              <a:custGeom>
                <a:avLst/>
                <a:gdLst/>
                <a:ahLst/>
                <a:cxnLst/>
                <a:rect l="l" t="t" r="r" b="b"/>
                <a:pathLst>
                  <a:path w="142875" h="71438">
                    <a:moveTo>
                      <a:pt x="0" y="71438"/>
                    </a:moveTo>
                    <a:lnTo>
                      <a:pt x="0" y="47625"/>
                    </a:lnTo>
                    <a:cubicBezTo>
                      <a:pt x="0" y="21322"/>
                      <a:pt x="21322" y="0"/>
                      <a:pt x="47625" y="0"/>
                    </a:cubicBezTo>
                    <a:lnTo>
                      <a:pt x="95250" y="0"/>
                    </a:lnTo>
                    <a:cubicBezTo>
                      <a:pt x="121553" y="0"/>
                      <a:pt x="142875" y="21322"/>
                      <a:pt x="142875" y="47625"/>
                    </a:cubicBezTo>
                    <a:lnTo>
                      <a:pt x="142875" y="71438"/>
                    </a:lnTo>
                  </a:path>
                </a:pathLst>
              </a:custGeom>
              <a:noFill/>
              <a:ln w="23812">
                <a:solidFill>
                  <a:schemeClr val="accent2"/>
                </a:solidFill>
              </a:ln>
            </p:spPr>
          </p:sp>
          <p:sp>
            <p:nvSpPr>
              <p:cNvPr id="9" name="Freeform 9"/>
              <p:cNvSpPr/>
              <p:nvPr/>
            </p:nvSpPr>
            <p:spPr>
              <a:xfrm>
                <a:off x="876300" y="1942267"/>
                <a:ext cx="35812" cy="92273"/>
              </a:xfrm>
              <a:custGeom>
                <a:avLst/>
                <a:gdLst/>
                <a:ahLst/>
                <a:cxnLst/>
                <a:rect l="l" t="t" r="r" b="b"/>
                <a:pathLst>
                  <a:path w="35812" h="92273">
                    <a:moveTo>
                      <a:pt x="0" y="0"/>
                    </a:moveTo>
                    <a:cubicBezTo>
                      <a:pt x="21073" y="5396"/>
                      <a:pt x="35812" y="24384"/>
                      <a:pt x="35812" y="46137"/>
                    </a:cubicBezTo>
                    <a:cubicBezTo>
                      <a:pt x="35812" y="67890"/>
                      <a:pt x="21073" y="86878"/>
                      <a:pt x="0" y="92273"/>
                    </a:cubicBezTo>
                  </a:path>
                </a:pathLst>
              </a:custGeom>
              <a:noFill/>
              <a:ln w="23812">
                <a:solidFill>
                  <a:schemeClr val="accent2"/>
                </a:solidFill>
              </a:ln>
            </p:spPr>
          </p:sp>
          <p:sp>
            <p:nvSpPr>
              <p:cNvPr id="10" name="Freeform 10"/>
              <p:cNvSpPr/>
              <p:nvPr/>
            </p:nvSpPr>
            <p:spPr>
              <a:xfrm>
                <a:off x="900113" y="2085380"/>
                <a:ext cx="35719" cy="69652"/>
              </a:xfrm>
              <a:custGeom>
                <a:avLst/>
                <a:gdLst/>
                <a:ahLst/>
                <a:cxnLst/>
                <a:rect l="l" t="t" r="r" b="b"/>
                <a:pathLst>
                  <a:path w="35719" h="69652">
                    <a:moveTo>
                      <a:pt x="35719" y="69652"/>
                    </a:moveTo>
                    <a:lnTo>
                      <a:pt x="35719" y="45839"/>
                    </a:lnTo>
                    <a:cubicBezTo>
                      <a:pt x="35594" y="24224"/>
                      <a:pt x="20929" y="5403"/>
                      <a:pt x="0" y="0"/>
                    </a:cubicBezTo>
                  </a:path>
                </a:pathLst>
              </a:custGeom>
              <a:noFill/>
              <a:ln w="23812">
                <a:solidFill>
                  <a:schemeClr val="accent2"/>
                </a:solidFill>
              </a:ln>
            </p:spPr>
          </p:sp>
        </p:grpSp>
        <p:sp>
          <p:nvSpPr>
            <p:cNvPr id="12" name="TextBox 12"/>
            <p:cNvSpPr txBox="1"/>
            <p:nvPr/>
          </p:nvSpPr>
          <p:spPr>
            <a:xfrm>
              <a:off x="675132" y="2459355"/>
              <a:ext cx="4395216" cy="2315718"/>
            </a:xfrm>
            <a:prstGeom prst="rect">
              <a:avLst/>
            </a:prstGeom>
            <a:noFill/>
            <a:ln>
              <a:noFill/>
            </a:ln>
          </p:spPr>
          <p:txBody>
            <a:bodyPr wrap="none" lIns="0" tIns="0" rIns="0" bIns="0" anchor="t" anchorCtr="0">
              <a:spAutoFit/>
            </a:bodyPr>
            <a:lstStyle/>
            <a:p>
              <a:pPr algn="l">
                <a:lnSpc>
                  <a:spcPts val="3000"/>
                </a:lnSpc>
              </a:pPr>
              <a:r>
                <a:rPr lang="en" sz="2100" dirty="0">
                  <a:solidFill>
                    <a:schemeClr val="dk1"/>
                  </a:solidFill>
                  <a:latin typeface="+mn-lt"/>
                  <a:ea typeface="+mn-ea"/>
                  <a:cs typeface="+mn-cs"/>
                </a:rPr>
                <a:t>An agent is a small stand-in for a</a:t>
              </a:r>
              <a:br/>
              <a:r>
                <a:rPr lang="en" sz="2100" dirty="0">
                  <a:solidFill>
                    <a:schemeClr val="dk1"/>
                  </a:solidFill>
                  <a:latin typeface="+mn-lt"/>
                  <a:ea typeface="+mn-ea"/>
                  <a:cs typeface="+mn-cs"/>
                </a:rPr>
                <a:t>person or a firm. It has a state —</a:t>
              </a:r>
              <a:br/>
              <a:r>
                <a:rPr lang="en" sz="2100" dirty="0">
                  <a:solidFill>
                    <a:schemeClr val="dk1"/>
                  </a:solidFill>
                  <a:latin typeface="+mn-lt"/>
                  <a:ea typeface="+mn-ea"/>
                  <a:cs typeface="+mn-cs"/>
                </a:rPr>
                <a:t>what it owns, what it can spend.</a:t>
              </a:r>
              <a:br/>
              <a:r>
                <a:rPr lang="en" sz="2100" dirty="0">
                  <a:solidFill>
                    <a:schemeClr val="dk1"/>
                  </a:solidFill>
                  <a:latin typeface="+mn-lt"/>
                  <a:ea typeface="+mn-ea"/>
                  <a:cs typeface="+mn-cs"/>
                </a:rPr>
                <a:t>It has a rule: when it buys, when</a:t>
              </a:r>
              <a:br/>
              <a:r>
                <a:rPr lang="en" sz="2100" dirty="0">
                  <a:solidFill>
                    <a:schemeClr val="dk1"/>
                  </a:solidFill>
                  <a:latin typeface="+mn-lt"/>
                  <a:ea typeface="+mn-ea"/>
                  <a:cs typeface="+mn-cs"/>
                </a:rPr>
                <a:t>it produces. It has neighbours it</a:t>
              </a:r>
              <a:br/>
              <a:r>
                <a:rPr lang="en" sz="2100" dirty="0">
                  <a:solidFill>
                    <a:schemeClr val="dk1"/>
                  </a:solidFill>
                  <a:latin typeface="+mn-lt"/>
                  <a:ea typeface="+mn-ea"/>
                  <a:cs typeface="+mn-cs"/>
                </a:rPr>
                <a:t>can see.</a:t>
              </a:r>
            </a:p>
          </p:txBody>
        </p:sp>
        <p:sp>
          <p:nvSpPr>
            <p:cNvPr id="13" name="TextBox 13"/>
            <p:cNvSpPr txBox="1"/>
            <p:nvPr/>
          </p:nvSpPr>
          <p:spPr>
            <a:xfrm>
              <a:off x="675132" y="5107305"/>
              <a:ext cx="3742301"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The rules are the theory.</a:t>
              </a:r>
            </a:p>
          </p:txBody>
        </p:sp>
      </p:grpSp>
      <p:grpSp>
        <p:nvGrpSpPr>
          <p:cNvPr id="27" name="Group 27"/>
          <p:cNvGrpSpPr/>
          <p:nvPr/>
        </p:nvGrpSpPr>
        <p:grpSpPr>
          <a:xfrm>
            <a:off x="5897880" y="2105025"/>
            <a:ext cx="5608320" cy="3398520"/>
            <a:chOff x="5897880" y="2105025"/>
            <a:chExt cx="5608320" cy="3398520"/>
          </a:xfrm>
        </p:grpSpPr>
        <p:sp>
          <p:nvSpPr>
            <p:cNvPr id="15" name="TextBox 15"/>
            <p:cNvSpPr txBox="1"/>
            <p:nvPr/>
          </p:nvSpPr>
          <p:spPr>
            <a:xfrm>
              <a:off x="5897880" y="2105025"/>
              <a:ext cx="2356333" cy="293370"/>
            </a:xfrm>
            <a:prstGeom prst="rect">
              <a:avLst/>
            </a:prstGeom>
            <a:noFill/>
            <a:ln>
              <a:noFill/>
            </a:ln>
          </p:spPr>
          <p:txBody>
            <a:bodyPr wrap="none" lIns="0" tIns="0" rIns="0" bIns="0" anchor="t" anchorCtr="0">
              <a:spAutoFit/>
            </a:bodyPr>
            <a:lstStyle/>
            <a:p>
              <a:pPr algn="l"/>
              <a:r>
                <a:rPr lang="en" sz="1500" b="1" dirty="0">
                  <a:solidFill>
                    <a:schemeClr val="accent3"/>
                  </a:solidFill>
                  <a:latin typeface="+mn-lt"/>
                  <a:ea typeface="+mn-ea"/>
                  <a:cs typeface="+mn-cs"/>
                </a:rPr>
                <a:t>SOCIAL-SCIENCE AGENT</a:t>
              </a:r>
            </a:p>
          </p:txBody>
        </p:sp>
        <p:sp>
          <p:nvSpPr>
            <p:cNvPr id="16" name="TextBox 16"/>
            <p:cNvSpPr txBox="1"/>
            <p:nvPr/>
          </p:nvSpPr>
          <p:spPr>
            <a:xfrm>
              <a:off x="8755380" y="2105025"/>
              <a:ext cx="888949"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AI AGENT</a:t>
              </a:r>
            </a:p>
          </p:txBody>
        </p:sp>
        <p:sp>
          <p:nvSpPr>
            <p:cNvPr id="17" name="Line 17"/>
            <p:cNvSpPr/>
            <p:nvPr/>
          </p:nvSpPr>
          <p:spPr>
            <a:xfrm>
              <a:off x="5905500" y="2400300"/>
              <a:ext cx="5600700" cy="9525"/>
            </a:xfrm>
            <a:custGeom>
              <a:avLst/>
              <a:gdLst/>
              <a:ahLst/>
              <a:cxnLst/>
              <a:rect l="l" t="t" r="r" b="b"/>
              <a:pathLst>
                <a:path w="5600700" h="9525">
                  <a:moveTo>
                    <a:pt x="0" y="0"/>
                  </a:moveTo>
                  <a:lnTo>
                    <a:pt x="5600700" y="0"/>
                  </a:lnTo>
                </a:path>
              </a:pathLst>
            </a:custGeom>
            <a:noFill/>
            <a:ln w="9525">
              <a:solidFill>
                <a:schemeClr val="accent1">
                  <a:alpha val="22000"/>
                </a:schemeClr>
              </a:solidFill>
            </a:ln>
          </p:spPr>
        </p:sp>
        <p:sp>
          <p:nvSpPr>
            <p:cNvPr id="18" name="TextBox 18"/>
            <p:cNvSpPr txBox="1"/>
            <p:nvPr/>
          </p:nvSpPr>
          <p:spPr>
            <a:xfrm>
              <a:off x="5898642" y="2635568"/>
              <a:ext cx="873924" cy="264033"/>
            </a:xfrm>
            <a:prstGeom prst="rect">
              <a:avLst/>
            </a:prstGeom>
            <a:noFill/>
            <a:ln>
              <a:noFill/>
            </a:ln>
          </p:spPr>
          <p:txBody>
            <a:bodyPr wrap="none" lIns="0" tIns="0" rIns="0" bIns="0" anchor="t" anchorCtr="0">
              <a:spAutoFit/>
            </a:bodyPr>
            <a:lstStyle/>
            <a:p>
              <a:pPr algn="l"/>
              <a:r>
                <a:rPr lang="en" sz="1350" dirty="0">
                  <a:solidFill>
                    <a:schemeClr val="accent1">
                      <a:alphaMod val="70000"/>
                    </a:schemeClr>
                  </a:solidFill>
                  <a:latin typeface="+mn-lt"/>
                  <a:ea typeface="+mn-ea"/>
                  <a:cs typeface="+mn-cs"/>
                </a:rPr>
                <a:t>What it is</a:t>
              </a:r>
            </a:p>
          </p:txBody>
        </p:sp>
        <p:sp>
          <p:nvSpPr>
            <p:cNvPr id="19" name="TextBox 19"/>
            <p:cNvSpPr txBox="1"/>
            <p:nvPr/>
          </p:nvSpPr>
          <p:spPr>
            <a:xfrm>
              <a:off x="5897880" y="2905125"/>
              <a:ext cx="180594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 few variables and</a:t>
              </a:r>
              <a:br/>
              <a:r>
                <a:rPr lang="en" sz="1500" dirty="0">
                  <a:solidFill>
                    <a:schemeClr val="dk1"/>
                  </a:solidFill>
                  <a:latin typeface="+mn-lt"/>
                  <a:ea typeface="+mn-ea"/>
                  <a:cs typeface="+mn-cs"/>
                </a:rPr>
                <a:t>an if-then rule</a:t>
              </a:r>
            </a:p>
          </p:txBody>
        </p:sp>
        <p:sp>
          <p:nvSpPr>
            <p:cNvPr id="20" name="TextBox 20"/>
            <p:cNvSpPr txBox="1"/>
            <p:nvPr/>
          </p:nvSpPr>
          <p:spPr>
            <a:xfrm>
              <a:off x="8755380" y="2905125"/>
              <a:ext cx="19011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 learned model with</a:t>
              </a:r>
              <a:br/>
              <a:r>
                <a:rPr lang="en" sz="1500" dirty="0">
                  <a:solidFill>
                    <a:schemeClr val="dk1"/>
                  </a:solidFill>
                  <a:latin typeface="+mn-lt"/>
                  <a:ea typeface="+mn-ea"/>
                  <a:cs typeface="+mn-cs"/>
                </a:rPr>
                <a:t>a general interface</a:t>
              </a:r>
            </a:p>
          </p:txBody>
        </p:sp>
        <p:sp>
          <p:nvSpPr>
            <p:cNvPr id="21" name="TextBox 21"/>
            <p:cNvSpPr txBox="1"/>
            <p:nvPr/>
          </p:nvSpPr>
          <p:spPr>
            <a:xfrm>
              <a:off x="5898642" y="3664268"/>
              <a:ext cx="2854985" cy="264033"/>
            </a:xfrm>
            <a:prstGeom prst="rect">
              <a:avLst/>
            </a:prstGeom>
            <a:noFill/>
            <a:ln>
              <a:noFill/>
            </a:ln>
          </p:spPr>
          <p:txBody>
            <a:bodyPr wrap="none" lIns="0" tIns="0" rIns="0" bIns="0" anchor="t" anchorCtr="0">
              <a:spAutoFit/>
            </a:bodyPr>
            <a:lstStyle/>
            <a:p>
              <a:pPr algn="l"/>
              <a:r>
                <a:rPr lang="en" sz="1350" dirty="0">
                  <a:solidFill>
                    <a:schemeClr val="accent1">
                      <a:alphaMod val="70000"/>
                    </a:schemeClr>
                  </a:solidFill>
                  <a:latin typeface="+mn-lt"/>
                  <a:ea typeface="+mn-ea"/>
                  <a:cs typeface="+mn-cs"/>
                </a:rPr>
                <a:t>Where its behaviour comes from</a:t>
              </a:r>
            </a:p>
          </p:txBody>
        </p:sp>
        <p:sp>
          <p:nvSpPr>
            <p:cNvPr id="22" name="TextBox 22"/>
            <p:cNvSpPr txBox="1"/>
            <p:nvPr/>
          </p:nvSpPr>
          <p:spPr>
            <a:xfrm>
              <a:off x="5897880" y="3933825"/>
              <a:ext cx="25869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written by the researcher,</a:t>
              </a:r>
              <a:br/>
              <a:r>
                <a:rPr lang="en" sz="1500" dirty="0">
                  <a:solidFill>
                    <a:schemeClr val="dk1"/>
                  </a:solidFill>
                  <a:latin typeface="+mn-lt"/>
                  <a:ea typeface="+mn-ea"/>
                  <a:cs typeface="+mn-cs"/>
                </a:rPr>
                <a:t>inspectable line by line</a:t>
              </a:r>
            </a:p>
          </p:txBody>
        </p:sp>
        <p:sp>
          <p:nvSpPr>
            <p:cNvPr id="23" name="TextBox 23"/>
            <p:cNvSpPr txBox="1"/>
            <p:nvPr/>
          </p:nvSpPr>
          <p:spPr>
            <a:xfrm>
              <a:off x="8755380" y="3933825"/>
              <a:ext cx="1929765"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learned from data,</a:t>
              </a:r>
              <a:br/>
              <a:r>
                <a:rPr lang="en" sz="1500" dirty="0">
                  <a:solidFill>
                    <a:schemeClr val="dk1"/>
                  </a:solidFill>
                  <a:latin typeface="+mn-lt"/>
                  <a:ea typeface="+mn-ea"/>
                  <a:cs typeface="+mn-cs"/>
                </a:rPr>
                <a:t>not fully inspectable</a:t>
              </a:r>
            </a:p>
          </p:txBody>
        </p:sp>
        <p:sp>
          <p:nvSpPr>
            <p:cNvPr id="24" name="TextBox 24"/>
            <p:cNvSpPr txBox="1"/>
            <p:nvPr/>
          </p:nvSpPr>
          <p:spPr>
            <a:xfrm>
              <a:off x="5898642" y="4692968"/>
              <a:ext cx="1582973" cy="264033"/>
            </a:xfrm>
            <a:prstGeom prst="rect">
              <a:avLst/>
            </a:prstGeom>
            <a:noFill/>
            <a:ln>
              <a:noFill/>
            </a:ln>
          </p:spPr>
          <p:txBody>
            <a:bodyPr wrap="none" lIns="0" tIns="0" rIns="0" bIns="0" anchor="t" anchorCtr="0">
              <a:spAutoFit/>
            </a:bodyPr>
            <a:lstStyle/>
            <a:p>
              <a:pPr algn="l"/>
              <a:r>
                <a:rPr lang="en" sz="1350" dirty="0">
                  <a:solidFill>
                    <a:schemeClr val="accent1">
                      <a:alphaMod val="70000"/>
                    </a:schemeClr>
                  </a:solidFill>
                  <a:latin typeface="+mn-lt"/>
                  <a:ea typeface="+mn-ea"/>
                  <a:cs typeface="+mn-cs"/>
                </a:rPr>
                <a:t>What it is best at</a:t>
              </a:r>
            </a:p>
          </p:txBody>
        </p:sp>
        <p:sp>
          <p:nvSpPr>
            <p:cNvPr id="25" name="TextBox 25"/>
            <p:cNvSpPr txBox="1"/>
            <p:nvPr/>
          </p:nvSpPr>
          <p:spPr>
            <a:xfrm>
              <a:off x="5897880" y="4962525"/>
              <a:ext cx="1891665"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testing a mechanism</a:t>
              </a:r>
              <a:br/>
              <a:r>
                <a:rPr lang="en" sz="1500" dirty="0">
                  <a:solidFill>
                    <a:schemeClr val="dk1"/>
                  </a:solidFill>
                  <a:latin typeface="+mn-lt"/>
                  <a:ea typeface="+mn-ea"/>
                  <a:cs typeface="+mn-cs"/>
                </a:rPr>
                <a:t>you can state</a:t>
              </a:r>
            </a:p>
          </p:txBody>
        </p:sp>
        <p:sp>
          <p:nvSpPr>
            <p:cNvPr id="26" name="TextBox 26"/>
            <p:cNvSpPr txBox="1"/>
            <p:nvPr/>
          </p:nvSpPr>
          <p:spPr>
            <a:xfrm>
              <a:off x="8755380" y="4962525"/>
              <a:ext cx="20154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producing a response</a:t>
              </a:r>
              <a:br/>
              <a:r>
                <a:rPr lang="en" sz="1500" dirty="0">
                  <a:solidFill>
                    <a:schemeClr val="dk1"/>
                  </a:solidFill>
                  <a:latin typeface="+mn-lt"/>
                  <a:ea typeface="+mn-ea"/>
                  <a:cs typeface="+mn-cs"/>
                </a:rPr>
                <a:t>you cannot pre-state</a:t>
              </a:r>
            </a:p>
          </p:txBody>
        </p:sp>
      </p:grpSp>
      <p:grpSp>
        <p:nvGrpSpPr>
          <p:cNvPr id="29" name="Group 29"/>
          <p:cNvGrpSpPr/>
          <p:nvPr/>
        </p:nvGrpSpPr>
        <p:grpSpPr>
          <a:xfrm>
            <a:off x="678180" y="5991225"/>
            <a:ext cx="10075127" cy="293370"/>
            <a:chOff x="678180" y="5991225"/>
            <a:chExt cx="10075127" cy="293370"/>
          </a:xfrm>
        </p:grpSpPr>
        <p:sp>
          <p:nvSpPr>
            <p:cNvPr id="28" name="TextBox 28"/>
            <p:cNvSpPr txBox="1"/>
            <p:nvPr/>
          </p:nvSpPr>
          <p:spPr>
            <a:xfrm>
              <a:off x="678180" y="5991225"/>
              <a:ext cx="10075127"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Both are useful, and they answer different questions. This talk puts the second one inside the first.</a:t>
              </a:r>
            </a:p>
          </p:txBody>
        </p:sp>
      </p:grpSp>
      <p:grpSp>
        <p:nvGrpSpPr>
          <p:cNvPr id="33" name="Group 33"/>
          <p:cNvGrpSpPr/>
          <p:nvPr/>
        </p:nvGrpSpPr>
        <p:grpSpPr>
          <a:xfrm>
            <a:off x="678942" y="6286500"/>
            <a:ext cx="10834116" cy="404051"/>
            <a:chOff x="678942" y="6286500"/>
            <a:chExt cx="10834116" cy="404051"/>
          </a:xfrm>
        </p:grpSpPr>
        <p:sp>
          <p:nvSpPr>
            <p:cNvPr id="30" name="Line 30"/>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31" name="TextBox 31"/>
            <p:cNvSpPr txBox="1"/>
            <p:nvPr/>
          </p:nvSpPr>
          <p:spPr>
            <a:xfrm>
              <a:off x="678942" y="6426518"/>
              <a:ext cx="8107199"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Agent-based modelling: the researcher writes the rules, the computer runs the population</a:t>
              </a:r>
            </a:p>
          </p:txBody>
        </p:sp>
        <p:sp>
          <p:nvSpPr>
            <p:cNvPr id="32" name="TextBox 32"/>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02 / 10</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1732788"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THE IDEA · 2 OF 3</a:t>
              </a:r>
            </a:p>
          </p:txBody>
        </p:sp>
        <p:sp>
          <p:nvSpPr>
            <p:cNvPr id="4" name="TextBox 4"/>
            <p:cNvSpPr txBox="1"/>
            <p:nvPr/>
          </p:nvSpPr>
          <p:spPr>
            <a:xfrm>
              <a:off x="667512" y="963930"/>
              <a:ext cx="6736677"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Nobody plans the S-curve</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8" name="Group 8"/>
          <p:cNvGrpSpPr/>
          <p:nvPr/>
        </p:nvGrpSpPr>
        <p:grpSpPr>
          <a:xfrm>
            <a:off x="675132" y="2097405"/>
            <a:ext cx="8635746" cy="1172718"/>
            <a:chOff x="675132" y="2097405"/>
            <a:chExt cx="8635746" cy="1172718"/>
          </a:xfrm>
        </p:grpSpPr>
        <p:sp>
          <p:nvSpPr>
            <p:cNvPr id="7" name="TextBox 7"/>
            <p:cNvSpPr txBox="1"/>
            <p:nvPr/>
          </p:nvSpPr>
          <p:spPr>
            <a:xfrm>
              <a:off x="675132" y="2097405"/>
              <a:ext cx="8635746" cy="1172718"/>
            </a:xfrm>
            <a:prstGeom prst="rect">
              <a:avLst/>
            </a:prstGeom>
            <a:noFill/>
            <a:ln>
              <a:noFill/>
            </a:ln>
          </p:spPr>
          <p:txBody>
            <a:bodyPr wrap="none" lIns="0" tIns="0" rIns="0" bIns="0" anchor="t" anchorCtr="0">
              <a:spAutoFit/>
            </a:bodyPr>
            <a:lstStyle/>
            <a:p>
              <a:pPr algn="l">
                <a:lnSpc>
                  <a:spcPts val="3000"/>
                </a:lnSpc>
              </a:pPr>
              <a:r>
                <a:rPr lang="en" sz="2100" dirty="0">
                  <a:solidFill>
                    <a:schemeClr val="dk1"/>
                  </a:solidFill>
                  <a:latin typeface="+mn-lt"/>
                  <a:ea typeface="+mn-ea"/>
                  <a:cs typeface="+mn-cs"/>
                </a:rPr>
                <a:t>Install a panel because your neighbour did, because the subsidy</a:t>
              </a:r>
              <a:br/>
              <a:r>
                <a:rPr lang="en" sz="2100" dirty="0">
                  <a:solidFill>
                    <a:schemeClr val="dk1"/>
                  </a:solidFill>
                  <a:latin typeface="+mn-lt"/>
                  <a:ea typeface="+mn-ea"/>
                  <a:cs typeface="+mn-cs"/>
                </a:rPr>
                <a:t>changed, and because the price fell — and the curve appears on its</a:t>
              </a:r>
              <a:br/>
              <a:r>
                <a:rPr lang="en" sz="2100" dirty="0">
                  <a:solidFill>
                    <a:schemeClr val="dk1"/>
                  </a:solidFill>
                  <a:latin typeface="+mn-lt"/>
                  <a:ea typeface="+mn-ea"/>
                  <a:cs typeface="+mn-cs"/>
                </a:rPr>
                <a:t>own. No agent in this model knows what a diffusion curve is.</a:t>
              </a:r>
            </a:p>
          </p:txBody>
        </p:sp>
      </p:grpSp>
      <p:grpSp>
        <p:nvGrpSpPr>
          <p:cNvPr id="18" name="Group 18"/>
          <p:cNvGrpSpPr/>
          <p:nvPr/>
        </p:nvGrpSpPr>
        <p:grpSpPr>
          <a:xfrm>
            <a:off x="1040892" y="3495675"/>
            <a:ext cx="10198608" cy="2642426"/>
            <a:chOff x="1040892" y="3495675"/>
            <a:chExt cx="10198608" cy="2642426"/>
          </a:xfrm>
        </p:grpSpPr>
        <p:sp>
          <p:nvSpPr>
            <p:cNvPr id="9" name="Line 9"/>
            <p:cNvSpPr/>
            <p:nvPr/>
          </p:nvSpPr>
          <p:spPr>
            <a:xfrm>
              <a:off x="1047750" y="5715000"/>
              <a:ext cx="10191750" cy="9525"/>
            </a:xfrm>
            <a:custGeom>
              <a:avLst/>
              <a:gdLst/>
              <a:ahLst/>
              <a:cxnLst/>
              <a:rect l="l" t="t" r="r" b="b"/>
              <a:pathLst>
                <a:path w="10191750" h="9525">
                  <a:moveTo>
                    <a:pt x="0" y="0"/>
                  </a:moveTo>
                  <a:lnTo>
                    <a:pt x="10191750" y="0"/>
                  </a:lnTo>
                </a:path>
              </a:pathLst>
            </a:custGeom>
            <a:noFill/>
            <a:ln w="19050">
              <a:solidFill>
                <a:schemeClr val="accent6"/>
              </a:solidFill>
            </a:ln>
          </p:spPr>
        </p:sp>
        <p:sp>
          <p:nvSpPr>
            <p:cNvPr id="10" name="Line 10"/>
            <p:cNvSpPr/>
            <p:nvPr/>
          </p:nvSpPr>
          <p:spPr>
            <a:xfrm>
              <a:off x="1047750" y="4000500"/>
              <a:ext cx="9525" cy="1714500"/>
            </a:xfrm>
            <a:custGeom>
              <a:avLst/>
              <a:gdLst/>
              <a:ahLst/>
              <a:cxnLst/>
              <a:rect l="l" t="t" r="r" b="b"/>
              <a:pathLst>
                <a:path w="9525" h="1714500">
                  <a:moveTo>
                    <a:pt x="0" y="0"/>
                  </a:moveTo>
                  <a:lnTo>
                    <a:pt x="0" y="1714500"/>
                  </a:lnTo>
                </a:path>
              </a:pathLst>
            </a:custGeom>
            <a:noFill/>
            <a:ln w="19050">
              <a:solidFill>
                <a:schemeClr val="accent6"/>
              </a:solidFill>
            </a:ln>
          </p:spPr>
        </p:sp>
        <p:sp>
          <p:nvSpPr>
            <p:cNvPr id="11" name="Freeform 11"/>
            <p:cNvSpPr/>
            <p:nvPr/>
          </p:nvSpPr>
          <p:spPr>
            <a:xfrm>
              <a:off x="1047750" y="3771900"/>
              <a:ext cx="10191750" cy="1905000"/>
            </a:xfrm>
            <a:custGeom>
              <a:avLst/>
              <a:gdLst/>
              <a:ahLst/>
              <a:cxnLst/>
              <a:rect l="l" t="t" r="r" b="b"/>
              <a:pathLst>
                <a:path w="10191750" h="1905000">
                  <a:moveTo>
                    <a:pt x="0" y="1905000"/>
                  </a:moveTo>
                  <a:cubicBezTo>
                    <a:pt x="1809750" y="1866900"/>
                    <a:pt x="2571750" y="1485900"/>
                    <a:pt x="3905250" y="952500"/>
                  </a:cubicBezTo>
                  <a:cubicBezTo>
                    <a:pt x="5238750" y="419100"/>
                    <a:pt x="6000750" y="152400"/>
                    <a:pt x="7524750" y="57150"/>
                  </a:cubicBezTo>
                  <a:cubicBezTo>
                    <a:pt x="8667750" y="0"/>
                    <a:pt x="9429750" y="0"/>
                    <a:pt x="10191750" y="0"/>
                  </a:cubicBezTo>
                </a:path>
              </a:pathLst>
            </a:custGeom>
            <a:noFill/>
            <a:ln w="38100">
              <a:solidFill>
                <a:schemeClr val="accent2"/>
              </a:solidFill>
            </a:ln>
          </p:spPr>
        </p:sp>
        <p:sp>
          <p:nvSpPr>
            <p:cNvPr id="12" name="Ellipse 12"/>
            <p:cNvSpPr/>
            <p:nvPr/>
          </p:nvSpPr>
          <p:spPr>
            <a:xfrm>
              <a:off x="4895850" y="4667250"/>
              <a:ext cx="114300" cy="114300"/>
            </a:xfrm>
            <a:prstGeom prst="ellipse">
              <a:avLst/>
            </a:prstGeom>
            <a:solidFill>
              <a:schemeClr val="accent2"/>
            </a:solidFill>
            <a:ln>
              <a:noFill/>
            </a:ln>
          </p:spPr>
        </p:sp>
        <p:sp>
          <p:nvSpPr>
            <p:cNvPr id="13" name="Ellipse 13"/>
            <p:cNvSpPr/>
            <p:nvPr/>
          </p:nvSpPr>
          <p:spPr>
            <a:xfrm>
              <a:off x="8515350" y="3771900"/>
              <a:ext cx="114300" cy="114300"/>
            </a:xfrm>
            <a:prstGeom prst="ellipse">
              <a:avLst/>
            </a:prstGeom>
            <a:solidFill>
              <a:schemeClr val="accent2"/>
            </a:solidFill>
            <a:ln>
              <a:noFill/>
            </a:ln>
          </p:spPr>
        </p:sp>
        <p:sp>
          <p:nvSpPr>
            <p:cNvPr id="14" name="TextBox 14"/>
            <p:cNvSpPr txBox="1"/>
            <p:nvPr/>
          </p:nvSpPr>
          <p:spPr>
            <a:xfrm>
              <a:off x="1421130" y="5229225"/>
              <a:ext cx="1065276" cy="293370"/>
            </a:xfrm>
            <a:prstGeom prst="rect">
              <a:avLst/>
            </a:prstGeom>
            <a:noFill/>
            <a:ln>
              <a:noFill/>
            </a:ln>
          </p:spPr>
          <p:txBody>
            <a:bodyPr wrap="none" lIns="0" tIns="0" rIns="0" bIns="0" anchor="t" anchorCtr="0">
              <a:spAutoFit/>
            </a:bodyPr>
            <a:lstStyle/>
            <a:p>
              <a:pPr algn="l"/>
              <a:r>
                <a:rPr lang="en" sz="1500" dirty="0">
                  <a:solidFill>
                    <a:schemeClr val="accent3"/>
                  </a:solidFill>
                  <a:latin typeface="+mn-lt"/>
                  <a:ea typeface="+mn-ea"/>
                  <a:cs typeface="+mn-cs"/>
                </a:rPr>
                <a:t>slow start</a:t>
              </a:r>
            </a:p>
          </p:txBody>
        </p:sp>
        <p:sp>
          <p:nvSpPr>
            <p:cNvPr id="15" name="TextBox 15"/>
            <p:cNvSpPr txBox="1"/>
            <p:nvPr/>
          </p:nvSpPr>
          <p:spPr>
            <a:xfrm>
              <a:off x="5288280" y="4314825"/>
              <a:ext cx="903732" cy="293370"/>
            </a:xfrm>
            <a:prstGeom prst="rect">
              <a:avLst/>
            </a:prstGeom>
            <a:noFill/>
            <a:ln>
              <a:noFill/>
            </a:ln>
          </p:spPr>
          <p:txBody>
            <a:bodyPr wrap="none" lIns="0" tIns="0" rIns="0" bIns="0" anchor="t" anchorCtr="0">
              <a:spAutoFit/>
            </a:bodyPr>
            <a:lstStyle/>
            <a:p>
              <a:pPr algn="l"/>
              <a:r>
                <a:rPr lang="en" sz="1500" dirty="0">
                  <a:solidFill>
                    <a:schemeClr val="accent3"/>
                  </a:solidFill>
                  <a:latin typeface="+mn-lt"/>
                  <a:ea typeface="+mn-ea"/>
                  <a:cs typeface="+mn-cs"/>
                </a:rPr>
                <a:t>take-off</a:t>
              </a:r>
            </a:p>
          </p:txBody>
        </p:sp>
        <p:sp>
          <p:nvSpPr>
            <p:cNvPr id="16" name="TextBox 16"/>
            <p:cNvSpPr txBox="1"/>
            <p:nvPr/>
          </p:nvSpPr>
          <p:spPr>
            <a:xfrm>
              <a:off x="8983980" y="3495675"/>
              <a:ext cx="1075372" cy="293370"/>
            </a:xfrm>
            <a:prstGeom prst="rect">
              <a:avLst/>
            </a:prstGeom>
            <a:noFill/>
            <a:ln>
              <a:noFill/>
            </a:ln>
          </p:spPr>
          <p:txBody>
            <a:bodyPr wrap="none" lIns="0" tIns="0" rIns="0" bIns="0" anchor="t" anchorCtr="0">
              <a:spAutoFit/>
            </a:bodyPr>
            <a:lstStyle/>
            <a:p>
              <a:pPr algn="l"/>
              <a:r>
                <a:rPr lang="en" sz="1500" dirty="0">
                  <a:solidFill>
                    <a:schemeClr val="accent3"/>
                  </a:solidFill>
                  <a:latin typeface="+mn-lt"/>
                  <a:ea typeface="+mn-ea"/>
                  <a:cs typeface="+mn-cs"/>
                </a:rPr>
                <a:t>saturation</a:t>
              </a:r>
            </a:p>
          </p:txBody>
        </p:sp>
        <p:sp>
          <p:nvSpPr>
            <p:cNvPr id="17" name="TextBox 17"/>
            <p:cNvSpPr txBox="1"/>
            <p:nvPr/>
          </p:nvSpPr>
          <p:spPr>
            <a:xfrm>
              <a:off x="1040892" y="5874068"/>
              <a:ext cx="4999437" cy="264033"/>
            </a:xfrm>
            <a:prstGeom prst="rect">
              <a:avLst/>
            </a:prstGeom>
            <a:noFill/>
            <a:ln>
              <a:noFill/>
            </a:ln>
          </p:spPr>
          <p:txBody>
            <a:bodyPr wrap="none" lIns="0" tIns="0" rIns="0" bIns="0" anchor="t" anchorCtr="0">
              <a:spAutoFit/>
            </a:bodyPr>
            <a:lstStyle/>
            <a:p>
              <a:pPr algn="l"/>
              <a:r>
                <a:rPr lang="en" sz="1350" dirty="0">
                  <a:solidFill>
                    <a:schemeClr val="dk1">
                      <a:alphaMod val="70000"/>
                    </a:schemeClr>
                  </a:solidFill>
                  <a:latin typeface="+mn-lt"/>
                  <a:ea typeface="+mn-ea"/>
                  <a:cs typeface="+mn-cs"/>
                </a:rPr>
                <a:t>Illustrative shape only — no data is plotted on this page.</a:t>
              </a:r>
            </a:p>
          </p:txBody>
        </p:sp>
      </p:grpSp>
      <p:grpSp>
        <p:nvGrpSpPr>
          <p:cNvPr id="22" name="Group 22"/>
          <p:cNvGrpSpPr/>
          <p:nvPr/>
        </p:nvGrpSpPr>
        <p:grpSpPr>
          <a:xfrm>
            <a:off x="678942" y="6286500"/>
            <a:ext cx="10834116" cy="404051"/>
            <a:chOff x="678942" y="6286500"/>
            <a:chExt cx="10834116" cy="404051"/>
          </a:xfrm>
        </p:grpSpPr>
        <p:sp>
          <p:nvSpPr>
            <p:cNvPr id="19" name="Line 1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0" name="TextBox 20"/>
            <p:cNvSpPr txBox="1"/>
            <p:nvPr/>
          </p:nvSpPr>
          <p:spPr>
            <a:xfrm>
              <a:off x="678942" y="6426518"/>
              <a:ext cx="7316811"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Emergence: the aggregate pattern is an output of the micro rules, never an input</a:t>
              </a:r>
            </a:p>
          </p:txBody>
        </p:sp>
        <p:sp>
          <p:nvSpPr>
            <p:cNvPr id="21" name="TextBox 21"/>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03 / 10</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1786128"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THE CASE · 3 OF 3</a:t>
              </a:r>
            </a:p>
          </p:txBody>
        </p:sp>
        <p:sp>
          <p:nvSpPr>
            <p:cNvPr id="4" name="TextBox 4"/>
            <p:cNvSpPr txBox="1"/>
            <p:nvPr/>
          </p:nvSpPr>
          <p:spPr>
            <a:xfrm>
              <a:off x="667512" y="963930"/>
              <a:ext cx="5481021"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Three kinds of agent</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28" name="Group 28"/>
          <p:cNvGrpSpPr/>
          <p:nvPr/>
        </p:nvGrpSpPr>
        <p:grpSpPr>
          <a:xfrm>
            <a:off x="678180" y="1964055"/>
            <a:ext cx="3878390" cy="3615690"/>
            <a:chOff x="678180" y="1964055"/>
            <a:chExt cx="3878390" cy="3615690"/>
          </a:xfrm>
        </p:grpSpPr>
        <p:grpSp>
          <p:nvGrpSpPr>
            <p:cNvPr id="11" name="Group 11"/>
            <p:cNvGrpSpPr/>
            <p:nvPr/>
          </p:nvGrpSpPr>
          <p:grpSpPr>
            <a:xfrm>
              <a:off x="719138" y="1995488"/>
              <a:ext cx="200026" cy="200025"/>
              <a:chOff x="719138" y="1995488"/>
              <a:chExt cx="200026" cy="200025"/>
            </a:xfrm>
          </p:grpSpPr>
          <p:sp>
            <p:nvSpPr>
              <p:cNvPr id="7" name="Freeform 7"/>
              <p:cNvSpPr/>
              <p:nvPr/>
            </p:nvSpPr>
            <p:spPr>
              <a:xfrm>
                <a:off x="741363" y="1995488"/>
                <a:ext cx="88900" cy="88900"/>
              </a:xfrm>
              <a:custGeom>
                <a:avLst/>
                <a:gdLst/>
                <a:ahLst/>
                <a:cxnLst/>
                <a:rect l="l" t="t" r="r" b="b"/>
                <a:pathLst>
                  <a:path w="88900" h="88900">
                    <a:moveTo>
                      <a:pt x="0" y="44450"/>
                    </a:moveTo>
                    <a:cubicBezTo>
                      <a:pt x="0" y="68999"/>
                      <a:pt x="19901" y="88900"/>
                      <a:pt x="44450" y="88900"/>
                    </a:cubicBezTo>
                    <a:cubicBezTo>
                      <a:pt x="68999" y="88900"/>
                      <a:pt x="88900" y="68999"/>
                      <a:pt x="88900" y="44450"/>
                    </a:cubicBezTo>
                    <a:cubicBezTo>
                      <a:pt x="88900" y="19901"/>
                      <a:pt x="68999" y="0"/>
                      <a:pt x="44450" y="0"/>
                    </a:cubicBezTo>
                    <a:cubicBezTo>
                      <a:pt x="19901" y="0"/>
                      <a:pt x="0" y="19901"/>
                      <a:pt x="0" y="44450"/>
                    </a:cubicBezTo>
                  </a:path>
                </a:pathLst>
              </a:custGeom>
              <a:noFill/>
              <a:ln w="22225">
                <a:solidFill>
                  <a:schemeClr val="accent2"/>
                </a:solidFill>
              </a:ln>
            </p:spPr>
          </p:sp>
          <p:sp>
            <p:nvSpPr>
              <p:cNvPr id="8" name="Freeform 8"/>
              <p:cNvSpPr/>
              <p:nvPr/>
            </p:nvSpPr>
            <p:spPr>
              <a:xfrm>
                <a:off x="719138" y="2128838"/>
                <a:ext cx="133350" cy="66675"/>
              </a:xfrm>
              <a:custGeom>
                <a:avLst/>
                <a:gdLst/>
                <a:ahLst/>
                <a:cxnLst/>
                <a:rect l="l" t="t" r="r" b="b"/>
                <a:pathLst>
                  <a:path w="133350" h="66675">
                    <a:moveTo>
                      <a:pt x="0" y="66675"/>
                    </a:moveTo>
                    <a:lnTo>
                      <a:pt x="0" y="44450"/>
                    </a:lnTo>
                    <a:cubicBezTo>
                      <a:pt x="0" y="19901"/>
                      <a:pt x="19901" y="0"/>
                      <a:pt x="44450" y="0"/>
                    </a:cubicBezTo>
                    <a:lnTo>
                      <a:pt x="88900" y="0"/>
                    </a:lnTo>
                    <a:cubicBezTo>
                      <a:pt x="113449" y="0"/>
                      <a:pt x="133350" y="19901"/>
                      <a:pt x="133350" y="44450"/>
                    </a:cubicBezTo>
                    <a:lnTo>
                      <a:pt x="133350" y="66675"/>
                    </a:lnTo>
                  </a:path>
                </a:pathLst>
              </a:custGeom>
              <a:noFill/>
              <a:ln w="22225">
                <a:solidFill>
                  <a:schemeClr val="accent2"/>
                </a:solidFill>
              </a:ln>
            </p:spPr>
          </p:sp>
          <p:sp>
            <p:nvSpPr>
              <p:cNvPr id="9" name="Freeform 9"/>
              <p:cNvSpPr/>
              <p:nvPr/>
            </p:nvSpPr>
            <p:spPr>
              <a:xfrm>
                <a:off x="863601" y="1996932"/>
                <a:ext cx="33425" cy="86122"/>
              </a:xfrm>
              <a:custGeom>
                <a:avLst/>
                <a:gdLst/>
                <a:ahLst/>
                <a:cxnLst/>
                <a:rect l="l" t="t" r="r" b="b"/>
                <a:pathLst>
                  <a:path w="33425" h="86122">
                    <a:moveTo>
                      <a:pt x="0" y="0"/>
                    </a:moveTo>
                    <a:cubicBezTo>
                      <a:pt x="19668" y="5036"/>
                      <a:pt x="33425" y="22758"/>
                      <a:pt x="33425" y="43061"/>
                    </a:cubicBezTo>
                    <a:cubicBezTo>
                      <a:pt x="33425" y="63364"/>
                      <a:pt x="19668" y="81086"/>
                      <a:pt x="0" y="86122"/>
                    </a:cubicBezTo>
                  </a:path>
                </a:pathLst>
              </a:custGeom>
              <a:noFill/>
              <a:ln w="22225">
                <a:solidFill>
                  <a:schemeClr val="accent2"/>
                </a:solidFill>
              </a:ln>
            </p:spPr>
          </p:sp>
          <p:sp>
            <p:nvSpPr>
              <p:cNvPr id="10" name="Freeform 10"/>
              <p:cNvSpPr/>
              <p:nvPr/>
            </p:nvSpPr>
            <p:spPr>
              <a:xfrm>
                <a:off x="885826" y="2130505"/>
                <a:ext cx="33338" cy="65008"/>
              </a:xfrm>
              <a:custGeom>
                <a:avLst/>
                <a:gdLst/>
                <a:ahLst/>
                <a:cxnLst/>
                <a:rect l="l" t="t" r="r" b="b"/>
                <a:pathLst>
                  <a:path w="33338" h="65008">
                    <a:moveTo>
                      <a:pt x="33338" y="65008"/>
                    </a:moveTo>
                    <a:lnTo>
                      <a:pt x="33338" y="42783"/>
                    </a:lnTo>
                    <a:cubicBezTo>
                      <a:pt x="33222" y="22609"/>
                      <a:pt x="19534" y="5043"/>
                      <a:pt x="0" y="0"/>
                    </a:cubicBezTo>
                  </a:path>
                </a:pathLst>
              </a:custGeom>
              <a:noFill/>
              <a:ln w="22225">
                <a:solidFill>
                  <a:schemeClr val="accent2"/>
                </a:solidFill>
              </a:ln>
            </p:spPr>
          </p:sp>
        </p:grpSp>
        <p:sp>
          <p:nvSpPr>
            <p:cNvPr id="12" name="TextBox 12"/>
            <p:cNvSpPr txBox="1"/>
            <p:nvPr/>
          </p:nvSpPr>
          <p:spPr>
            <a:xfrm>
              <a:off x="1075182" y="1964055"/>
              <a:ext cx="2173685"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Adopters · 500</a:t>
              </a:r>
            </a:p>
          </p:txBody>
        </p:sp>
        <p:sp>
          <p:nvSpPr>
            <p:cNvPr id="13" name="TextBox 13"/>
            <p:cNvSpPr txBox="1"/>
            <p:nvPr/>
          </p:nvSpPr>
          <p:spPr>
            <a:xfrm>
              <a:off x="1078230" y="2314575"/>
              <a:ext cx="3478340"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households and firms, 1:1000 scale</a:t>
              </a:r>
            </a:p>
          </p:txBody>
        </p:sp>
        <p:grpSp>
          <p:nvGrpSpPr>
            <p:cNvPr id="18" name="Group 18"/>
            <p:cNvGrpSpPr/>
            <p:nvPr/>
          </p:nvGrpSpPr>
          <p:grpSpPr>
            <a:xfrm>
              <a:off x="719138" y="3054166"/>
              <a:ext cx="211138" cy="198622"/>
              <a:chOff x="719138" y="3054166"/>
              <a:chExt cx="211138" cy="198622"/>
            </a:xfrm>
          </p:grpSpPr>
          <p:sp>
            <p:nvSpPr>
              <p:cNvPr id="14" name="Freeform 14"/>
              <p:cNvSpPr/>
              <p:nvPr/>
            </p:nvSpPr>
            <p:spPr>
              <a:xfrm>
                <a:off x="730250" y="3109913"/>
                <a:ext cx="111125" cy="133350"/>
              </a:xfrm>
              <a:custGeom>
                <a:avLst/>
                <a:gdLst/>
                <a:ahLst/>
                <a:cxnLst/>
                <a:rect l="l" t="t" r="r" b="b"/>
                <a:pathLst>
                  <a:path w="111125" h="133350">
                    <a:moveTo>
                      <a:pt x="0" y="133350"/>
                    </a:moveTo>
                    <a:cubicBezTo>
                      <a:pt x="12746" y="88678"/>
                      <a:pt x="22036" y="44150"/>
                      <a:pt x="22225" y="0"/>
                    </a:cubicBezTo>
                    <a:lnTo>
                      <a:pt x="88900" y="0"/>
                    </a:lnTo>
                    <a:cubicBezTo>
                      <a:pt x="89089" y="44150"/>
                      <a:pt x="98379" y="88678"/>
                      <a:pt x="111125" y="133350"/>
                    </a:cubicBezTo>
                  </a:path>
                </a:pathLst>
              </a:custGeom>
              <a:noFill/>
              <a:ln w="22225">
                <a:solidFill>
                  <a:schemeClr val="accent2"/>
                </a:solidFill>
              </a:ln>
            </p:spPr>
          </p:sp>
          <p:sp>
            <p:nvSpPr>
              <p:cNvPr id="15" name="Freeform 15"/>
              <p:cNvSpPr/>
              <p:nvPr/>
            </p:nvSpPr>
            <p:spPr>
              <a:xfrm>
                <a:off x="824707" y="3154363"/>
                <a:ext cx="72231" cy="88900"/>
              </a:xfrm>
              <a:custGeom>
                <a:avLst/>
                <a:gdLst/>
                <a:ahLst/>
                <a:cxnLst/>
                <a:rect l="l" t="t" r="r" b="b"/>
                <a:pathLst>
                  <a:path w="72231" h="88900">
                    <a:moveTo>
                      <a:pt x="0" y="0"/>
                    </a:moveTo>
                    <a:lnTo>
                      <a:pt x="50006" y="0"/>
                    </a:lnTo>
                    <a:cubicBezTo>
                      <a:pt x="50284" y="29026"/>
                      <a:pt x="59941" y="58852"/>
                      <a:pt x="72231" y="88900"/>
                    </a:cubicBezTo>
                  </a:path>
                </a:pathLst>
              </a:custGeom>
              <a:noFill/>
              <a:ln w="22225">
                <a:solidFill>
                  <a:schemeClr val="accent2"/>
                </a:solidFill>
              </a:ln>
            </p:spPr>
          </p:sp>
          <p:sp>
            <p:nvSpPr>
              <p:cNvPr id="16" name="Freeform 16"/>
              <p:cNvSpPr/>
              <p:nvPr/>
            </p:nvSpPr>
            <p:spPr>
              <a:xfrm>
                <a:off x="785813" y="3054166"/>
                <a:ext cx="133350" cy="22593"/>
              </a:xfrm>
              <a:custGeom>
                <a:avLst/>
                <a:gdLst/>
                <a:ahLst/>
                <a:cxnLst/>
                <a:rect l="l" t="t" r="r" b="b"/>
                <a:pathLst>
                  <a:path w="133350" h="22593">
                    <a:moveTo>
                      <a:pt x="0" y="11297"/>
                    </a:moveTo>
                    <a:cubicBezTo>
                      <a:pt x="5125" y="4157"/>
                      <a:pt x="13438" y="0"/>
                      <a:pt x="22225" y="184"/>
                    </a:cubicBezTo>
                    <a:cubicBezTo>
                      <a:pt x="31012" y="0"/>
                      <a:pt x="39325" y="4157"/>
                      <a:pt x="44450" y="11297"/>
                    </a:cubicBezTo>
                    <a:cubicBezTo>
                      <a:pt x="49575" y="18436"/>
                      <a:pt x="57888" y="22593"/>
                      <a:pt x="66675" y="22409"/>
                    </a:cubicBezTo>
                    <a:cubicBezTo>
                      <a:pt x="75462" y="22593"/>
                      <a:pt x="83775" y="18436"/>
                      <a:pt x="88900" y="11297"/>
                    </a:cubicBezTo>
                    <a:cubicBezTo>
                      <a:pt x="94025" y="4157"/>
                      <a:pt x="102339" y="0"/>
                      <a:pt x="111125" y="184"/>
                    </a:cubicBezTo>
                    <a:cubicBezTo>
                      <a:pt x="119912" y="0"/>
                      <a:pt x="128226" y="4157"/>
                      <a:pt x="133350" y="11297"/>
                    </a:cubicBezTo>
                  </a:path>
                </a:pathLst>
              </a:custGeom>
              <a:noFill/>
              <a:ln w="22225">
                <a:solidFill>
                  <a:schemeClr val="accent2"/>
                </a:solidFill>
              </a:ln>
            </p:spPr>
          </p:sp>
          <p:sp>
            <p:nvSpPr>
              <p:cNvPr id="17" name="Freeform 17"/>
              <p:cNvSpPr/>
              <p:nvPr/>
            </p:nvSpPr>
            <p:spPr>
              <a:xfrm>
                <a:off x="719138" y="3243263"/>
                <a:ext cx="211138" cy="9525"/>
              </a:xfrm>
              <a:custGeom>
                <a:avLst/>
                <a:gdLst/>
                <a:ahLst/>
                <a:cxnLst/>
                <a:rect l="l" t="t" r="r" b="b"/>
                <a:pathLst>
                  <a:path w="211138" h="9525">
                    <a:moveTo>
                      <a:pt x="0" y="0"/>
                    </a:moveTo>
                    <a:lnTo>
                      <a:pt x="211138" y="0"/>
                    </a:lnTo>
                  </a:path>
                </a:pathLst>
              </a:custGeom>
              <a:noFill/>
              <a:ln w="22225">
                <a:solidFill>
                  <a:schemeClr val="accent2"/>
                </a:solidFill>
              </a:ln>
            </p:spPr>
          </p:sp>
        </p:grpSp>
        <p:sp>
          <p:nvSpPr>
            <p:cNvPr id="19" name="TextBox 19"/>
            <p:cNvSpPr txBox="1"/>
            <p:nvPr/>
          </p:nvSpPr>
          <p:spPr>
            <a:xfrm>
              <a:off x="1075182" y="3011805"/>
              <a:ext cx="2719409"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Manufacturers · 2</a:t>
              </a:r>
            </a:p>
          </p:txBody>
        </p:sp>
        <p:sp>
          <p:nvSpPr>
            <p:cNvPr id="20" name="TextBox 20"/>
            <p:cNvSpPr txBox="1"/>
            <p:nvPr/>
          </p:nvSpPr>
          <p:spPr>
            <a:xfrm>
              <a:off x="1078230" y="3362325"/>
              <a:ext cx="2579751"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one domestic, one foreign</a:t>
              </a:r>
            </a:p>
          </p:txBody>
        </p:sp>
        <p:grpSp>
          <p:nvGrpSpPr>
            <p:cNvPr id="24" name="Group 24"/>
            <p:cNvGrpSpPr/>
            <p:nvPr/>
          </p:nvGrpSpPr>
          <p:grpSpPr>
            <a:xfrm>
              <a:off x="719138" y="4090988"/>
              <a:ext cx="200025" cy="200025"/>
              <a:chOff x="719138" y="4090988"/>
              <a:chExt cx="200025" cy="200025"/>
            </a:xfrm>
          </p:grpSpPr>
          <p:sp>
            <p:nvSpPr>
              <p:cNvPr id="21" name="Freeform 21"/>
              <p:cNvSpPr/>
              <p:nvPr/>
            </p:nvSpPr>
            <p:spPr>
              <a:xfrm>
                <a:off x="719138" y="4246563"/>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22225">
                <a:solidFill>
                  <a:schemeClr val="accent2"/>
                </a:solidFill>
              </a:ln>
            </p:spPr>
          </p:sp>
          <p:sp>
            <p:nvSpPr>
              <p:cNvPr id="22" name="Freeform 22"/>
              <p:cNvSpPr/>
              <p:nvPr/>
            </p:nvSpPr>
            <p:spPr>
              <a:xfrm>
                <a:off x="874713" y="4090988"/>
                <a:ext cx="44450" cy="44450"/>
              </a:xfrm>
              <a:custGeom>
                <a:avLst/>
                <a:gdLst/>
                <a:ahLst/>
                <a:cxnLst/>
                <a:rect l="l" t="t" r="r" b="b"/>
                <a:pathLst>
                  <a:path w="44450" h="44450">
                    <a:moveTo>
                      <a:pt x="22225" y="44450"/>
                    </a:moveTo>
                    <a:cubicBezTo>
                      <a:pt x="34500" y="44450"/>
                      <a:pt x="44450" y="34500"/>
                      <a:pt x="44450" y="22225"/>
                    </a:cubicBezTo>
                    <a:cubicBezTo>
                      <a:pt x="44450" y="9950"/>
                      <a:pt x="34500" y="0"/>
                      <a:pt x="22225" y="0"/>
                    </a:cubicBezTo>
                    <a:cubicBezTo>
                      <a:pt x="9950" y="0"/>
                      <a:pt x="0" y="9950"/>
                      <a:pt x="0" y="22225"/>
                    </a:cubicBezTo>
                    <a:cubicBezTo>
                      <a:pt x="0" y="34500"/>
                      <a:pt x="9950" y="44450"/>
                      <a:pt x="22225" y="44450"/>
                    </a:cubicBezTo>
                  </a:path>
                </a:pathLst>
              </a:custGeom>
              <a:noFill/>
              <a:ln w="22225">
                <a:solidFill>
                  <a:schemeClr val="accent2"/>
                </a:solidFill>
              </a:ln>
            </p:spPr>
          </p:sp>
          <p:sp>
            <p:nvSpPr>
              <p:cNvPr id="23" name="Freeform 23"/>
              <p:cNvSpPr/>
              <p:nvPr/>
            </p:nvSpPr>
            <p:spPr>
              <a:xfrm>
                <a:off x="741363" y="4113213"/>
                <a:ext cx="166688" cy="155575"/>
              </a:xfrm>
              <a:custGeom>
                <a:avLst/>
                <a:gdLst/>
                <a:ahLst/>
                <a:cxnLst/>
                <a:rect l="l" t="t" r="r" b="b"/>
                <a:pathLst>
                  <a:path w="166688" h="155575">
                    <a:moveTo>
                      <a:pt x="66675" y="155575"/>
                    </a:moveTo>
                    <a:lnTo>
                      <a:pt x="127794" y="155575"/>
                    </a:lnTo>
                    <a:cubicBezTo>
                      <a:pt x="149275" y="155575"/>
                      <a:pt x="166688" y="138162"/>
                      <a:pt x="166688" y="116682"/>
                    </a:cubicBezTo>
                    <a:cubicBezTo>
                      <a:pt x="166688" y="95201"/>
                      <a:pt x="149275" y="77788"/>
                      <a:pt x="127794" y="77788"/>
                    </a:cubicBezTo>
                    <a:lnTo>
                      <a:pt x="38894" y="77788"/>
                    </a:lnTo>
                    <a:cubicBezTo>
                      <a:pt x="17413" y="77788"/>
                      <a:pt x="0" y="60374"/>
                      <a:pt x="0" y="38894"/>
                    </a:cubicBezTo>
                    <a:cubicBezTo>
                      <a:pt x="0" y="17413"/>
                      <a:pt x="17413" y="0"/>
                      <a:pt x="38894" y="0"/>
                    </a:cubicBezTo>
                    <a:lnTo>
                      <a:pt x="88900" y="0"/>
                    </a:lnTo>
                  </a:path>
                </a:pathLst>
              </a:custGeom>
              <a:noFill/>
              <a:ln w="22225">
                <a:solidFill>
                  <a:schemeClr val="accent2"/>
                </a:solidFill>
              </a:ln>
            </p:spPr>
          </p:sp>
        </p:grpSp>
        <p:sp>
          <p:nvSpPr>
            <p:cNvPr id="25" name="TextBox 25"/>
            <p:cNvSpPr txBox="1"/>
            <p:nvPr/>
          </p:nvSpPr>
          <p:spPr>
            <a:xfrm>
              <a:off x="1075182" y="4059555"/>
              <a:ext cx="1946773"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Installers · 2</a:t>
              </a:r>
            </a:p>
          </p:txBody>
        </p:sp>
        <p:sp>
          <p:nvSpPr>
            <p:cNvPr id="26" name="TextBox 26"/>
            <p:cNvSpPr txBox="1"/>
            <p:nvPr/>
          </p:nvSpPr>
          <p:spPr>
            <a:xfrm>
              <a:off x="1078230" y="4410075"/>
              <a:ext cx="3023997"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order queue and labour market</a:t>
              </a:r>
            </a:p>
          </p:txBody>
        </p:sp>
        <p:sp>
          <p:nvSpPr>
            <p:cNvPr id="27" name="TextBox 27"/>
            <p:cNvSpPr txBox="1"/>
            <p:nvPr/>
          </p:nvSpPr>
          <p:spPr>
            <a:xfrm>
              <a:off x="678180" y="5038725"/>
              <a:ext cx="3663315"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 macro environment supplies the</a:t>
              </a:r>
              <a:br/>
              <a:r>
                <a:rPr lang="en" sz="1500" dirty="0">
                  <a:solidFill>
                    <a:schemeClr val="dk1"/>
                  </a:solidFill>
                  <a:latin typeface="+mn-lt"/>
                  <a:ea typeface="+mn-ea"/>
                  <a:cs typeface="+mn-cs"/>
                </a:rPr>
                <a:t>monthly price, subsidy and R&amp;D signals.</a:t>
              </a:r>
            </a:p>
          </p:txBody>
        </p:sp>
      </p:grpSp>
      <p:grpSp>
        <p:nvGrpSpPr>
          <p:cNvPr id="30" name="Group 30"/>
          <p:cNvGrpSpPr/>
          <p:nvPr/>
        </p:nvGrpSpPr>
        <p:grpSpPr>
          <a:xfrm>
            <a:off x="5467350" y="1905000"/>
            <a:ext cx="5715000" cy="3810000"/>
            <a:chOff x="5467350" y="1905000"/>
            <a:chExt cx="5715000" cy="3810000"/>
          </a:xfrm>
        </p:grpSpPr>
        <p:pic>
          <p:nvPicPr>
            <p:cNvPr id="29" name="Image 29"/>
            <p:cNvPicPr>
              <a:picLocks noChangeAspect="1"/>
            </p:cNvPicPr>
            <p:nvPr/>
          </p:nvPicPr>
          <p:blipFill>
            <a:blip r:embed="rId2"/>
            <a:stretch>
              <a:fillRect/>
            </a:stretch>
          </p:blipFill>
          <p:spPr>
            <a:xfrm>
              <a:off x="5467350" y="1905000"/>
              <a:ext cx="5715000" cy="3810000"/>
            </a:xfrm>
            <a:prstGeom prst="rect">
              <a:avLst/>
            </a:prstGeom>
          </p:spPr>
        </p:pic>
      </p:grpSp>
      <p:grpSp>
        <p:nvGrpSpPr>
          <p:cNvPr id="32" name="Group 32"/>
          <p:cNvGrpSpPr/>
          <p:nvPr/>
        </p:nvGrpSpPr>
        <p:grpSpPr>
          <a:xfrm>
            <a:off x="5136642" y="5931218"/>
            <a:ext cx="5618417" cy="264033"/>
            <a:chOff x="5136642" y="5931218"/>
            <a:chExt cx="5618417" cy="264033"/>
          </a:xfrm>
        </p:grpSpPr>
        <p:sp>
          <p:nvSpPr>
            <p:cNvPr id="31" name="TextBox 31"/>
            <p:cNvSpPr txBox="1"/>
            <p:nvPr/>
          </p:nvSpPr>
          <p:spPr>
            <a:xfrm>
              <a:off x="5136642" y="5931218"/>
              <a:ext cx="5618417"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Baseline: formula-only run, 312 ticks, seed 42, synthetic data</a:t>
              </a:r>
            </a:p>
          </p:txBody>
        </p:sp>
      </p:grpSp>
      <p:grpSp>
        <p:nvGrpSpPr>
          <p:cNvPr id="36" name="Group 36"/>
          <p:cNvGrpSpPr/>
          <p:nvPr/>
        </p:nvGrpSpPr>
        <p:grpSpPr>
          <a:xfrm>
            <a:off x="678942" y="6286500"/>
            <a:ext cx="10834116" cy="404051"/>
            <a:chOff x="678942" y="6286500"/>
            <a:chExt cx="10834116" cy="404051"/>
          </a:xfrm>
        </p:grpSpPr>
        <p:sp>
          <p:nvSpPr>
            <p:cNvPr id="33" name="Line 33"/>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34" name="TextBox 34"/>
            <p:cNvSpPr txBox="1"/>
            <p:nvPr/>
          </p:nvSpPr>
          <p:spPr>
            <a:xfrm>
              <a:off x="678942" y="6426518"/>
              <a:ext cx="8607185"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One tick is one month: macro signals, then adopters, installers, manufacturers, then the clock</a:t>
              </a:r>
            </a:p>
          </p:txBody>
        </p:sp>
        <p:sp>
          <p:nvSpPr>
            <p:cNvPr id="35" name="TextBox 35"/>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04 / 10</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1903476"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THE RULES · 1 OF 2</a:t>
              </a:r>
            </a:p>
          </p:txBody>
        </p:sp>
        <p:sp>
          <p:nvSpPr>
            <p:cNvPr id="4" name="TextBox 4"/>
            <p:cNvSpPr txBox="1"/>
            <p:nvPr/>
          </p:nvSpPr>
          <p:spPr>
            <a:xfrm>
              <a:off x="667512" y="963930"/>
              <a:ext cx="6561349"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Two rules, written down</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5" name="Group 15"/>
          <p:cNvGrpSpPr/>
          <p:nvPr/>
        </p:nvGrpSpPr>
        <p:grpSpPr>
          <a:xfrm>
            <a:off x="675132" y="1957388"/>
            <a:ext cx="8929116" cy="1750885"/>
            <a:chOff x="675132" y="1957388"/>
            <a:chExt cx="8929116" cy="1750885"/>
          </a:xfrm>
        </p:grpSpPr>
        <p:grpSp>
          <p:nvGrpSpPr>
            <p:cNvPr id="12" name="Group 12"/>
            <p:cNvGrpSpPr/>
            <p:nvPr/>
          </p:nvGrpSpPr>
          <p:grpSpPr>
            <a:xfrm>
              <a:off x="719138" y="1957388"/>
              <a:ext cx="200025" cy="198438"/>
              <a:chOff x="719138" y="1957388"/>
              <a:chExt cx="200025" cy="198438"/>
            </a:xfrm>
          </p:grpSpPr>
          <p:sp>
            <p:nvSpPr>
              <p:cNvPr id="7" name="Freeform 7"/>
              <p:cNvSpPr/>
              <p:nvPr/>
            </p:nvSpPr>
            <p:spPr>
              <a:xfrm>
                <a:off x="763588" y="2146301"/>
                <a:ext cx="111125" cy="9525"/>
              </a:xfrm>
              <a:custGeom>
                <a:avLst/>
                <a:gdLst/>
                <a:ahLst/>
                <a:cxnLst/>
                <a:rect l="l" t="t" r="r" b="b"/>
                <a:pathLst>
                  <a:path w="111125" h="9525">
                    <a:moveTo>
                      <a:pt x="0" y="0"/>
                    </a:moveTo>
                    <a:lnTo>
                      <a:pt x="111125" y="0"/>
                    </a:lnTo>
                  </a:path>
                </a:pathLst>
              </a:custGeom>
              <a:noFill/>
              <a:ln w="22225">
                <a:solidFill>
                  <a:schemeClr val="accent3"/>
                </a:solidFill>
              </a:ln>
            </p:spPr>
          </p:sp>
          <p:sp>
            <p:nvSpPr>
              <p:cNvPr id="8" name="Freeform 8"/>
              <p:cNvSpPr/>
              <p:nvPr/>
            </p:nvSpPr>
            <p:spPr>
              <a:xfrm>
                <a:off x="752475" y="1979613"/>
                <a:ext cx="133350" cy="11113"/>
              </a:xfrm>
              <a:custGeom>
                <a:avLst/>
                <a:gdLst/>
                <a:ahLst/>
                <a:cxnLst/>
                <a:rect l="l" t="t" r="r" b="b"/>
                <a:pathLst>
                  <a:path w="133350" h="11113">
                    <a:moveTo>
                      <a:pt x="0" y="11113"/>
                    </a:moveTo>
                    <a:lnTo>
                      <a:pt x="66675" y="0"/>
                    </a:lnTo>
                    <a:lnTo>
                      <a:pt x="133350" y="11113"/>
                    </a:lnTo>
                  </a:path>
                </a:pathLst>
              </a:custGeom>
              <a:noFill/>
              <a:ln w="22225">
                <a:solidFill>
                  <a:schemeClr val="accent3"/>
                </a:solidFill>
              </a:ln>
            </p:spPr>
          </p:sp>
          <p:sp>
            <p:nvSpPr>
              <p:cNvPr id="9" name="Freeform 9"/>
              <p:cNvSpPr/>
              <p:nvPr/>
            </p:nvSpPr>
            <p:spPr>
              <a:xfrm>
                <a:off x="819150" y="1957388"/>
                <a:ext cx="9525" cy="188913"/>
              </a:xfrm>
              <a:custGeom>
                <a:avLst/>
                <a:gdLst/>
                <a:ahLst/>
                <a:cxnLst/>
                <a:rect l="l" t="t" r="r" b="b"/>
                <a:pathLst>
                  <a:path w="9525" h="188913">
                    <a:moveTo>
                      <a:pt x="0" y="0"/>
                    </a:moveTo>
                    <a:lnTo>
                      <a:pt x="0" y="188913"/>
                    </a:lnTo>
                  </a:path>
                </a:pathLst>
              </a:custGeom>
              <a:noFill/>
              <a:ln w="22225">
                <a:solidFill>
                  <a:schemeClr val="accent3"/>
                </a:solidFill>
              </a:ln>
            </p:spPr>
          </p:sp>
          <p:sp>
            <p:nvSpPr>
              <p:cNvPr id="10" name="Freeform 10"/>
              <p:cNvSpPr/>
              <p:nvPr/>
            </p:nvSpPr>
            <p:spPr>
              <a:xfrm>
                <a:off x="719138" y="1990725"/>
                <a:ext cx="66675" cy="100013"/>
              </a:xfrm>
              <a:custGeom>
                <a:avLst/>
                <a:gdLst/>
                <a:ahLst/>
                <a:cxnLst/>
                <a:rect l="l" t="t" r="r" b="b"/>
                <a:pathLst>
                  <a:path w="66675" h="100013">
                    <a:moveTo>
                      <a:pt x="66675" y="66675"/>
                    </a:moveTo>
                    <a:lnTo>
                      <a:pt x="33338" y="0"/>
                    </a:lnTo>
                    <a:lnTo>
                      <a:pt x="0" y="66675"/>
                    </a:lnTo>
                    <a:cubicBezTo>
                      <a:pt x="0" y="85087"/>
                      <a:pt x="14926" y="100013"/>
                      <a:pt x="33338" y="100013"/>
                    </a:cubicBezTo>
                    <a:cubicBezTo>
                      <a:pt x="51749" y="100013"/>
                      <a:pt x="66675" y="85087"/>
                      <a:pt x="66675" y="66675"/>
                    </a:cubicBezTo>
                  </a:path>
                </a:pathLst>
              </a:custGeom>
              <a:noFill/>
              <a:ln w="22225">
                <a:solidFill>
                  <a:schemeClr val="accent3"/>
                </a:solidFill>
              </a:ln>
            </p:spPr>
          </p:sp>
          <p:sp>
            <p:nvSpPr>
              <p:cNvPr id="11" name="Freeform 11"/>
              <p:cNvSpPr/>
              <p:nvPr/>
            </p:nvSpPr>
            <p:spPr>
              <a:xfrm>
                <a:off x="852488" y="1990725"/>
                <a:ext cx="66675" cy="100013"/>
              </a:xfrm>
              <a:custGeom>
                <a:avLst/>
                <a:gdLst/>
                <a:ahLst/>
                <a:cxnLst/>
                <a:rect l="l" t="t" r="r" b="b"/>
                <a:pathLst>
                  <a:path w="66675" h="100013">
                    <a:moveTo>
                      <a:pt x="66675" y="66675"/>
                    </a:moveTo>
                    <a:lnTo>
                      <a:pt x="33338" y="0"/>
                    </a:lnTo>
                    <a:lnTo>
                      <a:pt x="0" y="66675"/>
                    </a:lnTo>
                    <a:cubicBezTo>
                      <a:pt x="0" y="85087"/>
                      <a:pt x="14926" y="100013"/>
                      <a:pt x="33338" y="100013"/>
                    </a:cubicBezTo>
                    <a:cubicBezTo>
                      <a:pt x="51749" y="100013"/>
                      <a:pt x="66675" y="85087"/>
                      <a:pt x="66675" y="66675"/>
                    </a:cubicBezTo>
                  </a:path>
                </a:pathLst>
              </a:custGeom>
              <a:noFill/>
              <a:ln w="22225">
                <a:solidFill>
                  <a:schemeClr val="accent3"/>
                </a:solidFill>
              </a:ln>
            </p:spPr>
          </p:sp>
        </p:grpSp>
        <p:sp>
          <p:nvSpPr>
            <p:cNvPr id="13" name="TextBox 13"/>
            <p:cNvSpPr txBox="1"/>
            <p:nvPr/>
          </p:nvSpPr>
          <p:spPr>
            <a:xfrm>
              <a:off x="1097280" y="1990725"/>
              <a:ext cx="3398063" cy="293370"/>
            </a:xfrm>
            <a:prstGeom prst="rect">
              <a:avLst/>
            </a:prstGeom>
            <a:noFill/>
            <a:ln>
              <a:noFill/>
            </a:ln>
          </p:spPr>
          <p:txBody>
            <a:bodyPr wrap="none" lIns="0" tIns="0" rIns="0" bIns="0" anchor="t" anchorCtr="0">
              <a:spAutoFit/>
            </a:bodyPr>
            <a:lstStyle/>
            <a:p>
              <a:pPr algn="l"/>
              <a:r>
                <a:rPr lang="en" sz="1500" b="1" dirty="0">
                  <a:solidFill>
                    <a:schemeClr val="accent3"/>
                  </a:solidFill>
                  <a:latin typeface="+mn-lt"/>
                  <a:ea typeface="+mn-ea"/>
                  <a:cs typeface="+mn-cs"/>
                </a:rPr>
                <a:t>RULE 1 · THE ADOPTION DECISION</a:t>
              </a:r>
            </a:p>
          </p:txBody>
        </p:sp>
        <p:sp>
          <p:nvSpPr>
            <p:cNvPr id="14" name="TextBox 14"/>
            <p:cNvSpPr txBox="1"/>
            <p:nvPr/>
          </p:nvSpPr>
          <p:spPr>
            <a:xfrm>
              <a:off x="675132" y="2535555"/>
              <a:ext cx="8929116" cy="1172718"/>
            </a:xfrm>
            <a:prstGeom prst="rect">
              <a:avLst/>
            </a:prstGeom>
            <a:noFill/>
            <a:ln>
              <a:noFill/>
            </a:ln>
          </p:spPr>
          <p:txBody>
            <a:bodyPr wrap="none" lIns="0" tIns="0" rIns="0" bIns="0" anchor="t" anchorCtr="0">
              <a:spAutoFit/>
            </a:bodyPr>
            <a:lstStyle/>
            <a:p>
              <a:pPr algn="l">
                <a:lnSpc>
                  <a:spcPts val="3000"/>
                </a:lnSpc>
              </a:pPr>
              <a:r>
                <a:rPr lang="en" sz="2100" dirty="0">
                  <a:solidFill>
                    <a:schemeClr val="dk1"/>
                  </a:solidFill>
                  <a:latin typeface="+mn-lt"/>
                  <a:ea typeface="+mn-ea"/>
                  <a:cs typeface="+mn-cs"/>
                </a:rPr>
                <a:t>First the agent must get the idea — peers, information, awareness,</a:t>
              </a:r>
              <a:br/>
              <a:r>
                <a:rPr lang="en" sz="2100" dirty="0">
                  <a:solidFill>
                    <a:schemeClr val="dk1"/>
                  </a:solidFill>
                  <a:latin typeface="+mn-lt"/>
                  <a:ea typeface="+mn-ea"/>
                  <a:cs typeface="+mn-cs"/>
                </a:rPr>
                <a:t>return. Then it must pass an economic test: the net present value</a:t>
              </a:r>
              <a:br/>
              <a:r>
                <a:rPr lang="en" sz="2100" dirty="0">
                  <a:solidFill>
                    <a:schemeClr val="dk1"/>
                  </a:solidFill>
                  <a:latin typeface="+mn-lt"/>
                  <a:ea typeface="+mn-ea"/>
                  <a:cs typeface="+mn-cs"/>
                </a:rPr>
                <a:t>has to be non-negative, unless it is a hard-core environmentalist.</a:t>
              </a:r>
            </a:p>
          </p:txBody>
        </p:sp>
      </p:grpSp>
      <p:grpSp>
        <p:nvGrpSpPr>
          <p:cNvPr id="19" name="Group 19"/>
          <p:cNvGrpSpPr/>
          <p:nvPr/>
        </p:nvGrpSpPr>
        <p:grpSpPr>
          <a:xfrm>
            <a:off x="675132" y="3862388"/>
            <a:ext cx="8595741" cy="1750885"/>
            <a:chOff x="675132" y="3862388"/>
            <a:chExt cx="8595741" cy="1750885"/>
          </a:xfrm>
        </p:grpSpPr>
        <p:sp>
          <p:nvSpPr>
            <p:cNvPr id="16" name="Freeform 16"/>
            <p:cNvSpPr/>
            <p:nvPr/>
          </p:nvSpPr>
          <p:spPr>
            <a:xfrm>
              <a:off x="741363" y="3862388"/>
              <a:ext cx="155575" cy="200026"/>
            </a:xfrm>
            <a:custGeom>
              <a:avLst/>
              <a:gdLst/>
              <a:ahLst/>
              <a:cxnLst/>
              <a:rect l="l" t="t" r="r" b="b"/>
              <a:pathLst>
                <a:path w="155575" h="200026">
                  <a:moveTo>
                    <a:pt x="88900" y="0"/>
                  </a:moveTo>
                  <a:lnTo>
                    <a:pt x="88900" y="77788"/>
                  </a:lnTo>
                  <a:lnTo>
                    <a:pt x="155575" y="77788"/>
                  </a:lnTo>
                  <a:lnTo>
                    <a:pt x="66675" y="200026"/>
                  </a:lnTo>
                  <a:lnTo>
                    <a:pt x="66675" y="122238"/>
                  </a:lnTo>
                  <a:lnTo>
                    <a:pt x="0" y="122238"/>
                  </a:lnTo>
                  <a:lnTo>
                    <a:pt x="88900" y="0"/>
                  </a:lnTo>
                </a:path>
              </a:pathLst>
            </a:custGeom>
            <a:noFill/>
            <a:ln w="22225">
              <a:solidFill>
                <a:schemeClr val="accent3"/>
              </a:solidFill>
            </a:ln>
          </p:spPr>
        </p:sp>
        <p:sp>
          <p:nvSpPr>
            <p:cNvPr id="17" name="TextBox 17"/>
            <p:cNvSpPr txBox="1"/>
            <p:nvPr/>
          </p:nvSpPr>
          <p:spPr>
            <a:xfrm>
              <a:off x="1097280" y="3895725"/>
              <a:ext cx="3375660" cy="293370"/>
            </a:xfrm>
            <a:prstGeom prst="rect">
              <a:avLst/>
            </a:prstGeom>
            <a:noFill/>
            <a:ln>
              <a:noFill/>
            </a:ln>
          </p:spPr>
          <p:txBody>
            <a:bodyPr wrap="none" lIns="0" tIns="0" rIns="0" bIns="0" anchor="t" anchorCtr="0">
              <a:spAutoFit/>
            </a:bodyPr>
            <a:lstStyle/>
            <a:p>
              <a:pPr algn="l"/>
              <a:r>
                <a:rPr lang="en" sz="1500" b="1" dirty="0">
                  <a:solidFill>
                    <a:schemeClr val="accent3"/>
                  </a:solidFill>
                  <a:latin typeface="+mn-lt"/>
                  <a:ea typeface="+mn-ea"/>
                  <a:cs typeface="+mn-cs"/>
                </a:rPr>
                <a:t>RULE 2 · THE COST OF A MODULE</a:t>
              </a:r>
            </a:p>
          </p:txBody>
        </p:sp>
        <p:sp>
          <p:nvSpPr>
            <p:cNvPr id="18" name="TextBox 18"/>
            <p:cNvSpPr txBox="1"/>
            <p:nvPr/>
          </p:nvSpPr>
          <p:spPr>
            <a:xfrm>
              <a:off x="675132" y="4440555"/>
              <a:ext cx="8595741" cy="1172718"/>
            </a:xfrm>
            <a:prstGeom prst="rect">
              <a:avLst/>
            </a:prstGeom>
            <a:noFill/>
            <a:ln>
              <a:noFill/>
            </a:ln>
          </p:spPr>
          <p:txBody>
            <a:bodyPr wrap="none" lIns="0" tIns="0" rIns="0" bIns="0" anchor="t" anchorCtr="0">
              <a:spAutoFit/>
            </a:bodyPr>
            <a:lstStyle/>
            <a:p>
              <a:pPr algn="l">
                <a:lnSpc>
                  <a:spcPts val="3000"/>
                </a:lnSpc>
              </a:pPr>
              <a:r>
                <a:rPr lang="en" sz="2100" dirty="0">
                  <a:solidFill>
                    <a:schemeClr val="dk1"/>
                  </a:solidFill>
                  <a:latin typeface="+mn-lt"/>
                  <a:ea typeface="+mn-ea"/>
                  <a:cs typeface="+mn-cs"/>
                </a:rPr>
                <a:t>Cost falls with cumulative production, learning by doing, and with</a:t>
              </a:r>
              <a:br/>
              <a:r>
                <a:rPr lang="en" sz="2100" dirty="0">
                  <a:solidFill>
                    <a:schemeClr val="dk1"/>
                  </a:solidFill>
                  <a:latin typeface="+mn-lt"/>
                  <a:ea typeface="+mn-ea"/>
                  <a:cs typeface="+mn-cs"/>
                </a:rPr>
                <a:t>the knowledge built up by R&amp;D, learning by research. The same</a:t>
              </a:r>
              <a:br/>
              <a:r>
                <a:rPr lang="en" sz="2100" dirty="0">
                  <a:solidFill>
                    <a:schemeClr val="dk1"/>
                  </a:solidFill>
                  <a:latin typeface="+mn-lt"/>
                  <a:ea typeface="+mn-ea"/>
                  <a:cs typeface="+mn-cs"/>
                </a:rPr>
                <a:t>equation applies to every manufacturer in every month.</a:t>
              </a:r>
            </a:p>
          </p:txBody>
        </p:sp>
      </p:grpSp>
      <p:sp>
        <p:nvSpPr>
          <p:cNvPr id="20" name="TextBox 20"/>
          <p:cNvSpPr txBox="1"/>
          <p:nvPr/>
        </p:nvSpPr>
        <p:spPr>
          <a:xfrm>
            <a:off x="678180" y="5895975"/>
            <a:ext cx="9709299"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The consumer is a pure optimiser, and no manufacturer ever has to be persuaded to invest in R&amp;D.</a:t>
            </a:r>
          </a:p>
        </p:txBody>
      </p:sp>
      <p:grpSp>
        <p:nvGrpSpPr>
          <p:cNvPr id="24" name="Group 24"/>
          <p:cNvGrpSpPr/>
          <p:nvPr/>
        </p:nvGrpSpPr>
        <p:grpSpPr>
          <a:xfrm>
            <a:off x="678942" y="6286500"/>
            <a:ext cx="10834116" cy="404051"/>
            <a:chOff x="678942" y="6286500"/>
            <a:chExt cx="10834116" cy="404051"/>
          </a:xfrm>
        </p:grpSpPr>
        <p:sp>
          <p:nvSpPr>
            <p:cNvPr id="21" name="Line 21"/>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2" name="TextBox 22"/>
            <p:cNvSpPr txBox="1"/>
            <p:nvPr/>
          </p:nvSpPr>
          <p:spPr>
            <a:xfrm>
              <a:off x="678942" y="6426518"/>
              <a:ext cx="8043227"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Both rules are calibrated to the published supplementary information of the original study</a:t>
              </a:r>
            </a:p>
          </p:txBody>
        </p:sp>
        <p:sp>
          <p:nvSpPr>
            <p:cNvPr id="23" name="TextBox 23"/>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05 / 10</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1903476"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THE RULES · 2 OF 2</a:t>
              </a:r>
            </a:p>
          </p:txBody>
        </p:sp>
        <p:sp>
          <p:nvSpPr>
            <p:cNvPr id="4" name="TextBox 4"/>
            <p:cNvSpPr txBox="1"/>
            <p:nvPr/>
          </p:nvSpPr>
          <p:spPr>
            <a:xfrm>
              <a:off x="667512" y="963930"/>
              <a:ext cx="5489458"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The AI gets one step</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8" name="Group 18"/>
          <p:cNvGrpSpPr/>
          <p:nvPr/>
        </p:nvGrpSpPr>
        <p:grpSpPr>
          <a:xfrm>
            <a:off x="1028700" y="2571750"/>
            <a:ext cx="10134600" cy="1238250"/>
            <a:chOff x="1028700" y="2571750"/>
            <a:chExt cx="10134600" cy="1238250"/>
          </a:xfrm>
        </p:grpSpPr>
        <p:sp>
          <p:nvSpPr>
            <p:cNvPr id="7" name="Rectangle 7"/>
            <p:cNvSpPr/>
            <p:nvPr/>
          </p:nvSpPr>
          <p:spPr>
            <a:xfrm>
              <a:off x="1028700" y="2571750"/>
              <a:ext cx="2857500" cy="1238250"/>
            </a:xfrm>
            <a:prstGeom prst="rect">
              <a:avLst/>
            </a:prstGeom>
            <a:solidFill>
              <a:schemeClr val="accent5"/>
            </a:solidFill>
            <a:ln w="9525">
              <a:solidFill>
                <a:schemeClr val="accent6"/>
              </a:solidFill>
            </a:ln>
          </p:spPr>
        </p:sp>
        <p:sp>
          <p:nvSpPr>
            <p:cNvPr id="8" name="TextBox 8"/>
            <p:cNvSpPr txBox="1"/>
            <p:nvPr/>
          </p:nvSpPr>
          <p:spPr>
            <a:xfrm>
              <a:off x="1249680" y="2847975"/>
              <a:ext cx="631317"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STATE</a:t>
              </a:r>
            </a:p>
          </p:txBody>
        </p:sp>
        <p:sp>
          <p:nvSpPr>
            <p:cNvPr id="9" name="TextBox 9"/>
            <p:cNvSpPr txBox="1"/>
            <p:nvPr/>
          </p:nvSpPr>
          <p:spPr>
            <a:xfrm>
              <a:off x="1249680" y="3171825"/>
              <a:ext cx="180594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prices, knowledge,</a:t>
              </a:r>
              <a:br/>
              <a:r>
                <a:rPr lang="en" sz="1500" dirty="0">
                  <a:solidFill>
                    <a:schemeClr val="dk1"/>
                  </a:solidFill>
                  <a:latin typeface="+mn-lt"/>
                  <a:ea typeface="+mn-ea"/>
                  <a:cs typeface="+mn-cs"/>
                </a:rPr>
                <a:t>orders, neighbours</a:t>
              </a:r>
            </a:p>
          </p:txBody>
        </p:sp>
        <p:sp>
          <p:nvSpPr>
            <p:cNvPr id="10" name="Rectangle 10"/>
            <p:cNvSpPr/>
            <p:nvPr/>
          </p:nvSpPr>
          <p:spPr>
            <a:xfrm>
              <a:off x="4667250" y="2571750"/>
              <a:ext cx="2857500" cy="1238250"/>
            </a:xfrm>
            <a:prstGeom prst="rect">
              <a:avLst/>
            </a:prstGeom>
            <a:solidFill>
              <a:srgbClr val="EEF2FF"/>
            </a:solidFill>
            <a:ln w="19050">
              <a:solidFill>
                <a:schemeClr val="accent2"/>
              </a:solidFill>
            </a:ln>
          </p:spPr>
        </p:sp>
        <p:sp>
          <p:nvSpPr>
            <p:cNvPr id="11" name="TextBox 11"/>
            <p:cNvSpPr txBox="1"/>
            <p:nvPr/>
          </p:nvSpPr>
          <p:spPr>
            <a:xfrm>
              <a:off x="4888230" y="2847975"/>
              <a:ext cx="2177110"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DECISION — REPLACED</a:t>
              </a:r>
            </a:p>
          </p:txBody>
        </p:sp>
        <p:sp>
          <p:nvSpPr>
            <p:cNvPr id="12" name="TextBox 12"/>
            <p:cNvSpPr txBox="1"/>
            <p:nvPr/>
          </p:nvSpPr>
          <p:spPr>
            <a:xfrm>
              <a:off x="4888230" y="3171825"/>
              <a:ext cx="2501265"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buy or not, expand or not,</a:t>
              </a:r>
              <a:br/>
              <a:r>
                <a:rPr lang="en" sz="1500" dirty="0">
                  <a:solidFill>
                    <a:schemeClr val="dk1"/>
                  </a:solidFill>
                  <a:latin typeface="+mn-lt"/>
                  <a:ea typeface="+mn-ea"/>
                  <a:cs typeface="+mn-cs"/>
                </a:rPr>
                <a:t>which R&amp;D to fund</a:t>
              </a:r>
            </a:p>
          </p:txBody>
        </p:sp>
        <p:sp>
          <p:nvSpPr>
            <p:cNvPr id="13" name="Rectangle 13"/>
            <p:cNvSpPr/>
            <p:nvPr/>
          </p:nvSpPr>
          <p:spPr>
            <a:xfrm>
              <a:off x="8305800" y="2571750"/>
              <a:ext cx="2857500" cy="1238250"/>
            </a:xfrm>
            <a:prstGeom prst="rect">
              <a:avLst/>
            </a:prstGeom>
            <a:solidFill>
              <a:schemeClr val="accent5"/>
            </a:solidFill>
            <a:ln w="9525">
              <a:solidFill>
                <a:schemeClr val="accent6"/>
              </a:solidFill>
            </a:ln>
          </p:spPr>
        </p:sp>
        <p:sp>
          <p:nvSpPr>
            <p:cNvPr id="14" name="TextBox 14"/>
            <p:cNvSpPr txBox="1"/>
            <p:nvPr/>
          </p:nvSpPr>
          <p:spPr>
            <a:xfrm>
              <a:off x="8526780" y="2847975"/>
              <a:ext cx="754532"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UPDATE</a:t>
              </a:r>
            </a:p>
          </p:txBody>
        </p:sp>
        <p:sp>
          <p:nvSpPr>
            <p:cNvPr id="15" name="TextBox 15"/>
            <p:cNvSpPr txBox="1"/>
            <p:nvPr/>
          </p:nvSpPr>
          <p:spPr>
            <a:xfrm>
              <a:off x="8526780" y="3171825"/>
              <a:ext cx="218694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the model applies it and</a:t>
              </a:r>
              <a:br/>
              <a:r>
                <a:rPr lang="en" sz="1500" dirty="0">
                  <a:solidFill>
                    <a:schemeClr val="dk1"/>
                  </a:solidFill>
                  <a:latin typeface="+mn-lt"/>
                  <a:ea typeface="+mn-ea"/>
                  <a:cs typeface="+mn-cs"/>
                </a:rPr>
                <a:t>advances one month</a:t>
              </a:r>
            </a:p>
          </p:txBody>
        </p:sp>
        <p:sp>
          <p:nvSpPr>
            <p:cNvPr id="16" name="Line 16"/>
            <p:cNvSpPr/>
            <p:nvPr/>
          </p:nvSpPr>
          <p:spPr>
            <a:xfrm>
              <a:off x="3924300" y="3190875"/>
              <a:ext cx="685800" cy="1"/>
            </a:xfrm>
            <a:prstGeom prst="line">
              <a:avLst/>
            </a:prstGeom>
            <a:noFill/>
            <a:ln w="19050">
              <a:solidFill>
                <a:schemeClr val="accent1"/>
              </a:solidFill>
              <a:tailEnd type="triangle" w="lg" len="lg"/>
            </a:ln>
          </p:spPr>
        </p:sp>
        <p:sp>
          <p:nvSpPr>
            <p:cNvPr id="17" name="Line 17"/>
            <p:cNvSpPr/>
            <p:nvPr/>
          </p:nvSpPr>
          <p:spPr>
            <a:xfrm>
              <a:off x="7562850" y="3190875"/>
              <a:ext cx="685800" cy="1"/>
            </a:xfrm>
            <a:prstGeom prst="line">
              <a:avLst/>
            </a:prstGeom>
            <a:noFill/>
            <a:ln w="19050">
              <a:solidFill>
                <a:schemeClr val="accent1"/>
              </a:solidFill>
              <a:tailEnd type="triangle" w="lg" len="lg"/>
            </a:ln>
          </p:spPr>
        </p:sp>
      </p:grpSp>
      <p:grpSp>
        <p:nvGrpSpPr>
          <p:cNvPr id="33" name="Group 33"/>
          <p:cNvGrpSpPr/>
          <p:nvPr/>
        </p:nvGrpSpPr>
        <p:grpSpPr>
          <a:xfrm>
            <a:off x="716756" y="4288155"/>
            <a:ext cx="9273064" cy="1215390"/>
            <a:chOff x="716756" y="4288155"/>
            <a:chExt cx="9273064" cy="1215390"/>
          </a:xfrm>
        </p:grpSpPr>
        <p:grpSp>
          <p:nvGrpSpPr>
            <p:cNvPr id="23" name="Group 23"/>
            <p:cNvGrpSpPr/>
            <p:nvPr/>
          </p:nvGrpSpPr>
          <p:grpSpPr>
            <a:xfrm>
              <a:off x="716756" y="4346404"/>
              <a:ext cx="196056" cy="185114"/>
              <a:chOff x="716756" y="4346404"/>
              <a:chExt cx="196056" cy="185114"/>
            </a:xfrm>
          </p:grpSpPr>
          <p:sp>
            <p:nvSpPr>
              <p:cNvPr id="19" name="Freeform 19"/>
              <p:cNvSpPr/>
              <p:nvPr/>
            </p:nvSpPr>
            <p:spPr>
              <a:xfrm>
                <a:off x="727075" y="4398168"/>
                <a:ext cx="103187" cy="123825"/>
              </a:xfrm>
              <a:custGeom>
                <a:avLst/>
                <a:gdLst/>
                <a:ahLst/>
                <a:cxnLst/>
                <a:rect l="l" t="t" r="r" b="b"/>
                <a:pathLst>
                  <a:path w="103187" h="123825">
                    <a:moveTo>
                      <a:pt x="0" y="123825"/>
                    </a:moveTo>
                    <a:cubicBezTo>
                      <a:pt x="11836" y="82343"/>
                      <a:pt x="20462" y="40996"/>
                      <a:pt x="20637" y="0"/>
                    </a:cubicBezTo>
                    <a:lnTo>
                      <a:pt x="82550" y="0"/>
                    </a:lnTo>
                    <a:cubicBezTo>
                      <a:pt x="82725" y="40996"/>
                      <a:pt x="91352" y="82343"/>
                      <a:pt x="103187" y="123825"/>
                    </a:cubicBezTo>
                  </a:path>
                </a:pathLst>
              </a:custGeom>
              <a:noFill/>
              <a:ln w="20637">
                <a:solidFill>
                  <a:schemeClr val="accent2"/>
                </a:solidFill>
              </a:ln>
            </p:spPr>
          </p:sp>
          <p:sp>
            <p:nvSpPr>
              <p:cNvPr id="20" name="Freeform 20"/>
              <p:cNvSpPr/>
              <p:nvPr/>
            </p:nvSpPr>
            <p:spPr>
              <a:xfrm>
                <a:off x="814784" y="4439443"/>
                <a:ext cx="67072" cy="82550"/>
              </a:xfrm>
              <a:custGeom>
                <a:avLst/>
                <a:gdLst/>
                <a:ahLst/>
                <a:cxnLst/>
                <a:rect l="l" t="t" r="r" b="b"/>
                <a:pathLst>
                  <a:path w="67072" h="82550">
                    <a:moveTo>
                      <a:pt x="0" y="0"/>
                    </a:moveTo>
                    <a:lnTo>
                      <a:pt x="46434" y="0"/>
                    </a:lnTo>
                    <a:cubicBezTo>
                      <a:pt x="46692" y="26952"/>
                      <a:pt x="55659" y="54648"/>
                      <a:pt x="67072" y="82550"/>
                    </a:cubicBezTo>
                  </a:path>
                </a:pathLst>
              </a:custGeom>
              <a:noFill/>
              <a:ln w="20637">
                <a:solidFill>
                  <a:schemeClr val="accent2"/>
                </a:solidFill>
              </a:ln>
            </p:spPr>
          </p:sp>
          <p:sp>
            <p:nvSpPr>
              <p:cNvPr id="21" name="Freeform 21"/>
              <p:cNvSpPr/>
              <p:nvPr/>
            </p:nvSpPr>
            <p:spPr>
              <a:xfrm>
                <a:off x="778668" y="4346404"/>
                <a:ext cx="123825" cy="20979"/>
              </a:xfrm>
              <a:custGeom>
                <a:avLst/>
                <a:gdLst/>
                <a:ahLst/>
                <a:cxnLst/>
                <a:rect l="l" t="t" r="r" b="b"/>
                <a:pathLst>
                  <a:path w="123825" h="20979">
                    <a:moveTo>
                      <a:pt x="0" y="10490"/>
                    </a:moveTo>
                    <a:cubicBezTo>
                      <a:pt x="4759" y="3860"/>
                      <a:pt x="12478" y="0"/>
                      <a:pt x="20637" y="171"/>
                    </a:cubicBezTo>
                    <a:cubicBezTo>
                      <a:pt x="28797" y="0"/>
                      <a:pt x="36516" y="3860"/>
                      <a:pt x="41275" y="10490"/>
                    </a:cubicBezTo>
                    <a:cubicBezTo>
                      <a:pt x="46034" y="17119"/>
                      <a:pt x="53753" y="20979"/>
                      <a:pt x="61912" y="20808"/>
                    </a:cubicBezTo>
                    <a:cubicBezTo>
                      <a:pt x="70071" y="20979"/>
                      <a:pt x="77791" y="17119"/>
                      <a:pt x="82550" y="10490"/>
                    </a:cubicBezTo>
                    <a:cubicBezTo>
                      <a:pt x="87308" y="3860"/>
                      <a:pt x="95028" y="0"/>
                      <a:pt x="103187" y="171"/>
                    </a:cubicBezTo>
                    <a:cubicBezTo>
                      <a:pt x="111346" y="0"/>
                      <a:pt x="119066" y="3860"/>
                      <a:pt x="123825" y="10490"/>
                    </a:cubicBezTo>
                  </a:path>
                </a:pathLst>
              </a:custGeom>
              <a:noFill/>
              <a:ln w="20637">
                <a:solidFill>
                  <a:schemeClr val="accent2"/>
                </a:solidFill>
              </a:ln>
            </p:spPr>
          </p:sp>
          <p:sp>
            <p:nvSpPr>
              <p:cNvPr id="22" name="Freeform 22"/>
              <p:cNvSpPr/>
              <p:nvPr/>
            </p:nvSpPr>
            <p:spPr>
              <a:xfrm>
                <a:off x="716756" y="4521993"/>
                <a:ext cx="196056" cy="9525"/>
              </a:xfrm>
              <a:custGeom>
                <a:avLst/>
                <a:gdLst/>
                <a:ahLst/>
                <a:cxnLst/>
                <a:rect l="l" t="t" r="r" b="b"/>
                <a:pathLst>
                  <a:path w="196056" h="9525">
                    <a:moveTo>
                      <a:pt x="0" y="0"/>
                    </a:moveTo>
                    <a:lnTo>
                      <a:pt x="196056" y="0"/>
                    </a:lnTo>
                  </a:path>
                </a:pathLst>
              </a:custGeom>
              <a:noFill/>
              <a:ln w="20637">
                <a:solidFill>
                  <a:schemeClr val="accent2"/>
                </a:solidFill>
              </a:ln>
            </p:spPr>
          </p:sp>
        </p:grpSp>
        <p:sp>
          <p:nvSpPr>
            <p:cNvPr id="24" name="TextBox 24"/>
            <p:cNvSpPr txBox="1"/>
            <p:nvPr/>
          </p:nvSpPr>
          <p:spPr>
            <a:xfrm>
              <a:off x="1056132" y="4288155"/>
              <a:ext cx="2212588"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Manufacturers</a:t>
              </a:r>
            </a:p>
          </p:txBody>
        </p:sp>
        <p:sp>
          <p:nvSpPr>
            <p:cNvPr id="25" name="TextBox 25"/>
            <p:cNvSpPr txBox="1"/>
            <p:nvPr/>
          </p:nvSpPr>
          <p:spPr>
            <a:xfrm>
              <a:off x="1059180" y="4714875"/>
              <a:ext cx="691134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Every month the firm's decision now comes from a board of five</a:t>
              </a:r>
              <a:br/>
              <a:r>
                <a:rPr lang="en" sz="1500" dirty="0">
                  <a:solidFill>
                    <a:schemeClr val="dk1"/>
                  </a:solidFill>
                  <a:latin typeface="+mn-lt"/>
                  <a:ea typeface="+mn-ea"/>
                  <a:cs typeface="+mn-cs"/>
                </a:rPr>
                <a:t>AI directors with different mandates. They vote, and they leave minutes.</a:t>
              </a:r>
            </a:p>
          </p:txBody>
        </p:sp>
        <p:grpSp>
          <p:nvGrpSpPr>
            <p:cNvPr id="30" name="Group 30"/>
            <p:cNvGrpSpPr/>
            <p:nvPr/>
          </p:nvGrpSpPr>
          <p:grpSpPr>
            <a:xfrm>
              <a:off x="6431756" y="4336256"/>
              <a:ext cx="185737" cy="185738"/>
              <a:chOff x="6431756" y="4336256"/>
              <a:chExt cx="185737" cy="185738"/>
            </a:xfrm>
          </p:grpSpPr>
          <p:sp>
            <p:nvSpPr>
              <p:cNvPr id="26" name="Freeform 26"/>
              <p:cNvSpPr/>
              <p:nvPr/>
            </p:nvSpPr>
            <p:spPr>
              <a:xfrm>
                <a:off x="6452394" y="4336256"/>
                <a:ext cx="82550" cy="82550"/>
              </a:xfrm>
              <a:custGeom>
                <a:avLst/>
                <a:gdLst/>
                <a:ahLst/>
                <a:cxnLst/>
                <a:rect l="l" t="t" r="r" b="b"/>
                <a:pathLst>
                  <a:path w="82550" h="82550">
                    <a:moveTo>
                      <a:pt x="0" y="41275"/>
                    </a:moveTo>
                    <a:cubicBezTo>
                      <a:pt x="0" y="64070"/>
                      <a:pt x="18479" y="82550"/>
                      <a:pt x="41275" y="82550"/>
                    </a:cubicBezTo>
                    <a:cubicBezTo>
                      <a:pt x="64070" y="82550"/>
                      <a:pt x="82550" y="64070"/>
                      <a:pt x="82550" y="41275"/>
                    </a:cubicBezTo>
                    <a:cubicBezTo>
                      <a:pt x="82550" y="18479"/>
                      <a:pt x="64070" y="0"/>
                      <a:pt x="41275" y="0"/>
                    </a:cubicBezTo>
                    <a:cubicBezTo>
                      <a:pt x="18479" y="0"/>
                      <a:pt x="0" y="18479"/>
                      <a:pt x="0" y="41275"/>
                    </a:cubicBezTo>
                  </a:path>
                </a:pathLst>
              </a:custGeom>
              <a:noFill/>
              <a:ln w="20637">
                <a:solidFill>
                  <a:schemeClr val="accent2"/>
                </a:solidFill>
              </a:ln>
            </p:spPr>
          </p:sp>
          <p:sp>
            <p:nvSpPr>
              <p:cNvPr id="27" name="Freeform 27"/>
              <p:cNvSpPr/>
              <p:nvPr/>
            </p:nvSpPr>
            <p:spPr>
              <a:xfrm>
                <a:off x="6431756" y="4460081"/>
                <a:ext cx="123825" cy="61912"/>
              </a:xfrm>
              <a:custGeom>
                <a:avLst/>
                <a:gdLst/>
                <a:ahLst/>
                <a:cxnLst/>
                <a:rect l="l" t="t" r="r" b="b"/>
                <a:pathLst>
                  <a:path w="123825" h="61912">
                    <a:moveTo>
                      <a:pt x="0" y="61912"/>
                    </a:moveTo>
                    <a:lnTo>
                      <a:pt x="0" y="41275"/>
                    </a:lnTo>
                    <a:cubicBezTo>
                      <a:pt x="0" y="18479"/>
                      <a:pt x="18479" y="0"/>
                      <a:pt x="41275" y="0"/>
                    </a:cubicBezTo>
                    <a:lnTo>
                      <a:pt x="82550" y="0"/>
                    </a:lnTo>
                    <a:cubicBezTo>
                      <a:pt x="105345" y="0"/>
                      <a:pt x="123825" y="18479"/>
                      <a:pt x="123825" y="41275"/>
                    </a:cubicBezTo>
                    <a:lnTo>
                      <a:pt x="123825" y="61912"/>
                    </a:lnTo>
                  </a:path>
                </a:pathLst>
              </a:custGeom>
              <a:noFill/>
              <a:ln w="20637">
                <a:solidFill>
                  <a:schemeClr val="accent2"/>
                </a:solidFill>
              </a:ln>
            </p:spPr>
          </p:sp>
          <p:sp>
            <p:nvSpPr>
              <p:cNvPr id="28" name="Freeform 28"/>
              <p:cNvSpPr/>
              <p:nvPr/>
            </p:nvSpPr>
            <p:spPr>
              <a:xfrm>
                <a:off x="6565899" y="4337598"/>
                <a:ext cx="31037" cy="79970"/>
              </a:xfrm>
              <a:custGeom>
                <a:avLst/>
                <a:gdLst/>
                <a:ahLst/>
                <a:cxnLst/>
                <a:rect l="l" t="t" r="r" b="b"/>
                <a:pathLst>
                  <a:path w="31037" h="79970">
                    <a:moveTo>
                      <a:pt x="0" y="0"/>
                    </a:moveTo>
                    <a:cubicBezTo>
                      <a:pt x="18263" y="4676"/>
                      <a:pt x="31037" y="21133"/>
                      <a:pt x="31037" y="39985"/>
                    </a:cubicBezTo>
                    <a:cubicBezTo>
                      <a:pt x="31037" y="58837"/>
                      <a:pt x="18263" y="75294"/>
                      <a:pt x="0" y="79970"/>
                    </a:cubicBezTo>
                  </a:path>
                </a:pathLst>
              </a:custGeom>
              <a:noFill/>
              <a:ln w="20637">
                <a:solidFill>
                  <a:schemeClr val="accent2"/>
                </a:solidFill>
              </a:ln>
            </p:spPr>
          </p:sp>
          <p:sp>
            <p:nvSpPr>
              <p:cNvPr id="29" name="Freeform 29"/>
              <p:cNvSpPr/>
              <p:nvPr/>
            </p:nvSpPr>
            <p:spPr>
              <a:xfrm>
                <a:off x="6586537" y="4461629"/>
                <a:ext cx="30956" cy="60365"/>
              </a:xfrm>
              <a:custGeom>
                <a:avLst/>
                <a:gdLst/>
                <a:ahLst/>
                <a:cxnLst/>
                <a:rect l="l" t="t" r="r" b="b"/>
                <a:pathLst>
                  <a:path w="30956" h="60365">
                    <a:moveTo>
                      <a:pt x="30956" y="60365"/>
                    </a:moveTo>
                    <a:lnTo>
                      <a:pt x="30956" y="39727"/>
                    </a:lnTo>
                    <a:cubicBezTo>
                      <a:pt x="30848" y="20994"/>
                      <a:pt x="18138" y="4683"/>
                      <a:pt x="0" y="0"/>
                    </a:cubicBezTo>
                  </a:path>
                </a:pathLst>
              </a:custGeom>
              <a:noFill/>
              <a:ln w="20637">
                <a:solidFill>
                  <a:schemeClr val="accent2"/>
                </a:solidFill>
              </a:ln>
            </p:spPr>
          </p:sp>
        </p:grpSp>
        <p:sp>
          <p:nvSpPr>
            <p:cNvPr id="31" name="TextBox 31"/>
            <p:cNvSpPr txBox="1"/>
            <p:nvPr/>
          </p:nvSpPr>
          <p:spPr>
            <a:xfrm>
              <a:off x="6771132" y="4288155"/>
              <a:ext cx="1559662"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Consumers</a:t>
              </a:r>
            </a:p>
          </p:txBody>
        </p:sp>
        <p:sp>
          <p:nvSpPr>
            <p:cNvPr id="32" name="TextBox 32"/>
            <p:cNvSpPr txBox="1"/>
            <p:nvPr/>
          </p:nvSpPr>
          <p:spPr>
            <a:xfrm>
              <a:off x="6774180" y="4714875"/>
              <a:ext cx="3215640" cy="78867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 5% sample of undecided adopters</a:t>
              </a:r>
              <a:br/>
              <a:r>
                <a:rPr lang="en" sz="1500" dirty="0">
                  <a:solidFill>
                    <a:schemeClr val="dk1"/>
                  </a:solidFill>
                  <a:latin typeface="+mn-lt"/>
                  <a:ea typeface="+mn-ea"/>
                  <a:cs typeface="+mn-cs"/>
                </a:rPr>
                <a:t>is asked each month, instead of</a:t>
              </a:r>
              <a:br/>
              <a:r>
                <a:rPr lang="en" sz="1500" dirty="0">
                  <a:solidFill>
                    <a:schemeClr val="dk1"/>
                  </a:solidFill>
                  <a:latin typeface="+mn-lt"/>
                  <a:ea typeface="+mn-ea"/>
                  <a:cs typeface="+mn-cs"/>
                </a:rPr>
                <a:t>running the equation.</a:t>
              </a:r>
            </a:p>
          </p:txBody>
        </p:sp>
      </p:grpSp>
      <p:grpSp>
        <p:nvGrpSpPr>
          <p:cNvPr id="35" name="Group 35"/>
          <p:cNvGrpSpPr/>
          <p:nvPr/>
        </p:nvGrpSpPr>
        <p:grpSpPr>
          <a:xfrm>
            <a:off x="678180" y="5915025"/>
            <a:ext cx="8987610" cy="293370"/>
            <a:chOff x="678180" y="5915025"/>
            <a:chExt cx="8987610" cy="293370"/>
          </a:xfrm>
        </p:grpSpPr>
        <p:sp>
          <p:nvSpPr>
            <p:cNvPr id="34" name="TextBox 34"/>
            <p:cNvSpPr txBox="1"/>
            <p:nvPr/>
          </p:nvSpPr>
          <p:spPr>
            <a:xfrm>
              <a:off x="678180" y="5915025"/>
              <a:ext cx="8987610"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If a call fails, the model falls back to the original equation, so the simulation never stalls.</a:t>
              </a:r>
            </a:p>
          </p:txBody>
        </p:sp>
      </p:grpSp>
      <p:grpSp>
        <p:nvGrpSpPr>
          <p:cNvPr id="39" name="Group 39"/>
          <p:cNvGrpSpPr/>
          <p:nvPr/>
        </p:nvGrpSpPr>
        <p:grpSpPr>
          <a:xfrm>
            <a:off x="678942" y="6286500"/>
            <a:ext cx="10834116" cy="404051"/>
            <a:chOff x="678942" y="6286500"/>
            <a:chExt cx="10834116" cy="404051"/>
          </a:xfrm>
        </p:grpSpPr>
        <p:sp>
          <p:nvSpPr>
            <p:cNvPr id="36" name="Line 36"/>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37" name="TextBox 37"/>
            <p:cNvSpPr txBox="1"/>
            <p:nvPr/>
          </p:nvSpPr>
          <p:spPr>
            <a:xfrm>
              <a:off x="678942" y="6426518"/>
              <a:ext cx="6525938"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State updates, accounting and the monthly loop stay in the original model</a:t>
              </a:r>
            </a:p>
          </p:txBody>
        </p:sp>
        <p:sp>
          <p:nvSpPr>
            <p:cNvPr id="38" name="TextBox 38"/>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06 / 10</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2298192"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WHAT CHANGED · 1 OF 2</a:t>
              </a:r>
            </a:p>
          </p:txBody>
        </p:sp>
        <p:sp>
          <p:nvSpPr>
            <p:cNvPr id="4" name="TextBox 4"/>
            <p:cNvSpPr txBox="1"/>
            <p:nvPr/>
          </p:nvSpPr>
          <p:spPr>
            <a:xfrm>
              <a:off x="667512" y="963930"/>
              <a:ext cx="8325841"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The rationality gate disappears</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6" name="Group 16"/>
          <p:cNvGrpSpPr/>
          <p:nvPr/>
        </p:nvGrpSpPr>
        <p:grpSpPr>
          <a:xfrm>
            <a:off x="678180" y="2124075"/>
            <a:ext cx="10561320" cy="2007870"/>
            <a:chOff x="678180" y="2124075"/>
            <a:chExt cx="10561320" cy="2007870"/>
          </a:xfrm>
        </p:grpSpPr>
        <p:sp>
          <p:nvSpPr>
            <p:cNvPr id="7" name="TextBox 7"/>
            <p:cNvSpPr txBox="1"/>
            <p:nvPr/>
          </p:nvSpPr>
          <p:spPr>
            <a:xfrm>
              <a:off x="678180" y="2124075"/>
              <a:ext cx="2389937" cy="293370"/>
            </a:xfrm>
            <a:prstGeom prst="rect">
              <a:avLst/>
            </a:prstGeom>
            <a:noFill/>
            <a:ln>
              <a:noFill/>
            </a:ln>
          </p:spPr>
          <p:txBody>
            <a:bodyPr wrap="none" lIns="0" tIns="0" rIns="0" bIns="0" anchor="t" anchorCtr="0">
              <a:spAutoFit/>
            </a:bodyPr>
            <a:lstStyle/>
            <a:p>
              <a:pPr algn="l"/>
              <a:r>
                <a:rPr lang="en" sz="1500" b="1" dirty="0">
                  <a:solidFill>
                    <a:schemeClr val="accent3"/>
                  </a:solidFill>
                  <a:latin typeface="+mn-lt"/>
                  <a:ea typeface="+mn-ea"/>
                  <a:cs typeface="+mn-cs"/>
                </a:rPr>
                <a:t>RULE-BASED CONSUMER</a:t>
              </a:r>
            </a:p>
          </p:txBody>
        </p:sp>
        <p:sp>
          <p:nvSpPr>
            <p:cNvPr id="8" name="Line 8"/>
            <p:cNvSpPr/>
            <p:nvPr/>
          </p:nvSpPr>
          <p:spPr>
            <a:xfrm>
              <a:off x="952500" y="2952750"/>
              <a:ext cx="1771650" cy="9525"/>
            </a:xfrm>
            <a:custGeom>
              <a:avLst/>
              <a:gdLst/>
              <a:ahLst/>
              <a:cxnLst/>
              <a:rect l="l" t="t" r="r" b="b"/>
              <a:pathLst>
                <a:path w="1771650" h="9525">
                  <a:moveTo>
                    <a:pt x="0" y="0"/>
                  </a:moveTo>
                  <a:lnTo>
                    <a:pt x="1771650" y="0"/>
                  </a:lnTo>
                </a:path>
              </a:pathLst>
            </a:custGeom>
            <a:noFill/>
            <a:ln w="38100">
              <a:solidFill>
                <a:schemeClr val="accent3"/>
              </a:solidFill>
            </a:ln>
          </p:spPr>
        </p:sp>
        <p:sp>
          <p:nvSpPr>
            <p:cNvPr id="9" name="Rectangle 9"/>
            <p:cNvSpPr/>
            <p:nvPr/>
          </p:nvSpPr>
          <p:spPr>
            <a:xfrm>
              <a:off x="2781300" y="2686050"/>
              <a:ext cx="76200" cy="533400"/>
            </a:xfrm>
            <a:prstGeom prst="rect">
              <a:avLst/>
            </a:prstGeom>
            <a:solidFill>
              <a:schemeClr val="accent3"/>
            </a:solidFill>
            <a:ln>
              <a:noFill/>
            </a:ln>
          </p:spPr>
        </p:sp>
        <p:sp>
          <p:nvSpPr>
            <p:cNvPr id="10" name="Rectangle 10"/>
            <p:cNvSpPr/>
            <p:nvPr/>
          </p:nvSpPr>
          <p:spPr>
            <a:xfrm>
              <a:off x="3048000" y="2686050"/>
              <a:ext cx="76200" cy="533400"/>
            </a:xfrm>
            <a:prstGeom prst="rect">
              <a:avLst/>
            </a:prstGeom>
            <a:solidFill>
              <a:schemeClr val="accent3"/>
            </a:solidFill>
            <a:ln>
              <a:noFill/>
            </a:ln>
          </p:spPr>
        </p:sp>
        <p:sp>
          <p:nvSpPr>
            <p:cNvPr id="11" name="Line 11"/>
            <p:cNvSpPr/>
            <p:nvPr/>
          </p:nvSpPr>
          <p:spPr>
            <a:xfrm>
              <a:off x="3181350" y="2952750"/>
              <a:ext cx="2152650" cy="9525"/>
            </a:xfrm>
            <a:custGeom>
              <a:avLst/>
              <a:gdLst/>
              <a:ahLst/>
              <a:cxnLst/>
              <a:rect l="l" t="t" r="r" b="b"/>
              <a:pathLst>
                <a:path w="2152650" h="9525">
                  <a:moveTo>
                    <a:pt x="0" y="0"/>
                  </a:moveTo>
                  <a:lnTo>
                    <a:pt x="2152650" y="0"/>
                  </a:lnTo>
                </a:path>
              </a:pathLst>
            </a:custGeom>
            <a:noFill/>
            <a:ln w="38100">
              <a:solidFill>
                <a:schemeClr val="accent3"/>
              </a:solidFill>
            </a:ln>
          </p:spPr>
        </p:sp>
        <p:sp>
          <p:nvSpPr>
            <p:cNvPr id="12" name="TextBox 12"/>
            <p:cNvSpPr txBox="1"/>
            <p:nvPr/>
          </p:nvSpPr>
          <p:spPr>
            <a:xfrm>
              <a:off x="678180" y="3552825"/>
              <a:ext cx="3072765"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must pass: net present value ≥ 0</a:t>
              </a:r>
              <a:br/>
              <a:r>
                <a:rPr lang="en" sz="1500" dirty="0">
                  <a:solidFill>
                    <a:schemeClr val="dk1"/>
                  </a:solidFill>
                  <a:latin typeface="+mn-lt"/>
                  <a:ea typeface="+mn-ea"/>
                  <a:cs typeface="+mn-cs"/>
                </a:rPr>
                <a:t>otherwise: do not buy</a:t>
              </a:r>
            </a:p>
          </p:txBody>
        </p:sp>
        <p:sp>
          <p:nvSpPr>
            <p:cNvPr id="13" name="TextBox 13"/>
            <p:cNvSpPr txBox="1"/>
            <p:nvPr/>
          </p:nvSpPr>
          <p:spPr>
            <a:xfrm>
              <a:off x="6316980" y="2124075"/>
              <a:ext cx="1348207"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AI CONSUMER</a:t>
              </a:r>
            </a:p>
          </p:txBody>
        </p:sp>
        <p:sp>
          <p:nvSpPr>
            <p:cNvPr id="14" name="Line 14"/>
            <p:cNvSpPr/>
            <p:nvPr/>
          </p:nvSpPr>
          <p:spPr>
            <a:xfrm>
              <a:off x="6591300" y="2952750"/>
              <a:ext cx="4648200" cy="1"/>
            </a:xfrm>
            <a:prstGeom prst="line">
              <a:avLst/>
            </a:prstGeom>
            <a:noFill/>
            <a:ln w="38100">
              <a:solidFill>
                <a:schemeClr val="accent2"/>
              </a:solidFill>
              <a:tailEnd type="triangle" w="lg" len="lg"/>
            </a:ln>
          </p:spPr>
        </p:sp>
        <p:sp>
          <p:nvSpPr>
            <p:cNvPr id="15" name="TextBox 15"/>
            <p:cNvSpPr txBox="1"/>
            <p:nvPr/>
          </p:nvSpPr>
          <p:spPr>
            <a:xfrm>
              <a:off x="6316980" y="3552825"/>
              <a:ext cx="3158490"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the same market figures, no gate</a:t>
              </a:r>
              <a:br/>
              <a:r>
                <a:rPr lang="en" sz="1500" dirty="0">
                  <a:solidFill>
                    <a:schemeClr val="dk1"/>
                  </a:solidFill>
                  <a:latin typeface="+mn-lt"/>
                  <a:ea typeface="+mn-ea"/>
                  <a:cs typeface="+mn-cs"/>
                </a:rPr>
                <a:t>the agent simply decides</a:t>
              </a:r>
            </a:p>
          </p:txBody>
        </p:sp>
      </p:grpSp>
      <p:grpSp>
        <p:nvGrpSpPr>
          <p:cNvPr id="19" name="Group 19"/>
          <p:cNvGrpSpPr/>
          <p:nvPr/>
        </p:nvGrpSpPr>
        <p:grpSpPr>
          <a:xfrm>
            <a:off x="678180" y="4657725"/>
            <a:ext cx="6139815" cy="998220"/>
            <a:chOff x="678180" y="4657725"/>
            <a:chExt cx="6139815" cy="998220"/>
          </a:xfrm>
        </p:grpSpPr>
        <p:sp>
          <p:nvSpPr>
            <p:cNvPr id="17" name="TextBox 17"/>
            <p:cNvSpPr txBox="1"/>
            <p:nvPr/>
          </p:nvSpPr>
          <p:spPr>
            <a:xfrm>
              <a:off x="678180" y="4657725"/>
              <a:ext cx="3532480"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WHAT THE EQUATION CANNOT HOLD</a:t>
              </a:r>
            </a:p>
          </p:txBody>
        </p:sp>
        <p:sp>
          <p:nvSpPr>
            <p:cNvPr id="18" name="TextBox 18"/>
            <p:cNvSpPr txBox="1"/>
            <p:nvPr/>
          </p:nvSpPr>
          <p:spPr>
            <a:xfrm>
              <a:off x="678180" y="5076825"/>
              <a:ext cx="6139815"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what the neighbours are doing · how it feels about the technology</a:t>
              </a:r>
              <a:br/>
              <a:r>
                <a:rPr lang="en" sz="1500" dirty="0">
                  <a:solidFill>
                    <a:schemeClr val="dk1"/>
                  </a:solidFill>
                  <a:latin typeface="+mn-lt"/>
                  <a:ea typeface="+mn-ea"/>
                  <a:cs typeface="+mn-cs"/>
                </a:rPr>
                <a:t>what it expects from the next subsidy round</a:t>
              </a:r>
            </a:p>
          </p:txBody>
        </p:sp>
      </p:grpSp>
      <p:grpSp>
        <p:nvGrpSpPr>
          <p:cNvPr id="21" name="Group 21"/>
          <p:cNvGrpSpPr/>
          <p:nvPr/>
        </p:nvGrpSpPr>
        <p:grpSpPr>
          <a:xfrm>
            <a:off x="678942" y="6045518"/>
            <a:ext cx="8716062" cy="264033"/>
            <a:chOff x="678942" y="6045518"/>
            <a:chExt cx="8716062" cy="264033"/>
          </a:xfrm>
        </p:grpSpPr>
        <p:sp>
          <p:nvSpPr>
            <p:cNvPr id="20" name="TextBox 20"/>
            <p:cNvSpPr txBox="1"/>
            <p:nvPr/>
          </p:nvSpPr>
          <p:spPr>
            <a:xfrm>
              <a:off x="678942" y="6045518"/>
              <a:ext cx="8716062"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Mechanism verified in the code and in short live runs; the full 26-year comparison is still pending.</a:t>
              </a:r>
            </a:p>
          </p:txBody>
        </p:sp>
      </p:grpSp>
      <p:grpSp>
        <p:nvGrpSpPr>
          <p:cNvPr id="25" name="Group 25"/>
          <p:cNvGrpSpPr/>
          <p:nvPr/>
        </p:nvGrpSpPr>
        <p:grpSpPr>
          <a:xfrm>
            <a:off x="678942" y="6286500"/>
            <a:ext cx="10834116" cy="404051"/>
            <a:chOff x="678942" y="6286500"/>
            <a:chExt cx="10834116" cy="404051"/>
          </a:xfrm>
        </p:grpSpPr>
        <p:sp>
          <p:nvSpPr>
            <p:cNvPr id="22" name="Line 2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3" name="TextBox 23"/>
            <p:cNvSpPr txBox="1"/>
            <p:nvPr/>
          </p:nvSpPr>
          <p:spPr>
            <a:xfrm>
              <a:off x="678942" y="6426518"/>
              <a:ext cx="9134992"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Baseline adoption in the formula model: 50 of 500 agents, about 10%, against a historical rate near 7%</a:t>
              </a:r>
            </a:p>
          </p:txBody>
        </p:sp>
        <p:sp>
          <p:nvSpPr>
            <p:cNvPr id="24" name="TextBox 24"/>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07 / 10</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2298192"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WHAT CHANGED · 2 OF 2</a:t>
              </a:r>
            </a:p>
          </p:txBody>
        </p:sp>
        <p:sp>
          <p:nvSpPr>
            <p:cNvPr id="4" name="TextBox 4"/>
            <p:cNvSpPr txBox="1"/>
            <p:nvPr/>
          </p:nvSpPr>
          <p:spPr>
            <a:xfrm>
              <a:off x="667512" y="963930"/>
              <a:ext cx="6799055"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R&amp;D becomes an argument</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8" name="Group 18"/>
          <p:cNvGrpSpPr/>
          <p:nvPr/>
        </p:nvGrpSpPr>
        <p:grpSpPr>
          <a:xfrm>
            <a:off x="675132" y="1830705"/>
            <a:ext cx="5294376" cy="3272790"/>
            <a:chOff x="675132" y="1830705"/>
            <a:chExt cx="5294376" cy="3272790"/>
          </a:xfrm>
        </p:grpSpPr>
        <p:sp>
          <p:nvSpPr>
            <p:cNvPr id="7" name="TextBox 7"/>
            <p:cNvSpPr txBox="1"/>
            <p:nvPr/>
          </p:nvSpPr>
          <p:spPr>
            <a:xfrm>
              <a:off x="675132" y="1830705"/>
              <a:ext cx="4379846"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Five directors, five mandates</a:t>
              </a:r>
            </a:p>
          </p:txBody>
        </p:sp>
        <p:sp>
          <p:nvSpPr>
            <p:cNvPr id="8" name="TextBox 8"/>
            <p:cNvSpPr txBox="1"/>
            <p:nvPr/>
          </p:nvSpPr>
          <p:spPr>
            <a:xfrm>
              <a:off x="678180" y="2295525"/>
              <a:ext cx="551307"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Chair</a:t>
              </a:r>
            </a:p>
          </p:txBody>
        </p:sp>
        <p:sp>
          <p:nvSpPr>
            <p:cNvPr id="9" name="TextBox 9"/>
            <p:cNvSpPr txBox="1"/>
            <p:nvPr/>
          </p:nvSpPr>
          <p:spPr>
            <a:xfrm>
              <a:off x="1592580" y="2295525"/>
              <a:ext cx="3973068"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long-run strategy and the policy window</a:t>
              </a:r>
            </a:p>
          </p:txBody>
        </p:sp>
        <p:sp>
          <p:nvSpPr>
            <p:cNvPr id="10" name="TextBox 10"/>
            <p:cNvSpPr txBox="1"/>
            <p:nvPr/>
          </p:nvSpPr>
          <p:spPr>
            <a:xfrm>
              <a:off x="678180" y="2924175"/>
              <a:ext cx="429692"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CFO</a:t>
              </a:r>
            </a:p>
          </p:txBody>
        </p:sp>
        <p:sp>
          <p:nvSpPr>
            <p:cNvPr id="11" name="TextBox 11"/>
            <p:cNvSpPr txBox="1"/>
            <p:nvPr/>
          </p:nvSpPr>
          <p:spPr>
            <a:xfrm>
              <a:off x="1592580" y="2924175"/>
              <a:ext cx="3660077"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cash, margin and capacity utilisation</a:t>
              </a:r>
            </a:p>
          </p:txBody>
        </p:sp>
        <p:sp>
          <p:nvSpPr>
            <p:cNvPr id="12" name="TextBox 12"/>
            <p:cNvSpPr txBox="1"/>
            <p:nvPr/>
          </p:nvSpPr>
          <p:spPr>
            <a:xfrm>
              <a:off x="678180" y="3552825"/>
              <a:ext cx="429692"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CTO</a:t>
              </a:r>
            </a:p>
          </p:txBody>
        </p:sp>
        <p:sp>
          <p:nvSpPr>
            <p:cNvPr id="13" name="TextBox 13"/>
            <p:cNvSpPr txBox="1"/>
            <p:nvPr/>
          </p:nvSpPr>
          <p:spPr>
            <a:xfrm>
              <a:off x="1592580" y="3552825"/>
              <a:ext cx="4376928"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efficiency and the knowledge that cuts cost</a:t>
              </a:r>
            </a:p>
          </p:txBody>
        </p:sp>
        <p:sp>
          <p:nvSpPr>
            <p:cNvPr id="14" name="TextBox 14"/>
            <p:cNvSpPr txBox="1"/>
            <p:nvPr/>
          </p:nvSpPr>
          <p:spPr>
            <a:xfrm>
              <a:off x="678180" y="4181475"/>
              <a:ext cx="474497"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CMO</a:t>
              </a:r>
            </a:p>
          </p:txBody>
        </p:sp>
        <p:sp>
          <p:nvSpPr>
            <p:cNvPr id="15" name="TextBox 15"/>
            <p:cNvSpPr txBox="1"/>
            <p:nvPr/>
          </p:nvSpPr>
          <p:spPr>
            <a:xfrm>
              <a:off x="1592580" y="4181475"/>
              <a:ext cx="3286506"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order backlog and market demand</a:t>
              </a:r>
            </a:p>
          </p:txBody>
        </p:sp>
        <p:sp>
          <p:nvSpPr>
            <p:cNvPr id="16" name="TextBox 16"/>
            <p:cNvSpPr txBox="1"/>
            <p:nvPr/>
          </p:nvSpPr>
          <p:spPr>
            <a:xfrm>
              <a:off x="678180" y="4810125"/>
              <a:ext cx="429692"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CSO</a:t>
              </a:r>
            </a:p>
          </p:txBody>
        </p:sp>
        <p:sp>
          <p:nvSpPr>
            <p:cNvPr id="17" name="TextBox 17"/>
            <p:cNvSpPr txBox="1"/>
            <p:nvPr/>
          </p:nvSpPr>
          <p:spPr>
            <a:xfrm>
              <a:off x="1592580" y="4810125"/>
              <a:ext cx="3771138"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compliance and supply-chain resilience</a:t>
              </a:r>
            </a:p>
          </p:txBody>
        </p:sp>
      </p:grpSp>
      <p:grpSp>
        <p:nvGrpSpPr>
          <p:cNvPr id="24" name="Group 24"/>
          <p:cNvGrpSpPr/>
          <p:nvPr/>
        </p:nvGrpSpPr>
        <p:grpSpPr>
          <a:xfrm>
            <a:off x="6305550" y="1895475"/>
            <a:ext cx="5200650" cy="3381375"/>
            <a:chOff x="6305550" y="1895475"/>
            <a:chExt cx="5200650" cy="3381375"/>
          </a:xfrm>
        </p:grpSpPr>
        <p:sp>
          <p:nvSpPr>
            <p:cNvPr id="19" name="TextBox 19"/>
            <p:cNvSpPr txBox="1"/>
            <p:nvPr/>
          </p:nvSpPr>
          <p:spPr>
            <a:xfrm>
              <a:off x="6316980" y="1895475"/>
              <a:ext cx="2636368" cy="293370"/>
            </a:xfrm>
            <a:prstGeom prst="rect">
              <a:avLst/>
            </a:prstGeom>
            <a:noFill/>
            <a:ln>
              <a:noFill/>
            </a:ln>
          </p:spPr>
          <p:txBody>
            <a:bodyPr wrap="none" lIns="0" tIns="0" rIns="0" bIns="0" anchor="t" anchorCtr="0">
              <a:spAutoFit/>
            </a:bodyPr>
            <a:lstStyle/>
            <a:p>
              <a:pPr algn="l"/>
              <a:r>
                <a:rPr lang="en" sz="1500" b="1" dirty="0">
                  <a:solidFill>
                    <a:schemeClr val="accent3"/>
                  </a:solidFill>
                  <a:latin typeface="+mn-lt"/>
                  <a:ea typeface="+mn-ea"/>
                  <a:cs typeface="+mn-cs"/>
                </a:rPr>
                <a:t>ONE REAL BOARD MEETING</a:t>
              </a:r>
            </a:p>
          </p:txBody>
        </p:sp>
        <p:sp>
          <p:nvSpPr>
            <p:cNvPr id="20" name="TextBox 20"/>
            <p:cNvSpPr txBox="1"/>
            <p:nvPr/>
          </p:nvSpPr>
          <p:spPr>
            <a:xfrm>
              <a:off x="6305550" y="2560320"/>
              <a:ext cx="3053117" cy="1047750"/>
            </a:xfrm>
            <a:prstGeom prst="rect">
              <a:avLst/>
            </a:prstGeom>
            <a:noFill/>
            <a:ln>
              <a:noFill/>
            </a:ln>
          </p:spPr>
          <p:txBody>
            <a:bodyPr wrap="none" lIns="0" tIns="0" rIns="0" bIns="0" anchor="t" anchorCtr="0">
              <a:spAutoFit/>
            </a:bodyPr>
            <a:lstStyle/>
            <a:p>
              <a:pPr algn="l"/>
              <a:r>
                <a:rPr lang="en" sz="5400" b="1" dirty="0">
                  <a:solidFill>
                    <a:schemeClr val="accent2"/>
                  </a:solidFill>
                  <a:latin typeface="Consolas"/>
                  <a:ea typeface="Consolas"/>
                  <a:cs typeface="Consolas"/>
                </a:rPr>
                <a:t>3 : 1 : 1</a:t>
              </a:r>
            </a:p>
          </p:txBody>
        </p:sp>
        <p:sp>
          <p:nvSpPr>
            <p:cNvPr id="21" name="TextBox 21"/>
            <p:cNvSpPr txBox="1"/>
            <p:nvPr/>
          </p:nvSpPr>
          <p:spPr>
            <a:xfrm>
              <a:off x="6316980" y="3381375"/>
              <a:ext cx="2640330"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expand · maintain · reduce</a:t>
              </a:r>
            </a:p>
          </p:txBody>
        </p:sp>
        <p:sp>
          <p:nvSpPr>
            <p:cNvPr id="22" name="Rectangle 22"/>
            <p:cNvSpPr/>
            <p:nvPr/>
          </p:nvSpPr>
          <p:spPr>
            <a:xfrm>
              <a:off x="6324600" y="3848100"/>
              <a:ext cx="5181600" cy="1428750"/>
            </a:xfrm>
            <a:prstGeom prst="rect">
              <a:avLst/>
            </a:prstGeom>
            <a:solidFill>
              <a:schemeClr val="lt2"/>
            </a:solidFill>
            <a:ln>
              <a:noFill/>
            </a:ln>
          </p:spPr>
        </p:sp>
        <p:sp>
          <p:nvSpPr>
            <p:cNvPr id="23" name="TextBox 23"/>
            <p:cNvSpPr txBox="1"/>
            <p:nvPr/>
          </p:nvSpPr>
          <p:spPr>
            <a:xfrm>
              <a:off x="6583680" y="4143375"/>
              <a:ext cx="3749040" cy="864870"/>
            </a:xfrm>
            <a:prstGeom prst="rect">
              <a:avLst/>
            </a:prstGeom>
            <a:noFill/>
            <a:ln>
              <a:noFill/>
            </a:ln>
          </p:spPr>
          <p:txBody>
            <a:bodyPr wrap="none" lIns="0" tIns="0" rIns="0" bIns="0" anchor="t" anchorCtr="0">
              <a:spAutoFit/>
            </a:bodyPr>
            <a:lstStyle/>
            <a:p>
              <a:pPr algn="l">
                <a:lnSpc>
                  <a:spcPts val="2250"/>
                </a:lnSpc>
              </a:pPr>
              <a:r>
                <a:rPr lang="en" sz="1500" dirty="0">
                  <a:solidFill>
                    <a:schemeClr val="accent1"/>
                  </a:solidFill>
                  <a:latin typeface="+mn-lt"/>
                  <a:ea typeface="+mn-ea"/>
                  <a:cs typeface="+mn-cs"/>
                </a:rPr>
                <a:t>"The order book is filling and the policy</a:t>
              </a:r>
              <a:br/>
              <a:r>
                <a:rPr lang="en" sz="1500" dirty="0">
                  <a:solidFill>
                    <a:schemeClr val="accent1"/>
                  </a:solidFill>
                  <a:latin typeface="+mn-lt"/>
                  <a:ea typeface="+mn-ea"/>
                  <a:cs typeface="+mn-cs"/>
                </a:rPr>
                <a:t>window is open: add capacity, and spend</a:t>
              </a:r>
              <a:br/>
              <a:r>
                <a:rPr lang="en" sz="1500" dirty="0">
                  <a:solidFill>
                    <a:schemeClr val="accent1"/>
                  </a:solidFill>
                  <a:latin typeface="+mn-lt"/>
                  <a:ea typeface="+mn-ea"/>
                  <a:cs typeface="+mn-cs"/>
                </a:rPr>
                <a:t>this month's R&amp;D on cost."</a:t>
              </a:r>
            </a:p>
          </p:txBody>
        </p:sp>
      </p:grpSp>
      <p:grpSp>
        <p:nvGrpSpPr>
          <p:cNvPr id="26" name="Group 26"/>
          <p:cNvGrpSpPr/>
          <p:nvPr/>
        </p:nvGrpSpPr>
        <p:grpSpPr>
          <a:xfrm>
            <a:off x="678180" y="5953125"/>
            <a:ext cx="9423204" cy="293370"/>
            <a:chOff x="678180" y="5953125"/>
            <a:chExt cx="9423204" cy="293370"/>
          </a:xfrm>
        </p:grpSpPr>
        <p:sp>
          <p:nvSpPr>
            <p:cNvPr id="25" name="TextBox 25"/>
            <p:cNvSpPr txBox="1"/>
            <p:nvPr/>
          </p:nvSpPr>
          <p:spPr>
            <a:xfrm>
              <a:off x="678180" y="5953125"/>
              <a:ext cx="9423204"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The equation always cost-reduced silently. The AI board has to decide it — and can be outvoted.</a:t>
              </a:r>
            </a:p>
          </p:txBody>
        </p:sp>
      </p:grpSp>
      <p:grpSp>
        <p:nvGrpSpPr>
          <p:cNvPr id="30" name="Group 30"/>
          <p:cNvGrpSpPr/>
          <p:nvPr/>
        </p:nvGrpSpPr>
        <p:grpSpPr>
          <a:xfrm>
            <a:off x="678942" y="6286500"/>
            <a:ext cx="10834116" cy="404051"/>
            <a:chOff x="678942" y="6286500"/>
            <a:chExt cx="10834116" cy="404051"/>
          </a:xfrm>
        </p:grpSpPr>
        <p:sp>
          <p:nvSpPr>
            <p:cNvPr id="27" name="Line 27"/>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8" name="TextBox 28"/>
            <p:cNvSpPr txBox="1"/>
            <p:nvPr/>
          </p:nvSpPr>
          <p:spPr>
            <a:xfrm>
              <a:off x="678942" y="6426518"/>
              <a:ext cx="8925291"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The board's full minutes — every vote, reason and reservation — are written out after each meeting</a:t>
              </a:r>
            </a:p>
          </p:txBody>
        </p:sp>
        <p:sp>
          <p:nvSpPr>
            <p:cNvPr id="29" name="TextBox 29"/>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08 / 10</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1466088"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WHAT IT MEANS</a:t>
              </a:r>
            </a:p>
          </p:txBody>
        </p:sp>
        <p:sp>
          <p:nvSpPr>
            <p:cNvPr id="4" name="TextBox 4"/>
            <p:cNvSpPr txBox="1"/>
            <p:nvPr/>
          </p:nvSpPr>
          <p:spPr>
            <a:xfrm>
              <a:off x="667512" y="963930"/>
              <a:ext cx="6503368"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A better model of people</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1" name="Group 11"/>
          <p:cNvGrpSpPr/>
          <p:nvPr/>
        </p:nvGrpSpPr>
        <p:grpSpPr>
          <a:xfrm>
            <a:off x="675132" y="2116455"/>
            <a:ext cx="3399663" cy="2644140"/>
            <a:chOff x="675132" y="2116455"/>
            <a:chExt cx="3399663" cy="2644140"/>
          </a:xfrm>
        </p:grpSpPr>
        <p:sp>
          <p:nvSpPr>
            <p:cNvPr id="7" name="TextBox 7"/>
            <p:cNvSpPr txBox="1"/>
            <p:nvPr/>
          </p:nvSpPr>
          <p:spPr>
            <a:xfrm>
              <a:off x="675132" y="2116455"/>
              <a:ext cx="1827366" cy="410718"/>
            </a:xfrm>
            <a:prstGeom prst="rect">
              <a:avLst/>
            </a:prstGeom>
            <a:noFill/>
            <a:ln>
              <a:noFill/>
            </a:ln>
          </p:spPr>
          <p:txBody>
            <a:bodyPr wrap="none" lIns="0" tIns="0" rIns="0" bIns="0" anchor="t" anchorCtr="0">
              <a:spAutoFit/>
            </a:bodyPr>
            <a:lstStyle/>
            <a:p>
              <a:pPr algn="l"/>
              <a:r>
                <a:rPr lang="en" sz="2100" b="1" dirty="0">
                  <a:solidFill>
                    <a:schemeClr val="accent2"/>
                  </a:solidFill>
                  <a:latin typeface="+mn-lt"/>
                  <a:ea typeface="+mn-ea"/>
                  <a:cs typeface="+mn-cs"/>
                </a:rPr>
                <a:t>What it buys</a:t>
              </a:r>
            </a:p>
          </p:txBody>
        </p:sp>
        <p:sp>
          <p:nvSpPr>
            <p:cNvPr id="8" name="TextBox 8"/>
            <p:cNvSpPr txBox="1"/>
            <p:nvPr/>
          </p:nvSpPr>
          <p:spPr>
            <a:xfrm>
              <a:off x="678180" y="2695575"/>
              <a:ext cx="291084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reasons a formula cannot hold:</a:t>
              </a:r>
              <a:br/>
              <a:r>
                <a:rPr lang="en" sz="1500" dirty="0">
                  <a:solidFill>
                    <a:schemeClr val="dk1"/>
                  </a:solidFill>
                  <a:latin typeface="+mn-lt"/>
                  <a:ea typeface="+mn-ea"/>
                  <a:cs typeface="+mn-cs"/>
                </a:rPr>
                <a:t>peers, emotion, expectations</a:t>
              </a:r>
            </a:p>
          </p:txBody>
        </p:sp>
        <p:sp>
          <p:nvSpPr>
            <p:cNvPr id="9" name="TextBox 9"/>
            <p:cNvSpPr txBox="1"/>
            <p:nvPr/>
          </p:nvSpPr>
          <p:spPr>
            <a:xfrm>
              <a:off x="678180" y="3457575"/>
              <a:ext cx="3263265"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disagreement inside the firm, with</a:t>
              </a:r>
              <a:br/>
              <a:r>
                <a:rPr lang="en" sz="1500" dirty="0">
                  <a:solidFill>
                    <a:schemeClr val="dk1"/>
                  </a:solidFill>
                  <a:latin typeface="+mn-lt"/>
                  <a:ea typeface="+mn-ea"/>
                  <a:cs typeface="+mn-cs"/>
                </a:rPr>
                <a:t>minutes you can actually read</a:t>
              </a:r>
            </a:p>
          </p:txBody>
        </p:sp>
        <p:sp>
          <p:nvSpPr>
            <p:cNvPr id="10" name="TextBox 10"/>
            <p:cNvSpPr txBox="1"/>
            <p:nvPr/>
          </p:nvSpPr>
          <p:spPr>
            <a:xfrm>
              <a:off x="678180" y="4219575"/>
              <a:ext cx="3396615"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 clean seam — the decision changes,</a:t>
              </a:r>
              <a:br/>
              <a:r>
                <a:rPr lang="en" sz="1500" dirty="0">
                  <a:solidFill>
                    <a:schemeClr val="dk1"/>
                  </a:solidFill>
                  <a:latin typeface="+mn-lt"/>
                  <a:ea typeface="+mn-ea"/>
                  <a:cs typeface="+mn-cs"/>
                </a:rPr>
                <a:t>the accounting does not</a:t>
              </a:r>
            </a:p>
          </p:txBody>
        </p:sp>
      </p:grpSp>
      <p:grpSp>
        <p:nvGrpSpPr>
          <p:cNvPr id="16" name="Group 16"/>
          <p:cNvGrpSpPr/>
          <p:nvPr/>
        </p:nvGrpSpPr>
        <p:grpSpPr>
          <a:xfrm>
            <a:off x="6313932" y="2116455"/>
            <a:ext cx="3237738" cy="2644140"/>
            <a:chOff x="6313932" y="2116455"/>
            <a:chExt cx="3237738" cy="2644140"/>
          </a:xfrm>
        </p:grpSpPr>
        <p:sp>
          <p:nvSpPr>
            <p:cNvPr id="12" name="TextBox 12"/>
            <p:cNvSpPr txBox="1"/>
            <p:nvPr/>
          </p:nvSpPr>
          <p:spPr>
            <a:xfrm>
              <a:off x="6313932" y="2116455"/>
              <a:ext cx="2406373" cy="410718"/>
            </a:xfrm>
            <a:prstGeom prst="rect">
              <a:avLst/>
            </a:prstGeom>
            <a:noFill/>
            <a:ln>
              <a:noFill/>
            </a:ln>
          </p:spPr>
          <p:txBody>
            <a:bodyPr wrap="none" lIns="0" tIns="0" rIns="0" bIns="0" anchor="t" anchorCtr="0">
              <a:spAutoFit/>
            </a:bodyPr>
            <a:lstStyle/>
            <a:p>
              <a:pPr algn="l"/>
              <a:r>
                <a:rPr lang="en" sz="2100" b="1" dirty="0">
                  <a:solidFill>
                    <a:schemeClr val="accent3"/>
                  </a:solidFill>
                  <a:latin typeface="+mn-lt"/>
                  <a:ea typeface="+mn-ea"/>
                  <a:cs typeface="+mn-cs"/>
                </a:rPr>
                <a:t>What it does not</a:t>
              </a:r>
            </a:p>
          </p:txBody>
        </p:sp>
        <p:sp>
          <p:nvSpPr>
            <p:cNvPr id="13" name="TextBox 13"/>
            <p:cNvSpPr txBox="1"/>
            <p:nvPr/>
          </p:nvSpPr>
          <p:spPr>
            <a:xfrm>
              <a:off x="6316980" y="2695575"/>
              <a:ext cx="28155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the full 26-year AI run is not</a:t>
              </a:r>
              <a:br/>
              <a:r>
                <a:rPr lang="en" sz="1500" dirty="0">
                  <a:solidFill>
                    <a:schemeClr val="dk1"/>
                  </a:solidFill>
                  <a:latin typeface="+mn-lt"/>
                  <a:ea typeface="+mn-ea"/>
                  <a:cs typeface="+mn-cs"/>
                </a:rPr>
                <a:t>finished, so no accuracy claim</a:t>
              </a:r>
            </a:p>
          </p:txBody>
        </p:sp>
        <p:sp>
          <p:nvSpPr>
            <p:cNvPr id="14" name="TextBox 14"/>
            <p:cNvSpPr txBox="1"/>
            <p:nvPr/>
          </p:nvSpPr>
          <p:spPr>
            <a:xfrm>
              <a:off x="6316980" y="3457575"/>
              <a:ext cx="32346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LLM decisions are not reproducible</a:t>
              </a:r>
              <a:br/>
              <a:r>
                <a:rPr lang="en" sz="1500" dirty="0">
                  <a:solidFill>
                    <a:schemeClr val="dk1"/>
                  </a:solidFill>
                  <a:latin typeface="+mn-lt"/>
                  <a:ea typeface="+mn-ea"/>
                  <a:cs typeface="+mn-cs"/>
                </a:rPr>
                <a:t>run to run, and they cost money</a:t>
              </a:r>
            </a:p>
          </p:txBody>
        </p:sp>
        <p:sp>
          <p:nvSpPr>
            <p:cNvPr id="15" name="TextBox 15"/>
            <p:cNvSpPr txBox="1"/>
            <p:nvPr/>
          </p:nvSpPr>
          <p:spPr>
            <a:xfrm>
              <a:off x="6316980" y="4219575"/>
              <a:ext cx="27393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 more realistic story is not</a:t>
              </a:r>
              <a:br/>
              <a:r>
                <a:rPr lang="en" sz="1500" dirty="0">
                  <a:solidFill>
                    <a:schemeClr val="dk1"/>
                  </a:solidFill>
                  <a:latin typeface="+mn-lt"/>
                  <a:ea typeface="+mn-ea"/>
                  <a:cs typeface="+mn-cs"/>
                </a:rPr>
                <a:t>automatically a truer number</a:t>
              </a:r>
            </a:p>
          </p:txBody>
        </p:sp>
      </p:grpSp>
      <p:grpSp>
        <p:nvGrpSpPr>
          <p:cNvPr id="18" name="Group 18"/>
          <p:cNvGrpSpPr/>
          <p:nvPr/>
        </p:nvGrpSpPr>
        <p:grpSpPr>
          <a:xfrm>
            <a:off x="678180" y="5953125"/>
            <a:ext cx="7678570" cy="293370"/>
            <a:chOff x="678180" y="5953125"/>
            <a:chExt cx="7678570" cy="293370"/>
          </a:xfrm>
        </p:grpSpPr>
        <p:sp>
          <p:nvSpPr>
            <p:cNvPr id="17" name="TextBox 17"/>
            <p:cNvSpPr txBox="1"/>
            <p:nvPr/>
          </p:nvSpPr>
          <p:spPr>
            <a:xfrm>
              <a:off x="678180" y="5953125"/>
              <a:ext cx="7678570"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Every AI decision is schema-checked and falls back to the equation on failure.</a:t>
              </a:r>
            </a:p>
          </p:txBody>
        </p:sp>
      </p:grpSp>
      <p:grpSp>
        <p:nvGrpSpPr>
          <p:cNvPr id="22" name="Group 22"/>
          <p:cNvGrpSpPr/>
          <p:nvPr/>
        </p:nvGrpSpPr>
        <p:grpSpPr>
          <a:xfrm>
            <a:off x="678942" y="6286500"/>
            <a:ext cx="10834116" cy="404051"/>
            <a:chOff x="678942" y="6286500"/>
            <a:chExt cx="10834116" cy="404051"/>
          </a:xfrm>
        </p:grpSpPr>
        <p:sp>
          <p:nvSpPr>
            <p:cNvPr id="19" name="Line 1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0" name="TextBox 20"/>
            <p:cNvSpPr txBox="1"/>
            <p:nvPr/>
          </p:nvSpPr>
          <p:spPr>
            <a:xfrm>
              <a:off x="678942" y="6426518"/>
              <a:ext cx="5071841"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The point is behavioural realism, not prediction accuracy</a:t>
              </a:r>
            </a:p>
          </p:txBody>
        </p:sp>
        <p:sp>
          <p:nvSpPr>
            <p:cNvPr id="21" name="TextBox 21"/>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09 / 10</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67512" y="1866900"/>
            <a:ext cx="9610154" cy="2603373"/>
            <a:chOff x="667512" y="1866900"/>
            <a:chExt cx="9610154" cy="2603373"/>
          </a:xfrm>
        </p:grpSpPr>
        <p:sp>
          <p:nvSpPr>
            <p:cNvPr id="2" name="Rectangle 2"/>
            <p:cNvSpPr/>
            <p:nvPr/>
          </p:nvSpPr>
          <p:spPr>
            <a:xfrm>
              <a:off x="685800" y="1866900"/>
              <a:ext cx="533400" cy="38100"/>
            </a:xfrm>
            <a:prstGeom prst="rect">
              <a:avLst/>
            </a:prstGeom>
            <a:solidFill>
              <a:schemeClr val="accent2"/>
            </a:solidFill>
            <a:ln>
              <a:noFill/>
            </a:ln>
          </p:spPr>
        </p:sp>
        <p:sp>
          <p:nvSpPr>
            <p:cNvPr id="3" name="TextBox 3"/>
            <p:cNvSpPr txBox="1"/>
            <p:nvPr/>
          </p:nvSpPr>
          <p:spPr>
            <a:xfrm>
              <a:off x="667512" y="2468880"/>
              <a:ext cx="4693158" cy="1275588"/>
            </a:xfrm>
            <a:prstGeom prst="rect">
              <a:avLst/>
            </a:prstGeom>
            <a:noFill/>
            <a:ln>
              <a:noFill/>
            </a:ln>
          </p:spPr>
          <p:txBody>
            <a:bodyPr wrap="none" lIns="0" tIns="0" rIns="0" bIns="0" anchor="t" anchorCtr="0">
              <a:spAutoFit/>
            </a:bodyPr>
            <a:lstStyle/>
            <a:p>
              <a:pPr algn="l">
                <a:lnSpc>
                  <a:spcPts val="4500"/>
                </a:lnSpc>
              </a:pPr>
              <a:r>
                <a:rPr lang="en" sz="3600" b="1" dirty="0">
                  <a:solidFill>
                    <a:schemeClr val="accent1"/>
                  </a:solidFill>
                  <a:latin typeface="+mj-lt"/>
                  <a:ea typeface="+mj-ea"/>
                  <a:cs typeface="+mj-cs"/>
                </a:rPr>
                <a:t>The equations stay.</a:t>
              </a:r>
              <a:br/>
              <a:r>
                <a:rPr lang="en" sz="3600" b="1" dirty="0">
                  <a:solidFill>
                    <a:schemeClr val="accent1"/>
                  </a:solidFill>
                  <a:latin typeface="+mj-lt"/>
                  <a:ea typeface="+mj-ea"/>
                  <a:cs typeface="+mj-cs"/>
                </a:rPr>
                <a:t>The AI only decides.</a:t>
              </a:r>
            </a:p>
          </p:txBody>
        </p:sp>
        <p:sp>
          <p:nvSpPr>
            <p:cNvPr id="4" name="TextBox 4"/>
            <p:cNvSpPr txBox="1"/>
            <p:nvPr/>
          </p:nvSpPr>
          <p:spPr>
            <a:xfrm>
              <a:off x="675132" y="4059555"/>
              <a:ext cx="9602534" cy="410718"/>
            </a:xfrm>
            <a:prstGeom prst="rect">
              <a:avLst/>
            </a:prstGeom>
            <a:noFill/>
            <a:ln>
              <a:noFill/>
            </a:ln>
          </p:spPr>
          <p:txBody>
            <a:bodyPr wrap="none" lIns="0" tIns="0" rIns="0" bIns="0" anchor="t" anchorCtr="0">
              <a:spAutoFit/>
            </a:bodyPr>
            <a:lstStyle/>
            <a:p>
              <a:pPr algn="l"/>
              <a:r>
                <a:rPr lang="en" sz="2100" dirty="0">
                  <a:solidFill>
                    <a:schemeClr val="dk1"/>
                  </a:solidFill>
                  <a:latin typeface="+mn-lt"/>
                  <a:ea typeface="+mn-ea"/>
                  <a:cs typeface="+mn-cs"/>
                </a:rPr>
                <a:t>Agents gave the model its mechanism. The AI gave the agents a voice.</a:t>
              </a:r>
            </a:p>
          </p:txBody>
        </p:sp>
      </p:grpSp>
      <p:grpSp>
        <p:nvGrpSpPr>
          <p:cNvPr id="10" name="Group 10"/>
          <p:cNvGrpSpPr/>
          <p:nvPr/>
        </p:nvGrpSpPr>
        <p:grpSpPr>
          <a:xfrm>
            <a:off x="678180" y="5029200"/>
            <a:ext cx="10828020" cy="1064895"/>
            <a:chOff x="678180" y="5029200"/>
            <a:chExt cx="10828020" cy="1064895"/>
          </a:xfrm>
        </p:grpSpPr>
        <p:sp>
          <p:nvSpPr>
            <p:cNvPr id="6" name="Rectangle 6"/>
            <p:cNvSpPr/>
            <p:nvPr/>
          </p:nvSpPr>
          <p:spPr>
            <a:xfrm>
              <a:off x="685800" y="5029200"/>
              <a:ext cx="10820400" cy="76200"/>
            </a:xfrm>
            <a:prstGeom prst="rect">
              <a:avLst/>
            </a:prstGeom>
            <a:solidFill>
              <a:schemeClr val="accent3"/>
            </a:solidFill>
            <a:ln>
              <a:noFill/>
            </a:ln>
          </p:spPr>
        </p:sp>
        <p:sp>
          <p:nvSpPr>
            <p:cNvPr id="7" name="TextBox 7"/>
            <p:cNvSpPr txBox="1"/>
            <p:nvPr/>
          </p:nvSpPr>
          <p:spPr>
            <a:xfrm>
              <a:off x="678180" y="5229225"/>
              <a:ext cx="6637437"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EQUATIONS · THE WORLD — prices, costs, orders, the monthly loop</a:t>
              </a:r>
            </a:p>
          </p:txBody>
        </p:sp>
        <p:sp>
          <p:nvSpPr>
            <p:cNvPr id="8" name="Rectangle 8"/>
            <p:cNvSpPr/>
            <p:nvPr/>
          </p:nvSpPr>
          <p:spPr>
            <a:xfrm>
              <a:off x="685800" y="5600700"/>
              <a:ext cx="10820400" cy="76200"/>
            </a:xfrm>
            <a:prstGeom prst="rect">
              <a:avLst/>
            </a:prstGeom>
            <a:solidFill>
              <a:schemeClr val="accent2"/>
            </a:solidFill>
            <a:ln>
              <a:noFill/>
            </a:ln>
          </p:spPr>
        </p:sp>
        <p:sp>
          <p:nvSpPr>
            <p:cNvPr id="9" name="TextBox 9"/>
            <p:cNvSpPr txBox="1"/>
            <p:nvPr/>
          </p:nvSpPr>
          <p:spPr>
            <a:xfrm>
              <a:off x="678180" y="5800725"/>
              <a:ext cx="6645402"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THE AI · THE CHOICE — buy or not, expand or not, which R&amp;D to fund</a:t>
              </a:r>
            </a:p>
          </p:txBody>
        </p:sp>
      </p:grpSp>
      <p:grpSp>
        <p:nvGrpSpPr>
          <p:cNvPr id="14" name="Group 14"/>
          <p:cNvGrpSpPr/>
          <p:nvPr/>
        </p:nvGrpSpPr>
        <p:grpSpPr>
          <a:xfrm>
            <a:off x="678942" y="6286500"/>
            <a:ext cx="10834116" cy="404051"/>
            <a:chOff x="678942" y="6286500"/>
            <a:chExt cx="10834116" cy="404051"/>
          </a:xfrm>
        </p:grpSpPr>
        <p:sp>
          <p:nvSpPr>
            <p:cNvPr id="11" name="Line 11"/>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12" name="TextBox 12"/>
            <p:cNvSpPr txBox="1"/>
            <p:nvPr/>
          </p:nvSpPr>
          <p:spPr>
            <a:xfrm>
              <a:off x="678942" y="6426518"/>
              <a:ext cx="9145570"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Case built on Nuñez-Jimenez et al. (2022), Research Policy — Germany's solar PV policy mix, 1991–2016</a:t>
              </a:r>
            </a:p>
          </p:txBody>
        </p:sp>
        <p:sp>
          <p:nvSpPr>
            <p:cNvPr id="13" name="TextBox 13"/>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10 / 10</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agent_explainer">
  <a:themeElements>
    <a:clrScheme name="agent_explainer">
      <a:dk1>
        <a:srgbClr val="2A2F3A"/>
      </a:dk1>
      <a:lt1>
        <a:srgbClr val="FFFFFF"/>
      </a:lt1>
      <a:dk2>
        <a:srgbClr val="1F497D"/>
      </a:dk2>
      <a:lt2>
        <a:srgbClr val="F1F3F6"/>
      </a:lt2>
      <a:accent1>
        <a:srgbClr val="101828"/>
      </a:accent1>
      <a:accent2>
        <a:srgbClr val="2B5CE6"/>
      </a:accent2>
      <a:accent3>
        <a:srgbClr val="E4572E"/>
      </a:accent3>
      <a:accent4>
        <a:srgbClr val="101828"/>
      </a:accent4>
      <a:accent5>
        <a:srgbClr val="F8FAFC"/>
      </a:accent5>
      <a:accent6>
        <a:srgbClr val="D7DCE5"/>
      </a:accent6>
      <a:hlink>
        <a:srgbClr val="2B5CE6"/>
      </a:hlink>
      <a:folHlink>
        <a:srgbClr val="E4572E"/>
      </a:folHlink>
    </a:clrScheme>
    <a:fontScheme name="agent_explainer">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gent_explain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agent_explainer">
  <a:themeElements>
    <a:clrScheme name="agent_explainer">
      <a:dk1>
        <a:srgbClr val="2A2F3A"/>
      </a:dk1>
      <a:lt1>
        <a:srgbClr val="FFFFFF"/>
      </a:lt1>
      <a:dk2>
        <a:srgbClr val="1F497D"/>
      </a:dk2>
      <a:lt2>
        <a:srgbClr val="F1F3F6"/>
      </a:lt2>
      <a:accent1>
        <a:srgbClr val="101828"/>
      </a:accent1>
      <a:accent2>
        <a:srgbClr val="2B5CE6"/>
      </a:accent2>
      <a:accent3>
        <a:srgbClr val="E4572E"/>
      </a:accent3>
      <a:accent4>
        <a:srgbClr val="101828"/>
      </a:accent4>
      <a:accent5>
        <a:srgbClr val="F8FAFC"/>
      </a:accent5>
      <a:accent6>
        <a:srgbClr val="D7DCE5"/>
      </a:accent6>
      <a:hlink>
        <a:srgbClr val="2B5CE6"/>
      </a:hlink>
      <a:folHlink>
        <a:srgbClr val="E4572E"/>
      </a:folHlink>
    </a:clrScheme>
    <a:fontScheme name="agent_explainer">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gent_explain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2026-10-10T05:31:34Z</dcterms:created>
  <dcterms:modified xsi:type="dcterms:W3CDTF">2026-10-10T05:31:34Z</dcterms:modified>
  <cp:category/>
  <cp:contentStatus/>
</cp:coreProperties>
</file>