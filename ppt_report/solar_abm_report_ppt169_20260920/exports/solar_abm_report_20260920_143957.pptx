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png" ContentType="image/pn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  <Relationship Id="rId21"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zh-CN"/>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zh-CN"/>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zh-CN"/>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zh-CN"/>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zh-CN"/>
          </a:p>
        </p:txBody>
      </p:sp>
    </p:spTree>
  </p:cSld>
  <p:clrMap bg1="lt1" tx1="dk1" bg2="lt2" tx2="dk2" accent1="accent1" accent2="accent2" accent3="accent3" accent4="accent4" accent5="accent5" accent6="accent6" hlink="hlink" folHlink="folHlink"/>
  <p:hf/>
  <p:notesStyle>
    <a:lvl1pPr marL="0" algn="l">
      <a:defRPr sz="1200" lang="zh-CN"/>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这次汇报的主题是把一篇关于德国光伏政策组合的论文用代码复现出来，并在此基础上让大语言模型参与主体决策。项目有两条并列的主线：模型复现完成度大约九成五，LLM 增强大约七成五。封面右侧这三个数字是今天最希望大家记住的：五百个采用者样本里有五十个最终安装，累计装机零点六兆瓦，国内组件成本二十六年下降了百分之八十五点九。最后一个数字留个伏笔——真实采用率大约是百分之七，我们跑出来是百分之十，这个偏差后面会专门讲。</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接下来的内容分五段。第一段讲这个系统是什么、由哪些角色组成、每个月按什么顺序运转；第二段拆开复现部分最关键的三套机制：两阶段采用决策、双因子经验曲线，以及安装商与劳动力市场。第三段说明 LLM 具体接在哪里、有哪些能力、失败时怎么办。第四段看运行结果，也就是那张四联图和我们关心的关键数字。最后一段是最重要的部分：两处已经定位但还没有修的偏差、当前完成度，以及我建议的下一步优先级。整份材料每页都能独立阅读，会后可以当存档用。</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论文问的是一个很具体的问题：技术推动，也就是政府研发投入，和需求拉动，也就是上网电价补贴，这两类政策如何共同塑造德国光伏从一九九一年到二零一六年的扩散轨迹。我们的工作分两层。第一层是复现：把论文补充材料里的多主体模型完整重建，包括三类主体和一个宏观观察者，时间跨度三百一十二个月，所有关键参数都按补充材料的参数表逐项对齐。第二层是增量：让制造商与采用者的决策改由大语言模型完成，带上对话记忆、工具调用和结构化校验，一旦失败就自动回退到公式，保证仿真不会中断。这两条线的完成度分别是九成五和七成五。</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整个系统有四类角色。最上面是宏观环境，它每个月提供五组外生信号：电价、上网电价补贴、媒体关注度、研发强度，以及全球累计装机。下面三类是主体。采用者共五百个，按真实人口千分之一缩比，其中住宅占百分之八十一，工商业占百分之十八点五，电站占百分之零点五。安装商和制造商各有国内与国外两个。采用者产生的新需求先进入安装队列，安装商按产能消化订单并把成本与价格反馈回去，制造商在当月销量结算之后更新成本。此外，国内与国外制造商之间会按知识差距比例互相溢出学习，而采用决策和实际安装之间隔着队列，因此存在时滞。</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每个 tick 等于一个月，五个步骤的顺序是固定的，不能颠倒。第一步更新宏观变量，读取当月的外部信号。第二步采用者决策：没有安装的主体评估本月是否安装，产生的新需求进入待安装队列。第三步安装商响应，按产能消化订单，同时调整用工和非组件成本报价。第四步制造商更新：结算累计产量、更新知识存量，并按经验曲线调整成本。第五步记录装机量、就业与价格，时钟推进到下个月。从一九九一年到二零一六年，一共是三百一十二个 tick，这套顺序对应论文补充材料的第一点一点五节。</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采用不是一个公式算出来的，而是两阶段。阶段一叫萌生念头：主体把四个变量加权求和，超过零点五才会进入下一步。这四个变量是邻居已装比例、当月信息量、环境意识和代表家庭的内部收益率，权重分别是零点一九、零点一七、零点五二和零点一二，其中环境意识权重最高。阶段二才做经济评估。环境意识高于零点九二并且是住宅用户的主体属于早期采用者，直接安装，跳过经济账。其余主体分别计算国内和国外组件的净现值，只有在最大值非负时才安装，平局时偏好国内。国外组件还额外承受百分之一点一的折现溢价。</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组件成本的下降由两个独立驱动共同决定，这是论文里很重要的一点。干中学指累计产量越高、成本越低；研究中学指知识存量越多、成本越低，知识存量按永续盘存的方式更新，每月折旧约零点八七四，相当于每年百分之十。参数全部对齐论文的参数表：截距在国内、国外和非组件分别是二点八八二、二点四四八和三点三五四；干中学斜率国内是负零点零七四，国外是负零点四四八，也就是说国外更依赖规模；研究中学斜率国内是负零点八一四，国外是负零点零七四，也就是国内更依赖研发。这组不对称的参数，正是后面两条成本曲线分岔的原因。</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安装商在模型里不只是执行末端，它同时是缓冲器和降温阀。采用决策先进入待安装队列，再由安装商按产能逐月消化，所以决定安装和实际安装之间存在时滞。如果积压超过阈值就招人，低于阈值就裁员，并且有就业下限。人手不足时，安装商会提高非组件成本报价，成本上升又会拖慢安装速度，于是形成一个自我降温的负反馈回路。非组件成本本身走单因子经验曲线，斜率是负零点一五五，对应百分之十点二的学习率。这三条机制共同让市场不会无限过热。</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LLM 只接管两类主体的决策。制造商每个月决策一次，两个厂商各一次，输出产能动作、变动幅度和研发方向，结果必须通过数据校验才会执行。采用者则是每个月从未决策的人群里随机抽取百分之五，判断本月是否安装，并给出置信度和主因。它们共享同一套能力：滚动六轮对话记忆，可以调用工具查询市场行情、邻居采用率、静态回收期和自身产能库存，并发发起请求，最多进行三轮工具循环。最关键的是回退链：网络错误、返回内容不是合法 JSON、或者校验不通过，制造商会退回经验曲线公式，采用者会退回两阶段公式，仿真不会中断。模型提供方用的是 DeepSeek 的兼容端点。</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这张四联图是公式模式三百一十二个 tick、随机种子四十二、合成数据下的结果。左上角累计装机呈 S 形：二零零零年之前几乎贴地，二零零四到二零零八年最陡，之后走平，终点是零点六兆瓦。右上角是组件成本，国内下降百分之八十五点九，国外下降百分之九十六点六，二零零零年之后两条线迅速拉开。左下角累计采用者同样呈 S 形，最终是五十比五百。右下角是政策信号：上网电价补贴二零零零年上线，二零零四到二零零八年达到高峰，此后持续退坡。把四张图连起来看，结论很清楚：采纳是被政策点燃的，不是自发的——一九九一到一九九九年完全没有补贴，只有六户环境意识极高的住宅用户安装。</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把可以核对的数字集中放出来。累计采用五十户，也就是百分之十；累计装机零点六兆瓦；国内组件成本下降百分之八十五点九；单元测试九十三个全部通过。下面的年度检查点可以逐点核对：一九九一年六户，二零零零年八户，二零零四年二十二户，二零零八年五十户，之后到二零一六年保持在五十户，说明二零零八年以后模型里不再有新增。右下角这条曲线就是这条轨迹的可视化。需要提醒的是，真实德国住宅光伏采用率大约是百分之七，我们跑出来百分之十，偏差大约三个百分点，原因在下一页。另外，公式模式跑完整个周期只需要十二到十五秒，LLM 模式则受接口速率限制，需要节流。</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现在讲两处偏差，它们是已知而且已经定位的，不是没发现的问题。第一处是采用率偏高：模型给出百分之十，真实大约百分之七。根因是邻居半径用了十公里，而论文是一公里。这么改是为了补偿五百个主体的缩比——如果按一公里算，平均只有零点一六个邻居，社会影响根本启动不起来。修法是接入空间索引、把主体扩到两万，再改回一公里并重新标定。第二处是国外成本塌缩：模型给出零点零八四欧元每瓦，真实大约零点三。根因是学习驱动量用了全球累计装机，而不是论文要求的本区域累计产量，同时合成数据里的全球装机量级膨胀了大约十倍，再被国外陡峭的干中学斜率放大。修法是修正全球装机量级，并为国外厂商引入外生的区域产量序列。还要说明一点：如果字面上改回自产累计产量，结果会反向失真，国外变成二点二四、国内变成零点七六一，这个取舍记录在测试记录第十三轮。</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当前的状态可以这样概括：复现这条主线已经可以依赖，LLM 这条主线可用，但覆盖范围仍然有限。复现部分完成度大约九成五，主体定义、五步调度、两阶段采用、经验曲线、劳动力市场、宏观与历史数据、以及分析可视化全部落地。LLM 部分大约七成五，接线、工具调用、对话记忆、并发、校验和确定性回退都已经工作。验证方面，三百一十二个 tick 的公式模式完整跑通，九十三个单元测试全部通过，耗时不到一秒；DeepSeek 的三项能力也都实测过；之前那个导致全部静默回退的缺陷已经修复，冒烟测试确认零回退。最后提两条代码债：配置中心还没有接入主流程，参数仍硬编码在模型文件里；另有一个早期的单阶段版本模块，现在只有测试还在引用。</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下一步有三个候选，我建议先做 A，也就是模型校准。具体是修正全球装机量级和国外学习驱动量，逐图逐表对比论文输出，把采用率拉回到百分之七左右；它的代价最低，却直接决定现有结论是否可信。B 是扩大主体规模，为邻居计算接入空间索引，把主体从五百扩到两万，半径改回一公里，代价中等，好处是消除缩比带来的假象，但需要重新标定。C 是接入成熟的多智能体框架，做多步推理和更复杂的角色协作，代价最高，收益偏探索性。所以建议的顺序是 A、B、C：先让数字可信，再让规模可信，最后才谈能力上限。今天最想和大家达成一致的，就是这个优先级。</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solar_abm_report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solar_abm_report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1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8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7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6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45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35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2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1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9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700" kern="1200">
          <a:solidFill>
            <a:schemeClr val="tx1"/>
          </a:solidFill>
          <a:latin typeface="+mn-lt"/>
          <a:ea typeface="+mn-ea"/>
          <a:cs typeface="+mn-cs"/>
        </a:defRPr>
      </a:lvl2pPr>
      <a:lvl3pPr marL="914400" algn="l" defTabSz="457200" rtl="0" eaLnBrk="1" latinLnBrk="0" hangingPunct="1">
        <a:defRPr sz="1600" kern="1200">
          <a:solidFill>
            <a:schemeClr val="tx1"/>
          </a:solidFill>
          <a:latin typeface="+mn-lt"/>
          <a:ea typeface="+mn-ea"/>
          <a:cs typeface="+mn-cs"/>
        </a:defRPr>
      </a:lvl3pPr>
      <a:lvl4pPr marL="1371600" algn="l" defTabSz="457200" rtl="0" eaLnBrk="1" latinLnBrk="0" hangingPunct="1">
        <a:defRPr sz="1450" kern="1200">
          <a:solidFill>
            <a:schemeClr val="tx1"/>
          </a:solidFill>
          <a:latin typeface="+mn-lt"/>
          <a:ea typeface="+mn-ea"/>
          <a:cs typeface="+mn-cs"/>
        </a:defRPr>
      </a:lvl4pPr>
      <a:lvl5pPr marL="1828800" algn="l" defTabSz="457200" rtl="0" eaLnBrk="1" latinLnBrk="0" hangingPunct="1">
        <a:defRPr sz="1350" kern="1200">
          <a:solidFill>
            <a:schemeClr val="tx1"/>
          </a:solidFill>
          <a:latin typeface="+mn-lt"/>
          <a:ea typeface="+mn-ea"/>
          <a:cs typeface="+mn-cs"/>
        </a:defRPr>
      </a:lvl5pPr>
      <a:lvl6pPr marL="2286000" algn="l" defTabSz="457200" rtl="0" eaLnBrk="1" latinLnBrk="0" hangingPunct="1">
        <a:defRPr sz="1250" kern="1200">
          <a:solidFill>
            <a:schemeClr val="tx1"/>
          </a:solidFill>
          <a:latin typeface="+mn-lt"/>
          <a:ea typeface="+mn-ea"/>
          <a:cs typeface="+mn-cs"/>
        </a:defRPr>
      </a:lvl6pPr>
      <a:lvl7pPr marL="2743200" algn="l" defTabSz="457200" rtl="0" eaLnBrk="1" latinLnBrk="0" hangingPunct="1">
        <a:defRPr sz="1100" kern="1200">
          <a:solidFill>
            <a:schemeClr val="tx1"/>
          </a:solidFill>
          <a:latin typeface="+mn-lt"/>
          <a:ea typeface="+mn-ea"/>
          <a:cs typeface="+mn-cs"/>
        </a:defRPr>
      </a:lvl7pPr>
      <a:lvl8pPr marL="3200400" algn="l" defTabSz="457200" rtl="0" eaLnBrk="1" latinLnBrk="0" hangingPunct="1">
        <a:defRPr sz="1000" kern="1200">
          <a:solidFill>
            <a:schemeClr val="tx1"/>
          </a:solidFill>
          <a:latin typeface="+mn-lt"/>
          <a:ea typeface="+mn-ea"/>
          <a:cs typeface="+mn-cs"/>
        </a:defRPr>
      </a:lvl8pPr>
      <a:lvl9pPr marL="3657600" algn="l" defTabSz="457200" rtl="0" eaLnBrk="1" latinLnBrk="0" hangingPunct="1">
        <a:defRPr sz="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e83c602104f667cf.png"/>
  <Relationship Id="rId3"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669036" y="1123950"/>
            <a:ext cx="5073396" cy="3925062"/>
            <a:chOff x="669036" y="1123950"/>
            <a:chExt cx="5073396" cy="3925062"/>
          </a:xfrm>
        </p:grpSpPr>
        <p:sp>
          <p:nvSpPr>
            <p:cNvPr id="2" name="Rectangle 2"/>
            <p:cNvSpPr/>
            <p:nvPr/>
          </p:nvSpPr>
          <p:spPr>
            <a:xfrm>
              <a:off x="685800" y="1123950"/>
              <a:ext cx="533400" cy="38100"/>
            </a:xfrm>
            <a:prstGeom prst="rect">
              <a:avLst/>
            </a:prstGeom>
            <a:solidFill>
              <a:schemeClr val="accent2"/>
            </a:solidFill>
            <a:ln>
              <a:noFill/>
            </a:ln>
          </p:spPr>
        </p:sp>
        <p:sp>
          <p:nvSpPr>
            <p:cNvPr id="3" name="TextBox 3"/>
            <p:cNvSpPr txBox="1"/>
            <p:nvPr/>
          </p:nvSpPr>
          <p:spPr>
            <a:xfrm>
              <a:off x="678942" y="1416368"/>
              <a:ext cx="1976476" cy="264033"/>
            </a:xfrm>
            <a:prstGeom prst="rect">
              <a:avLst/>
            </a:prstGeom>
            <a:noFill/>
            <a:ln>
              <a:noFill/>
            </a:ln>
          </p:spPr>
          <p:txBody>
            <a:bodyPr wrap="none" lIns="0" tIns="0" rIns="0" bIns="0" anchor="t" anchorCtr="0">
              <a:spAutoFit/>
            </a:bodyPr>
            <a:lstStyle/>
            <a:p>
              <a:pPr algn="l"/>
              <a:r>
                <a:rPr lang="zh-CN" sz="1350" dirty="0">
                  <a:solidFill>
                    <a:schemeClr val="accent1">
                      <a:alphaMod val="78000"/>
                    </a:schemeClr>
                  </a:solidFill>
                  <a:latin typeface="+mn-lt"/>
                  <a:ea typeface="+mn-ea"/>
                  <a:cs typeface="+mn-cs"/>
                </a:rPr>
                <a:t>进度汇报 · 2026 年 9 月</a:t>
              </a:r>
            </a:p>
          </p:txBody>
        </p:sp>
        <p:sp>
          <p:nvSpPr>
            <p:cNvPr id="4" name="TextBox 4"/>
            <p:cNvSpPr txBox="1"/>
            <p:nvPr/>
          </p:nvSpPr>
          <p:spPr>
            <a:xfrm>
              <a:off x="669036" y="2082165"/>
              <a:ext cx="4500086" cy="1235964"/>
            </a:xfrm>
            <a:prstGeom prst="rect">
              <a:avLst/>
            </a:prstGeom>
            <a:noFill/>
            <a:ln>
              <a:noFill/>
            </a:ln>
          </p:spPr>
          <p:txBody>
            <a:bodyPr wrap="none" lIns="0" tIns="0" rIns="0" bIns="0" anchor="t" anchorCtr="0">
              <a:spAutoFit/>
            </a:bodyPr>
            <a:lstStyle/>
            <a:p>
              <a:pPr algn="l">
                <a:lnSpc>
                  <a:spcPts val="4650"/>
                </a:lnSpc>
              </a:pPr>
              <a:r>
                <a:rPr lang="zh-CN" sz="3300" b="1" dirty="0">
                  <a:solidFill>
                    <a:schemeClr val="accent1"/>
                  </a:solidFill>
                  <a:latin typeface="+mn-lt"/>
                  <a:ea typeface="+mn-ea"/>
                  <a:cs typeface="+mn-cs"/>
                </a:rPr>
                <a:t>德国光伏政策组合 ABM</a:t>
              </a:r>
              <a:br/>
              <a:r>
                <a:rPr lang="zh-CN" sz="3300" b="1" dirty="0">
                  <a:solidFill>
                    <a:schemeClr val="accent2"/>
                  </a:solidFill>
                  <a:latin typeface="+mn-lt"/>
                  <a:ea typeface="+mn-ea"/>
                  <a:cs typeface="+mn-cs"/>
                </a:rPr>
                <a:t>复现与 LLM 增强</a:t>
              </a:r>
            </a:p>
          </p:txBody>
        </p:sp>
        <p:sp>
          <p:nvSpPr>
            <p:cNvPr id="5" name="TextBox 5"/>
            <p:cNvSpPr txBox="1"/>
            <p:nvPr/>
          </p:nvSpPr>
          <p:spPr>
            <a:xfrm>
              <a:off x="673608" y="3703320"/>
              <a:ext cx="5068824" cy="1345692"/>
            </a:xfrm>
            <a:prstGeom prst="rect">
              <a:avLst/>
            </a:prstGeom>
            <a:noFill/>
            <a:ln>
              <a:noFill/>
            </a:ln>
          </p:spPr>
          <p:txBody>
            <a:bodyPr wrap="none" lIns="0" tIns="0" rIns="0" bIns="0" anchor="t" anchorCtr="0">
              <a:spAutoFit/>
            </a:bodyPr>
            <a:lstStyle/>
            <a:p>
              <a:pPr algn="l">
                <a:lnSpc>
                  <a:spcPts val="3450"/>
                </a:lnSpc>
              </a:pPr>
              <a:r>
                <a:rPr lang="zh-CN" sz="2400" dirty="0">
                  <a:solidFill>
                    <a:schemeClr val="dk1"/>
                  </a:solidFill>
                  <a:latin typeface="+mn-lt"/>
                  <a:ea typeface="+mn-ea"/>
                  <a:cs typeface="+mn-cs"/>
                </a:rPr>
                <a:t>复现 Nuñez-Jimenez et al. (2022)</a:t>
              </a:r>
              <a:br/>
              <a:r>
                <a:rPr lang="zh-CN" sz="2400" dirty="0">
                  <a:solidFill>
                    <a:schemeClr val="dk1"/>
                  </a:solidFill>
                  <a:latin typeface="+mn-lt"/>
                  <a:ea typeface="+mn-ea"/>
                  <a:cs typeface="+mn-cs"/>
                </a:rPr>
                <a:t>德国 1991–2016 光伏政策组合模型，</a:t>
              </a:r>
              <a:br/>
              <a:r>
                <a:rPr lang="zh-CN" sz="2400" dirty="0">
                  <a:solidFill>
                    <a:schemeClr val="dk1"/>
                  </a:solidFill>
                  <a:latin typeface="+mn-lt"/>
                  <a:ea typeface="+mn-ea"/>
                  <a:cs typeface="+mn-cs"/>
                </a:rPr>
                <a:t>并让制造商与采用者的决策接入 LLM</a:t>
              </a:r>
            </a:p>
          </p:txBody>
        </p:sp>
      </p:grpSp>
      <p:grpSp>
        <p:nvGrpSpPr>
          <p:cNvPr id="15" name="Group 15"/>
          <p:cNvGrpSpPr/>
          <p:nvPr/>
        </p:nvGrpSpPr>
        <p:grpSpPr>
          <a:xfrm>
            <a:off x="7029450" y="1386840"/>
            <a:ext cx="4476750" cy="3532061"/>
            <a:chOff x="7029450" y="1386840"/>
            <a:chExt cx="4476750" cy="3532061"/>
          </a:xfrm>
        </p:grpSpPr>
        <p:sp>
          <p:nvSpPr>
            <p:cNvPr id="7" name="TextBox 7"/>
            <p:cNvSpPr txBox="1"/>
            <p:nvPr/>
          </p:nvSpPr>
          <p:spPr>
            <a:xfrm>
              <a:off x="7029450" y="1386840"/>
              <a:ext cx="2277100" cy="933450"/>
            </a:xfrm>
            <a:prstGeom prst="rect">
              <a:avLst/>
            </a:prstGeom>
            <a:noFill/>
            <a:ln>
              <a:noFill/>
            </a:ln>
          </p:spPr>
          <p:txBody>
            <a:bodyPr wrap="none" lIns="0" tIns="0" rIns="0" bIns="0" anchor="t" anchorCtr="0">
              <a:spAutoFit/>
            </a:bodyPr>
            <a:lstStyle/>
            <a:p>
              <a:pPr algn="l"/>
              <a:r>
                <a:rPr lang="zh-CN" sz="4800" b="1" dirty="0">
                  <a:solidFill>
                    <a:schemeClr val="accent1"/>
                  </a:solidFill>
                  <a:latin typeface="Consolas"/>
                  <a:ea typeface="Consolas"/>
                  <a:cs typeface="Consolas"/>
                </a:rPr>
                <a:t>50/500</a:t>
              </a:r>
            </a:p>
          </p:txBody>
        </p:sp>
        <p:sp>
          <p:nvSpPr>
            <p:cNvPr id="8" name="TextBox 8"/>
            <p:cNvSpPr txBox="1"/>
            <p:nvPr/>
          </p:nvSpPr>
          <p:spPr>
            <a:xfrm>
              <a:off x="7041642" y="2064068"/>
              <a:ext cx="2821553"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累计采用户数（10%，真实约 7%）</a:t>
              </a:r>
            </a:p>
          </p:txBody>
        </p:sp>
        <p:sp>
          <p:nvSpPr>
            <p:cNvPr id="9" name="Line 9"/>
            <p:cNvSpPr/>
            <p:nvPr/>
          </p:nvSpPr>
          <p:spPr>
            <a:xfrm>
              <a:off x="7048500" y="2533650"/>
              <a:ext cx="4457700" cy="9525"/>
            </a:xfrm>
            <a:custGeom>
              <a:avLst/>
              <a:gdLst/>
              <a:ahLst/>
              <a:cxnLst/>
              <a:rect l="l" t="t" r="r" b="b"/>
              <a:pathLst>
                <a:path w="4457700" h="9525">
                  <a:moveTo>
                    <a:pt x="0" y="0"/>
                  </a:moveTo>
                  <a:lnTo>
                    <a:pt x="4457700" y="0"/>
                  </a:lnTo>
                </a:path>
              </a:pathLst>
            </a:custGeom>
            <a:noFill/>
            <a:ln w="9525">
              <a:solidFill>
                <a:schemeClr val="accent1">
                  <a:alpha val="22000"/>
                </a:schemeClr>
              </a:solidFill>
            </a:ln>
          </p:spPr>
        </p:sp>
        <p:sp>
          <p:nvSpPr>
            <p:cNvPr id="10" name="TextBox 10"/>
            <p:cNvSpPr txBox="1"/>
            <p:nvPr/>
          </p:nvSpPr>
          <p:spPr>
            <a:xfrm>
              <a:off x="7029450" y="2682240"/>
              <a:ext cx="2511369" cy="933450"/>
            </a:xfrm>
            <a:prstGeom prst="rect">
              <a:avLst/>
            </a:prstGeom>
            <a:noFill/>
            <a:ln>
              <a:noFill/>
            </a:ln>
          </p:spPr>
          <p:txBody>
            <a:bodyPr wrap="none" lIns="0" tIns="0" rIns="0" bIns="0" anchor="t" anchorCtr="0">
              <a:spAutoFit/>
            </a:bodyPr>
            <a:lstStyle/>
            <a:p>
              <a:pPr algn="l"/>
              <a:r>
                <a:rPr lang="zh-CN" sz="4800" b="1" dirty="0">
                  <a:solidFill>
                    <a:schemeClr val="accent1"/>
                  </a:solidFill>
                  <a:latin typeface="Consolas"/>
                  <a:ea typeface="Consolas"/>
                  <a:cs typeface="Consolas"/>
                </a:rPr>
                <a:t>0.6 MW</a:t>
              </a:r>
            </a:p>
          </p:txBody>
        </p:sp>
        <p:sp>
          <p:nvSpPr>
            <p:cNvPr id="11" name="TextBox 11"/>
            <p:cNvSpPr txBox="1"/>
            <p:nvPr/>
          </p:nvSpPr>
          <p:spPr>
            <a:xfrm>
              <a:off x="7041642" y="3359468"/>
              <a:ext cx="2848813"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累计装机（1:1000 缩比下的量级）</a:t>
              </a:r>
            </a:p>
          </p:txBody>
        </p:sp>
        <p:sp>
          <p:nvSpPr>
            <p:cNvPr id="12" name="Line 12"/>
            <p:cNvSpPr/>
            <p:nvPr/>
          </p:nvSpPr>
          <p:spPr>
            <a:xfrm>
              <a:off x="7048500" y="3829050"/>
              <a:ext cx="4457700" cy="9525"/>
            </a:xfrm>
            <a:custGeom>
              <a:avLst/>
              <a:gdLst/>
              <a:ahLst/>
              <a:cxnLst/>
              <a:rect l="l" t="t" r="r" b="b"/>
              <a:pathLst>
                <a:path w="4457700" h="9525">
                  <a:moveTo>
                    <a:pt x="0" y="0"/>
                  </a:moveTo>
                  <a:lnTo>
                    <a:pt x="4457700" y="0"/>
                  </a:lnTo>
                </a:path>
              </a:pathLst>
            </a:custGeom>
            <a:noFill/>
            <a:ln w="9525">
              <a:solidFill>
                <a:schemeClr val="accent1">
                  <a:alpha val="22000"/>
                </a:schemeClr>
              </a:solidFill>
            </a:ln>
          </p:spPr>
        </p:sp>
        <p:sp>
          <p:nvSpPr>
            <p:cNvPr id="13" name="TextBox 13"/>
            <p:cNvSpPr txBox="1"/>
            <p:nvPr/>
          </p:nvSpPr>
          <p:spPr>
            <a:xfrm>
              <a:off x="7029450" y="3977640"/>
              <a:ext cx="2412797" cy="933450"/>
            </a:xfrm>
            <a:prstGeom prst="rect">
              <a:avLst/>
            </a:prstGeom>
            <a:noFill/>
            <a:ln>
              <a:noFill/>
            </a:ln>
          </p:spPr>
          <p:txBody>
            <a:bodyPr wrap="none" lIns="0" tIns="0" rIns="0" bIns="0" anchor="t" anchorCtr="0">
              <a:spAutoFit/>
            </a:bodyPr>
            <a:lstStyle/>
            <a:p>
              <a:pPr algn="l"/>
              <a:r>
                <a:rPr lang="zh-CN" sz="4800" b="1" dirty="0">
                  <a:solidFill>
                    <a:schemeClr val="accent2"/>
                  </a:solidFill>
                  <a:latin typeface="Consolas"/>
                  <a:ea typeface="Consolas"/>
                  <a:cs typeface="Consolas"/>
                </a:rPr>
                <a:t>−85.9%</a:t>
              </a:r>
            </a:p>
          </p:txBody>
        </p:sp>
        <p:sp>
          <p:nvSpPr>
            <p:cNvPr id="14" name="TextBox 14"/>
            <p:cNvSpPr txBox="1"/>
            <p:nvPr/>
          </p:nvSpPr>
          <p:spPr>
            <a:xfrm>
              <a:off x="7041642" y="4654868"/>
              <a:ext cx="3623767"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国内组件成本降幅（2.833 → 0.399 €/W）</a:t>
              </a:r>
            </a:p>
          </p:txBody>
        </p:sp>
      </p:grpSp>
      <p:grpSp>
        <p:nvGrpSpPr>
          <p:cNvPr id="19" name="Group 19"/>
          <p:cNvGrpSpPr/>
          <p:nvPr/>
        </p:nvGrpSpPr>
        <p:grpSpPr>
          <a:xfrm>
            <a:off x="679704" y="5943600"/>
            <a:ext cx="10832592" cy="467106"/>
            <a:chOff x="679704" y="5943600"/>
            <a:chExt cx="10832592" cy="467106"/>
          </a:xfrm>
        </p:grpSpPr>
        <p:sp>
          <p:nvSpPr>
            <p:cNvPr id="16" name="Line 16"/>
            <p:cNvSpPr/>
            <p:nvPr/>
          </p:nvSpPr>
          <p:spPr>
            <a:xfrm>
              <a:off x="685800" y="5943600"/>
              <a:ext cx="10820400" cy="9525"/>
            </a:xfrm>
            <a:custGeom>
              <a:avLst/>
              <a:gdLst/>
              <a:ahLst/>
              <a:cxnLst/>
              <a:rect l="l" t="t" r="r" b="b"/>
              <a:pathLst>
                <a:path w="10820400" h="9525">
                  <a:moveTo>
                    <a:pt x="0" y="0"/>
                  </a:moveTo>
                  <a:lnTo>
                    <a:pt x="10820400" y="0"/>
                  </a:lnTo>
                </a:path>
              </a:pathLst>
            </a:custGeom>
            <a:noFill/>
            <a:ln w="9525">
              <a:solidFill>
                <a:schemeClr val="accent1">
                  <a:alpha val="30000"/>
                </a:schemeClr>
              </a:solidFill>
            </a:ln>
          </p:spPr>
        </p:sp>
        <p:sp>
          <p:nvSpPr>
            <p:cNvPr id="17" name="TextBox 17"/>
            <p:cNvSpPr txBox="1"/>
            <p:nvPr/>
          </p:nvSpPr>
          <p:spPr>
            <a:xfrm>
              <a:off x="679704" y="6176010"/>
              <a:ext cx="5270449" cy="234696"/>
            </a:xfrm>
            <a:prstGeom prst="rect">
              <a:avLst/>
            </a:prstGeom>
            <a:noFill/>
            <a:ln>
              <a:noFill/>
            </a:ln>
          </p:spPr>
          <p:txBody>
            <a:bodyPr wrap="none" lIns="0" tIns="0" rIns="0" bIns="0" anchor="t" anchorCtr="0">
              <a:spAutoFit/>
            </a:bodyPr>
            <a:lstStyle/>
            <a:p>
              <a:pPr algn="l"/>
              <a:r>
                <a:rPr lang="zh-CN" sz="1200" dirty="0">
                  <a:solidFill>
                    <a:schemeClr val="dk1">
                      <a:alphaMod val="72000"/>
                    </a:schemeClr>
                  </a:solidFill>
                  <a:latin typeface="+mn-lt"/>
                  <a:ea typeface="+mn-ea"/>
                  <a:cs typeface="+mn-cs"/>
                </a:rPr>
                <a:t>仓库 solar-abm-replication · 公式模式 312 tick · seed=42 · 合成数据</a:t>
              </a:r>
            </a:p>
          </p:txBody>
        </p:sp>
        <p:sp>
          <p:nvSpPr>
            <p:cNvPr id="18" name="TextBox 18"/>
            <p:cNvSpPr txBox="1"/>
            <p:nvPr/>
          </p:nvSpPr>
          <p:spPr>
            <a:xfrm>
              <a:off x="10958932" y="6176010"/>
              <a:ext cx="553364" cy="234696"/>
            </a:xfrm>
            <a:prstGeom prst="rect">
              <a:avLst/>
            </a:prstGeom>
            <a:noFill/>
            <a:ln>
              <a:noFill/>
            </a:ln>
          </p:spPr>
          <p:txBody>
            <a:bodyPr wrap="none" lIns="0" tIns="0" rIns="0" bIns="0" anchor="t" anchorCtr="0">
              <a:spAutoFit/>
            </a:bodyPr>
            <a:lstStyle/>
            <a:p>
              <a:pPr algn="r"/>
              <a:r>
                <a:rPr lang="zh-CN" sz="1200" dirty="0">
                  <a:solidFill>
                    <a:schemeClr val="dk1">
                      <a:alphaMod val="72000"/>
                    </a:schemeClr>
                  </a:solidFill>
                  <a:latin typeface="+mn-lt"/>
                  <a:ea typeface="+mn-ea"/>
                  <a:cs typeface="+mn-cs"/>
                </a:rPr>
                <a:t>01 / 14</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669798" y="552450"/>
            <a:ext cx="10836402" cy="1076135"/>
            <a:chOff x="669798" y="552450"/>
            <a:chExt cx="10836402" cy="1076135"/>
          </a:xfrm>
        </p:grpSpPr>
        <p:sp>
          <p:nvSpPr>
            <p:cNvPr id="2" name="Rectangle 2"/>
            <p:cNvSpPr/>
            <p:nvPr/>
          </p:nvSpPr>
          <p:spPr>
            <a:xfrm>
              <a:off x="685800" y="552450"/>
              <a:ext cx="533400" cy="38100"/>
            </a:xfrm>
            <a:prstGeom prst="rect">
              <a:avLst/>
            </a:prstGeom>
            <a:solidFill>
              <a:schemeClr val="accent2"/>
            </a:solidFill>
            <a:ln>
              <a:noFill/>
            </a:ln>
          </p:spPr>
        </p:sp>
        <p:sp>
          <p:nvSpPr>
            <p:cNvPr id="3" name="TextBox 3"/>
            <p:cNvSpPr txBox="1"/>
            <p:nvPr/>
          </p:nvSpPr>
          <p:spPr>
            <a:xfrm>
              <a:off x="678942" y="768668"/>
              <a:ext cx="377190" cy="264033"/>
            </a:xfrm>
            <a:prstGeom prst="rect">
              <a:avLst/>
            </a:prstGeom>
            <a:noFill/>
            <a:ln>
              <a:noFill/>
            </a:ln>
          </p:spPr>
          <p:txBody>
            <a:bodyPr wrap="none" lIns="0" tIns="0" rIns="0" bIns="0" anchor="t" anchorCtr="0">
              <a:spAutoFit/>
            </a:bodyPr>
            <a:lstStyle/>
            <a:p>
              <a:pPr algn="l"/>
              <a:r>
                <a:rPr lang="zh-CN" sz="1350" dirty="0">
                  <a:solidFill>
                    <a:schemeClr val="accent1">
                      <a:alphaMod val="78000"/>
                    </a:schemeClr>
                  </a:solidFill>
                  <a:latin typeface="+mn-lt"/>
                  <a:ea typeface="+mn-ea"/>
                  <a:cs typeface="+mn-cs"/>
                </a:rPr>
                <a:t>概览</a:t>
              </a:r>
            </a:p>
          </p:txBody>
        </p:sp>
        <p:sp>
          <p:nvSpPr>
            <p:cNvPr id="4" name="TextBox 4"/>
            <p:cNvSpPr txBox="1"/>
            <p:nvPr/>
          </p:nvSpPr>
          <p:spPr>
            <a:xfrm>
              <a:off x="669798" y="1012508"/>
              <a:ext cx="1813027"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汇报结构</a:t>
              </a:r>
            </a:p>
          </p:txBody>
        </p:sp>
        <p:sp>
          <p:nvSpPr>
            <p:cNvPr id="5" name="Line 5"/>
            <p:cNvSpPr/>
            <p:nvPr/>
          </p:nvSpPr>
          <p:spPr>
            <a:xfrm>
              <a:off x="685800" y="1600200"/>
              <a:ext cx="10820400" cy="9525"/>
            </a:xfrm>
            <a:custGeom>
              <a:avLst/>
              <a:gdLst/>
              <a:ahLst/>
              <a:cxnLst/>
              <a:rect l="l" t="t" r="r" b="b"/>
              <a:pathLst>
                <a:path w="10820400" h="9525">
                  <a:moveTo>
                    <a:pt x="0" y="0"/>
                  </a:moveTo>
                  <a:lnTo>
                    <a:pt x="10820400" y="0"/>
                  </a:lnTo>
                </a:path>
              </a:pathLst>
            </a:custGeom>
            <a:noFill/>
            <a:ln w="9525">
              <a:solidFill>
                <a:schemeClr val="accent1">
                  <a:alpha val="22000"/>
                </a:schemeClr>
              </a:solidFill>
            </a:ln>
          </p:spPr>
        </p:sp>
      </p:grpSp>
      <p:grpSp>
        <p:nvGrpSpPr>
          <p:cNvPr id="22" name="Group 22"/>
          <p:cNvGrpSpPr/>
          <p:nvPr/>
        </p:nvGrpSpPr>
        <p:grpSpPr>
          <a:xfrm>
            <a:off x="676656" y="2167890"/>
            <a:ext cx="6001207" cy="3398711"/>
            <a:chOff x="676656" y="2167890"/>
            <a:chExt cx="6001207" cy="3398711"/>
          </a:xfrm>
        </p:grpSpPr>
        <p:sp>
          <p:nvSpPr>
            <p:cNvPr id="7" name="TextBox 7"/>
            <p:cNvSpPr txBox="1"/>
            <p:nvPr/>
          </p:nvSpPr>
          <p:spPr>
            <a:xfrm>
              <a:off x="676656" y="2167890"/>
              <a:ext cx="298163" cy="352044"/>
            </a:xfrm>
            <a:prstGeom prst="rect">
              <a:avLst/>
            </a:prstGeom>
            <a:noFill/>
            <a:ln>
              <a:noFill/>
            </a:ln>
          </p:spPr>
          <p:txBody>
            <a:bodyPr wrap="none" lIns="0" tIns="0" rIns="0" bIns="0" anchor="t" anchorCtr="0">
              <a:spAutoFit/>
            </a:bodyPr>
            <a:lstStyle/>
            <a:p>
              <a:pPr algn="l"/>
              <a:r>
                <a:rPr lang="zh-CN" sz="1800" b="1" dirty="0">
                  <a:solidFill>
                    <a:schemeClr val="accent2"/>
                  </a:solidFill>
                  <a:latin typeface="Consolas"/>
                  <a:ea typeface="Consolas"/>
                  <a:cs typeface="Consolas"/>
                </a:rPr>
                <a:t>01</a:t>
              </a:r>
            </a:p>
          </p:txBody>
        </p:sp>
        <p:sp>
          <p:nvSpPr>
            <p:cNvPr id="8" name="TextBox 8"/>
            <p:cNvSpPr txBox="1"/>
            <p:nvPr/>
          </p:nvSpPr>
          <p:spPr>
            <a:xfrm>
              <a:off x="1419606" y="2167890"/>
              <a:ext cx="1290447"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项目与系统</a:t>
              </a:r>
            </a:p>
          </p:txBody>
        </p:sp>
        <p:sp>
          <p:nvSpPr>
            <p:cNvPr id="9" name="TextBox 9"/>
            <p:cNvSpPr txBox="1"/>
            <p:nvPr/>
          </p:nvSpPr>
          <p:spPr>
            <a:xfrm>
              <a:off x="1421892" y="2483168"/>
              <a:ext cx="4679899" cy="264033"/>
            </a:xfrm>
            <a:prstGeom prst="rect">
              <a:avLst/>
            </a:prstGeom>
            <a:noFill/>
            <a:ln>
              <a:noFill/>
            </a:ln>
          </p:spPr>
          <p:txBody>
            <a:bodyPr wrap="none" lIns="0" tIns="0" rIns="0" bIns="0" anchor="t" anchorCtr="0">
              <a:spAutoFit/>
            </a:bodyPr>
            <a:lstStyle/>
            <a:p>
              <a:pPr algn="l"/>
              <a:r>
                <a:rPr lang="zh-CN" sz="1350" dirty="0">
                  <a:solidFill>
                    <a:schemeClr val="dk1">
                      <a:alphaMod val="85000"/>
                    </a:schemeClr>
                  </a:solidFill>
                  <a:latin typeface="+mn-lt"/>
                  <a:ea typeface="+mn-ea"/>
                  <a:cs typeface="+mn-cs"/>
                </a:rPr>
                <a:t>P03–P05 · 论文问题、四类角色、五步调度 · 约 4 分钟</a:t>
              </a:r>
            </a:p>
          </p:txBody>
        </p:sp>
        <p:sp>
          <p:nvSpPr>
            <p:cNvPr id="10" name="TextBox 10"/>
            <p:cNvSpPr txBox="1"/>
            <p:nvPr/>
          </p:nvSpPr>
          <p:spPr>
            <a:xfrm>
              <a:off x="676656" y="2872740"/>
              <a:ext cx="298163" cy="352044"/>
            </a:xfrm>
            <a:prstGeom prst="rect">
              <a:avLst/>
            </a:prstGeom>
            <a:noFill/>
            <a:ln>
              <a:noFill/>
            </a:ln>
          </p:spPr>
          <p:txBody>
            <a:bodyPr wrap="none" lIns="0" tIns="0" rIns="0" bIns="0" anchor="t" anchorCtr="0">
              <a:spAutoFit/>
            </a:bodyPr>
            <a:lstStyle/>
            <a:p>
              <a:pPr algn="l"/>
              <a:r>
                <a:rPr lang="zh-CN" sz="1800" b="1" dirty="0">
                  <a:solidFill>
                    <a:schemeClr val="accent2"/>
                  </a:solidFill>
                  <a:latin typeface="Consolas"/>
                  <a:ea typeface="Consolas"/>
                  <a:cs typeface="Consolas"/>
                </a:rPr>
                <a:t>02</a:t>
              </a:r>
            </a:p>
          </p:txBody>
        </p:sp>
        <p:sp>
          <p:nvSpPr>
            <p:cNvPr id="11" name="TextBox 11"/>
            <p:cNvSpPr txBox="1"/>
            <p:nvPr/>
          </p:nvSpPr>
          <p:spPr>
            <a:xfrm>
              <a:off x="1419606" y="2872740"/>
              <a:ext cx="2308174"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复现的三个核心机制</a:t>
              </a:r>
            </a:p>
          </p:txBody>
        </p:sp>
        <p:sp>
          <p:nvSpPr>
            <p:cNvPr id="12" name="TextBox 12"/>
            <p:cNvSpPr txBox="1"/>
            <p:nvPr/>
          </p:nvSpPr>
          <p:spPr>
            <a:xfrm>
              <a:off x="1421892" y="3188018"/>
              <a:ext cx="5255971" cy="264033"/>
            </a:xfrm>
            <a:prstGeom prst="rect">
              <a:avLst/>
            </a:prstGeom>
            <a:noFill/>
            <a:ln>
              <a:noFill/>
            </a:ln>
          </p:spPr>
          <p:txBody>
            <a:bodyPr wrap="none" lIns="0" tIns="0" rIns="0" bIns="0" anchor="t" anchorCtr="0">
              <a:spAutoFit/>
            </a:bodyPr>
            <a:lstStyle/>
            <a:p>
              <a:pPr algn="l"/>
              <a:r>
                <a:rPr lang="zh-CN" sz="1350" dirty="0">
                  <a:solidFill>
                    <a:schemeClr val="dk1">
                      <a:alphaMod val="85000"/>
                    </a:schemeClr>
                  </a:solidFill>
                  <a:latin typeface="+mn-lt"/>
                  <a:ea typeface="+mn-ea"/>
                  <a:cs typeface="+mn-cs"/>
                </a:rPr>
                <a:t>P06–P08 · 两阶段采用、经验曲线、渠道与劳动力 · 约 5 分钟</a:t>
              </a:r>
            </a:p>
          </p:txBody>
        </p:sp>
        <p:sp>
          <p:nvSpPr>
            <p:cNvPr id="13" name="TextBox 13"/>
            <p:cNvSpPr txBox="1"/>
            <p:nvPr/>
          </p:nvSpPr>
          <p:spPr>
            <a:xfrm>
              <a:off x="676656" y="3577590"/>
              <a:ext cx="298163" cy="352044"/>
            </a:xfrm>
            <a:prstGeom prst="rect">
              <a:avLst/>
            </a:prstGeom>
            <a:noFill/>
            <a:ln>
              <a:noFill/>
            </a:ln>
          </p:spPr>
          <p:txBody>
            <a:bodyPr wrap="none" lIns="0" tIns="0" rIns="0" bIns="0" anchor="t" anchorCtr="0">
              <a:spAutoFit/>
            </a:bodyPr>
            <a:lstStyle/>
            <a:p>
              <a:pPr algn="l"/>
              <a:r>
                <a:rPr lang="zh-CN" sz="1800" b="1" dirty="0">
                  <a:solidFill>
                    <a:schemeClr val="accent2"/>
                  </a:solidFill>
                  <a:latin typeface="Consolas"/>
                  <a:ea typeface="Consolas"/>
                  <a:cs typeface="Consolas"/>
                </a:rPr>
                <a:t>03</a:t>
              </a:r>
            </a:p>
          </p:txBody>
        </p:sp>
        <p:sp>
          <p:nvSpPr>
            <p:cNvPr id="14" name="TextBox 14"/>
            <p:cNvSpPr txBox="1"/>
            <p:nvPr/>
          </p:nvSpPr>
          <p:spPr>
            <a:xfrm>
              <a:off x="1419606" y="3577590"/>
              <a:ext cx="2209282"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LLM 增强接在哪里</a:t>
              </a:r>
            </a:p>
          </p:txBody>
        </p:sp>
        <p:sp>
          <p:nvSpPr>
            <p:cNvPr id="15" name="TextBox 15"/>
            <p:cNvSpPr txBox="1"/>
            <p:nvPr/>
          </p:nvSpPr>
          <p:spPr>
            <a:xfrm>
              <a:off x="1421892" y="3892868"/>
              <a:ext cx="3873398" cy="264033"/>
            </a:xfrm>
            <a:prstGeom prst="rect">
              <a:avLst/>
            </a:prstGeom>
            <a:noFill/>
            <a:ln>
              <a:noFill/>
            </a:ln>
          </p:spPr>
          <p:txBody>
            <a:bodyPr wrap="none" lIns="0" tIns="0" rIns="0" bIns="0" anchor="t" anchorCtr="0">
              <a:spAutoFit/>
            </a:bodyPr>
            <a:lstStyle/>
            <a:p>
              <a:pPr algn="l"/>
              <a:r>
                <a:rPr lang="zh-CN" sz="1350" dirty="0">
                  <a:solidFill>
                    <a:schemeClr val="dk1">
                      <a:alphaMod val="85000"/>
                    </a:schemeClr>
                  </a:solidFill>
                  <a:latin typeface="+mn-lt"/>
                  <a:ea typeface="+mn-ea"/>
                  <a:cs typeface="+mn-cs"/>
                </a:rPr>
                <a:t>P09 · 接入点、工具调用、回退链 · 约 2 分钟</a:t>
              </a:r>
            </a:p>
          </p:txBody>
        </p:sp>
        <p:sp>
          <p:nvSpPr>
            <p:cNvPr id="16" name="TextBox 16"/>
            <p:cNvSpPr txBox="1"/>
            <p:nvPr/>
          </p:nvSpPr>
          <p:spPr>
            <a:xfrm>
              <a:off x="676656" y="4282440"/>
              <a:ext cx="298163" cy="352044"/>
            </a:xfrm>
            <a:prstGeom prst="rect">
              <a:avLst/>
            </a:prstGeom>
            <a:noFill/>
            <a:ln>
              <a:noFill/>
            </a:ln>
          </p:spPr>
          <p:txBody>
            <a:bodyPr wrap="none" lIns="0" tIns="0" rIns="0" bIns="0" anchor="t" anchorCtr="0">
              <a:spAutoFit/>
            </a:bodyPr>
            <a:lstStyle/>
            <a:p>
              <a:pPr algn="l"/>
              <a:r>
                <a:rPr lang="zh-CN" sz="1800" b="1" dirty="0">
                  <a:solidFill>
                    <a:schemeClr val="accent2"/>
                  </a:solidFill>
                  <a:latin typeface="Consolas"/>
                  <a:ea typeface="Consolas"/>
                  <a:cs typeface="Consolas"/>
                </a:rPr>
                <a:t>04</a:t>
              </a:r>
            </a:p>
          </p:txBody>
        </p:sp>
        <p:sp>
          <p:nvSpPr>
            <p:cNvPr id="17" name="TextBox 17"/>
            <p:cNvSpPr txBox="1"/>
            <p:nvPr/>
          </p:nvSpPr>
          <p:spPr>
            <a:xfrm>
              <a:off x="1419606" y="4282440"/>
              <a:ext cx="1290447"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结果与验证</a:t>
              </a:r>
            </a:p>
          </p:txBody>
        </p:sp>
        <p:sp>
          <p:nvSpPr>
            <p:cNvPr id="18" name="TextBox 18"/>
            <p:cNvSpPr txBox="1"/>
            <p:nvPr/>
          </p:nvSpPr>
          <p:spPr>
            <a:xfrm>
              <a:off x="1421892" y="4597718"/>
              <a:ext cx="4679899" cy="264033"/>
            </a:xfrm>
            <a:prstGeom prst="rect">
              <a:avLst/>
            </a:prstGeom>
            <a:noFill/>
            <a:ln>
              <a:noFill/>
            </a:ln>
          </p:spPr>
          <p:txBody>
            <a:bodyPr wrap="none" lIns="0" tIns="0" rIns="0" bIns="0" anchor="t" anchorCtr="0">
              <a:spAutoFit/>
            </a:bodyPr>
            <a:lstStyle/>
            <a:p>
              <a:pPr algn="l"/>
              <a:r>
                <a:rPr lang="zh-CN" sz="1350" dirty="0">
                  <a:solidFill>
                    <a:schemeClr val="dk1">
                      <a:alphaMod val="85000"/>
                    </a:schemeClr>
                  </a:solidFill>
                  <a:latin typeface="+mn-lt"/>
                  <a:ea typeface="+mn-ea"/>
                  <a:cs typeface="+mn-cs"/>
                </a:rPr>
                <a:t>P10–P11 · 四联结果图、关键数字与检查点 · 约 4 分钟</a:t>
              </a:r>
            </a:p>
          </p:txBody>
        </p:sp>
        <p:sp>
          <p:nvSpPr>
            <p:cNvPr id="19" name="TextBox 19"/>
            <p:cNvSpPr txBox="1"/>
            <p:nvPr/>
          </p:nvSpPr>
          <p:spPr>
            <a:xfrm>
              <a:off x="676656" y="4987290"/>
              <a:ext cx="298163" cy="352044"/>
            </a:xfrm>
            <a:prstGeom prst="rect">
              <a:avLst/>
            </a:prstGeom>
            <a:noFill/>
            <a:ln>
              <a:noFill/>
            </a:ln>
          </p:spPr>
          <p:txBody>
            <a:bodyPr wrap="none" lIns="0" tIns="0" rIns="0" bIns="0" anchor="t" anchorCtr="0">
              <a:spAutoFit/>
            </a:bodyPr>
            <a:lstStyle/>
            <a:p>
              <a:pPr algn="l"/>
              <a:r>
                <a:rPr lang="zh-CN" sz="1800" b="1" dirty="0">
                  <a:solidFill>
                    <a:schemeClr val="accent2"/>
                  </a:solidFill>
                  <a:latin typeface="Consolas"/>
                  <a:ea typeface="Consolas"/>
                  <a:cs typeface="Consolas"/>
                </a:rPr>
                <a:t>05</a:t>
              </a:r>
            </a:p>
          </p:txBody>
        </p:sp>
        <p:sp>
          <p:nvSpPr>
            <p:cNvPr id="20" name="TextBox 20"/>
            <p:cNvSpPr txBox="1"/>
            <p:nvPr/>
          </p:nvSpPr>
          <p:spPr>
            <a:xfrm>
              <a:off x="1419606" y="4987290"/>
              <a:ext cx="2308174"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偏差、进度与下一步</a:t>
              </a:r>
            </a:p>
          </p:txBody>
        </p:sp>
        <p:sp>
          <p:nvSpPr>
            <p:cNvPr id="21" name="TextBox 21"/>
            <p:cNvSpPr txBox="1"/>
            <p:nvPr/>
          </p:nvSpPr>
          <p:spPr>
            <a:xfrm>
              <a:off x="1421892" y="5302568"/>
              <a:ext cx="5063947" cy="264033"/>
            </a:xfrm>
            <a:prstGeom prst="rect">
              <a:avLst/>
            </a:prstGeom>
            <a:noFill/>
            <a:ln>
              <a:noFill/>
            </a:ln>
          </p:spPr>
          <p:txBody>
            <a:bodyPr wrap="none" lIns="0" tIns="0" rIns="0" bIns="0" anchor="t" anchorCtr="0">
              <a:spAutoFit/>
            </a:bodyPr>
            <a:lstStyle/>
            <a:p>
              <a:pPr algn="l"/>
              <a:r>
                <a:rPr lang="zh-CN" sz="1350" dirty="0">
                  <a:solidFill>
                    <a:schemeClr val="dk1">
                      <a:alphaMod val="85000"/>
                    </a:schemeClr>
                  </a:solidFill>
                  <a:latin typeface="+mn-lt"/>
                  <a:ea typeface="+mn-ea"/>
                  <a:cs typeface="+mn-cs"/>
                </a:rPr>
                <a:t>P12–P14 · 两处偏差根因、完成度、优先级建议 · 约 4 分钟</a:t>
              </a:r>
            </a:p>
          </p:txBody>
        </p:sp>
      </p:grpSp>
      <p:grpSp>
        <p:nvGrpSpPr>
          <p:cNvPr id="26" name="Group 26"/>
          <p:cNvGrpSpPr/>
          <p:nvPr/>
        </p:nvGrpSpPr>
        <p:grpSpPr>
          <a:xfrm>
            <a:off x="7810500" y="2038350"/>
            <a:ext cx="3323844" cy="1800606"/>
            <a:chOff x="7810500" y="2038350"/>
            <a:chExt cx="3323844" cy="1800606"/>
          </a:xfrm>
        </p:grpSpPr>
        <p:sp>
          <p:nvSpPr>
            <p:cNvPr id="23" name="Rectangle 23"/>
            <p:cNvSpPr/>
            <p:nvPr/>
          </p:nvSpPr>
          <p:spPr>
            <a:xfrm>
              <a:off x="7810500" y="2038350"/>
              <a:ext cx="38100" cy="1257300"/>
            </a:xfrm>
            <a:prstGeom prst="rect">
              <a:avLst/>
            </a:prstGeom>
            <a:solidFill>
              <a:schemeClr val="accent2"/>
            </a:solidFill>
            <a:ln>
              <a:noFill/>
            </a:ln>
          </p:spPr>
        </p:sp>
        <p:sp>
          <p:nvSpPr>
            <p:cNvPr id="24" name="TextBox 24"/>
            <p:cNvSpPr txBox="1"/>
            <p:nvPr/>
          </p:nvSpPr>
          <p:spPr>
            <a:xfrm>
              <a:off x="8144256" y="2167890"/>
              <a:ext cx="2990088" cy="1075944"/>
            </a:xfrm>
            <a:prstGeom prst="rect">
              <a:avLst/>
            </a:prstGeom>
            <a:noFill/>
            <a:ln>
              <a:noFill/>
            </a:ln>
          </p:spPr>
          <p:txBody>
            <a:bodyPr wrap="none" lIns="0" tIns="0" rIns="0" bIns="0" anchor="t" anchorCtr="0">
              <a:spAutoFit/>
            </a:bodyPr>
            <a:lstStyle/>
            <a:p>
              <a:pPr algn="l">
                <a:lnSpc>
                  <a:spcPts val="2850"/>
                </a:lnSpc>
              </a:pPr>
              <a:r>
                <a:rPr lang="zh-CN" sz="1800" dirty="0">
                  <a:solidFill>
                    <a:schemeClr val="accent1"/>
                  </a:solidFill>
                  <a:latin typeface="+mn-lt"/>
                  <a:ea typeface="+mn-ea"/>
                  <a:cs typeface="+mn-cs"/>
                </a:rPr>
                <a:t>前两段讲我们造了什么，</a:t>
              </a:r>
              <a:br/>
              <a:r>
                <a:rPr lang="zh-CN" sz="1800" dirty="0">
                  <a:solidFill>
                    <a:schemeClr val="accent1"/>
                  </a:solidFill>
                  <a:latin typeface="+mn-lt"/>
                  <a:ea typeface="+mn-ea"/>
                  <a:cs typeface="+mn-cs"/>
                </a:rPr>
                <a:t>后三段讲它算出了什么、</a:t>
              </a:r>
              <a:br/>
              <a:r>
                <a:rPr lang="zh-CN" sz="1800" dirty="0">
                  <a:solidFill>
                    <a:schemeClr val="accent1"/>
                  </a:solidFill>
                  <a:latin typeface="+mn-lt"/>
                  <a:ea typeface="+mn-ea"/>
                  <a:cs typeface="+mn-cs"/>
                </a:rPr>
                <a:t>哪里还不能信、下一步做什么</a:t>
              </a:r>
            </a:p>
          </p:txBody>
        </p:sp>
        <p:sp>
          <p:nvSpPr>
            <p:cNvPr id="25" name="TextBox 25"/>
            <p:cNvSpPr txBox="1"/>
            <p:nvPr/>
          </p:nvSpPr>
          <p:spPr>
            <a:xfrm>
              <a:off x="8147304" y="3604260"/>
              <a:ext cx="2919984" cy="234696"/>
            </a:xfrm>
            <a:prstGeom prst="rect">
              <a:avLst/>
            </a:prstGeom>
            <a:noFill/>
            <a:ln>
              <a:noFill/>
            </a:ln>
          </p:spPr>
          <p:txBody>
            <a:bodyPr wrap="none" lIns="0" tIns="0" rIns="0" bIns="0" anchor="t" anchorCtr="0">
              <a:spAutoFit/>
            </a:bodyPr>
            <a:lstStyle/>
            <a:p>
              <a:pPr algn="l"/>
              <a:r>
                <a:rPr lang="zh-CN" sz="1200" dirty="0">
                  <a:solidFill>
                    <a:schemeClr val="dk1">
                      <a:alphaMod val="72000"/>
                    </a:schemeClr>
                  </a:solidFill>
                  <a:latin typeface="+mn-lt"/>
                  <a:ea typeface="+mn-ea"/>
                  <a:cs typeface="+mn-cs"/>
                </a:rPr>
                <a:t>每页都可独立阅读，会后可当存档材料看</a:t>
              </a:r>
            </a:p>
          </p:txBody>
        </p:sp>
      </p:grpSp>
      <p:grpSp>
        <p:nvGrpSpPr>
          <p:cNvPr id="30" name="Group 30"/>
          <p:cNvGrpSpPr/>
          <p:nvPr/>
        </p:nvGrpSpPr>
        <p:grpSpPr>
          <a:xfrm>
            <a:off x="679704" y="6286500"/>
            <a:ext cx="10832592" cy="390906"/>
            <a:chOff x="679704" y="6286500"/>
            <a:chExt cx="10832592" cy="390906"/>
          </a:xfrm>
        </p:grpSpPr>
        <p:sp>
          <p:nvSpPr>
            <p:cNvPr id="27" name="Line 27"/>
            <p:cNvSpPr/>
            <p:nvPr/>
          </p:nvSpPr>
          <p:spPr>
            <a:xfrm>
              <a:off x="685800" y="6286500"/>
              <a:ext cx="10820400" cy="9525"/>
            </a:xfrm>
            <a:custGeom>
              <a:avLst/>
              <a:gdLst/>
              <a:ahLst/>
              <a:cxnLst/>
              <a:rect l="l" t="t" r="r" b="b"/>
              <a:pathLst>
                <a:path w="10820400" h="9525">
                  <a:moveTo>
                    <a:pt x="0" y="0"/>
                  </a:moveTo>
                  <a:lnTo>
                    <a:pt x="10820400" y="0"/>
                  </a:lnTo>
                </a:path>
              </a:pathLst>
            </a:custGeom>
            <a:noFill/>
            <a:ln w="9525">
              <a:solidFill>
                <a:schemeClr val="accent1">
                  <a:alpha val="30000"/>
                </a:schemeClr>
              </a:solidFill>
            </a:ln>
          </p:spPr>
        </p:sp>
        <p:sp>
          <p:nvSpPr>
            <p:cNvPr id="28" name="TextBox 28"/>
            <p:cNvSpPr txBox="1"/>
            <p:nvPr/>
          </p:nvSpPr>
          <p:spPr>
            <a:xfrm>
              <a:off x="679704" y="6442710"/>
              <a:ext cx="3212592" cy="234696"/>
            </a:xfrm>
            <a:prstGeom prst="rect">
              <a:avLst/>
            </a:prstGeom>
            <a:noFill/>
            <a:ln>
              <a:noFill/>
            </a:ln>
          </p:spPr>
          <p:txBody>
            <a:bodyPr wrap="none" lIns="0" tIns="0" rIns="0" bIns="0" anchor="t" anchorCtr="0">
              <a:spAutoFit/>
            </a:bodyPr>
            <a:lstStyle/>
            <a:p>
              <a:pPr algn="l"/>
              <a:r>
                <a:rPr lang="zh-CN" sz="1200" dirty="0">
                  <a:solidFill>
                    <a:schemeClr val="dk1">
                      <a:alphaMod val="72000"/>
                    </a:schemeClr>
                  </a:solidFill>
                  <a:latin typeface="+mn-lt"/>
                  <a:ea typeface="+mn-ea"/>
                  <a:cs typeface="+mn-cs"/>
                </a:rPr>
                <a:t>德国光伏政策组合 ABM · 复现与 LLM 增强</a:t>
              </a:r>
            </a:p>
          </p:txBody>
        </p:sp>
        <p:sp>
          <p:nvSpPr>
            <p:cNvPr id="29" name="TextBox 29"/>
            <p:cNvSpPr txBox="1"/>
            <p:nvPr/>
          </p:nvSpPr>
          <p:spPr>
            <a:xfrm>
              <a:off x="10958932" y="6442710"/>
              <a:ext cx="553364" cy="234696"/>
            </a:xfrm>
            <a:prstGeom prst="rect">
              <a:avLst/>
            </a:prstGeom>
            <a:noFill/>
            <a:ln>
              <a:noFill/>
            </a:ln>
          </p:spPr>
          <p:txBody>
            <a:bodyPr wrap="none" lIns="0" tIns="0" rIns="0" bIns="0" anchor="t" anchorCtr="0">
              <a:spAutoFit/>
            </a:bodyPr>
            <a:lstStyle/>
            <a:p>
              <a:pPr algn="r"/>
              <a:r>
                <a:rPr lang="zh-CN" sz="1200" dirty="0">
                  <a:solidFill>
                    <a:schemeClr val="dk1">
                      <a:alphaMod val="72000"/>
                    </a:schemeClr>
                  </a:solidFill>
                  <a:latin typeface="+mn-lt"/>
                  <a:ea typeface="+mn-ea"/>
                  <a:cs typeface="+mn-cs"/>
                </a:rPr>
                <a:t>02 / 14</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669798" y="552450"/>
            <a:ext cx="6752844" cy="1590485"/>
            <a:chOff x="669798" y="552450"/>
            <a:chExt cx="6752844" cy="1590485"/>
          </a:xfrm>
        </p:grpSpPr>
        <p:sp>
          <p:nvSpPr>
            <p:cNvPr id="2" name="Rectangle 2"/>
            <p:cNvSpPr/>
            <p:nvPr/>
          </p:nvSpPr>
          <p:spPr>
            <a:xfrm>
              <a:off x="685800" y="552450"/>
              <a:ext cx="533400" cy="38100"/>
            </a:xfrm>
            <a:prstGeom prst="rect">
              <a:avLst/>
            </a:prstGeom>
            <a:solidFill>
              <a:schemeClr val="accent2"/>
            </a:solidFill>
            <a:ln>
              <a:noFill/>
            </a:ln>
          </p:spPr>
        </p:sp>
        <p:sp>
          <p:nvSpPr>
            <p:cNvPr id="3" name="TextBox 3"/>
            <p:cNvSpPr txBox="1"/>
            <p:nvPr/>
          </p:nvSpPr>
          <p:spPr>
            <a:xfrm>
              <a:off x="678942" y="768668"/>
              <a:ext cx="1780337" cy="264033"/>
            </a:xfrm>
            <a:prstGeom prst="rect">
              <a:avLst/>
            </a:prstGeom>
            <a:noFill/>
            <a:ln>
              <a:noFill/>
            </a:ln>
          </p:spPr>
          <p:txBody>
            <a:bodyPr wrap="none" lIns="0" tIns="0" rIns="0" bIns="0" anchor="t" anchorCtr="0">
              <a:spAutoFit/>
            </a:bodyPr>
            <a:lstStyle/>
            <a:p>
              <a:pPr algn="l"/>
              <a:r>
                <a:rPr lang="zh-CN" sz="1350" dirty="0">
                  <a:solidFill>
                    <a:schemeClr val="accent1">
                      <a:alphaMod val="78000"/>
                    </a:schemeClr>
                  </a:solidFill>
                  <a:latin typeface="+mn-lt"/>
                  <a:ea typeface="+mn-ea"/>
                  <a:cs typeface="+mn-cs"/>
                </a:rPr>
                <a:t>PART 1 · 项目与系统</a:t>
              </a:r>
            </a:p>
          </p:txBody>
        </p:sp>
        <p:sp>
          <p:nvSpPr>
            <p:cNvPr id="4" name="TextBox 4"/>
            <p:cNvSpPr txBox="1"/>
            <p:nvPr/>
          </p:nvSpPr>
          <p:spPr>
            <a:xfrm>
              <a:off x="669798" y="1012508"/>
              <a:ext cx="6752844" cy="1130427"/>
            </a:xfrm>
            <a:prstGeom prst="rect">
              <a:avLst/>
            </a:prstGeom>
            <a:noFill/>
            <a:ln>
              <a:noFill/>
            </a:ln>
          </p:spPr>
          <p:txBody>
            <a:bodyPr wrap="none" lIns="0" tIns="0" rIns="0" bIns="0" anchor="t" anchorCtr="0">
              <a:spAutoFit/>
            </a:bodyPr>
            <a:lstStyle/>
            <a:p>
              <a:pPr algn="l">
                <a:lnSpc>
                  <a:spcPts val="4050"/>
                </a:lnSpc>
              </a:pPr>
              <a:r>
                <a:rPr lang="zh-CN" sz="3150" b="1" dirty="0">
                  <a:solidFill>
                    <a:schemeClr val="accent1"/>
                  </a:solidFill>
                  <a:latin typeface="+mn-lt"/>
                  <a:ea typeface="+mn-ea"/>
                  <a:cs typeface="+mn-cs"/>
                </a:rPr>
                <a:t>论文问的是政策组合如何推动扩散，</a:t>
              </a:r>
              <a:br/>
              <a:r>
                <a:rPr lang="zh-CN" sz="3150" b="1" dirty="0">
                  <a:solidFill>
                    <a:schemeClr val="accent1"/>
                  </a:solidFill>
                  <a:latin typeface="+mn-lt"/>
                  <a:ea typeface="+mn-ea"/>
                  <a:cs typeface="+mn-cs"/>
                </a:rPr>
                <a:t>我们做的是复现，再加一层 LLM</a:t>
              </a:r>
            </a:p>
          </p:txBody>
        </p:sp>
      </p:grpSp>
      <p:grpSp>
        <p:nvGrpSpPr>
          <p:cNvPr id="8" name="Group 8"/>
          <p:cNvGrpSpPr/>
          <p:nvPr/>
        </p:nvGrpSpPr>
        <p:grpSpPr>
          <a:xfrm>
            <a:off x="685800" y="2324100"/>
            <a:ext cx="7103364" cy="710184"/>
            <a:chOff x="685800" y="2324100"/>
            <a:chExt cx="7103364" cy="710184"/>
          </a:xfrm>
        </p:grpSpPr>
        <p:sp>
          <p:nvSpPr>
            <p:cNvPr id="6" name="Rectangle 6"/>
            <p:cNvSpPr/>
            <p:nvPr/>
          </p:nvSpPr>
          <p:spPr>
            <a:xfrm>
              <a:off x="685800" y="2324100"/>
              <a:ext cx="38100" cy="666750"/>
            </a:xfrm>
            <a:prstGeom prst="rect">
              <a:avLst/>
            </a:prstGeom>
            <a:solidFill>
              <a:schemeClr val="accent2"/>
            </a:solidFill>
            <a:ln>
              <a:noFill/>
            </a:ln>
          </p:spPr>
        </p:sp>
        <p:sp>
          <p:nvSpPr>
            <p:cNvPr id="7" name="TextBox 7"/>
            <p:cNvSpPr txBox="1"/>
            <p:nvPr/>
          </p:nvSpPr>
          <p:spPr>
            <a:xfrm>
              <a:off x="981456" y="2358390"/>
              <a:ext cx="6807708" cy="675894"/>
            </a:xfrm>
            <a:prstGeom prst="rect">
              <a:avLst/>
            </a:prstGeom>
            <a:noFill/>
            <a:ln>
              <a:noFill/>
            </a:ln>
          </p:spPr>
          <p:txBody>
            <a:bodyPr wrap="none" lIns="0" tIns="0" rIns="0" bIns="0" anchor="t" anchorCtr="0">
              <a:spAutoFit/>
            </a:bodyPr>
            <a:lstStyle/>
            <a:p>
              <a:pPr algn="l">
                <a:lnSpc>
                  <a:spcPts val="2550"/>
                </a:lnSpc>
              </a:pPr>
              <a:r>
                <a:rPr lang="zh-CN" sz="1800" dirty="0">
                  <a:solidFill>
                    <a:schemeClr val="accent1"/>
                  </a:solidFill>
                  <a:latin typeface="+mn-lt"/>
                  <a:ea typeface="+mn-ea"/>
                  <a:cs typeface="+mn-cs"/>
                </a:rPr>
                <a:t>研究对象：技术推动（政府研发投入）与需求拉动（上网电价 FiT）</a:t>
              </a:r>
              <a:br/>
              <a:r>
                <a:rPr lang="zh-CN" sz="1800" dirty="0">
                  <a:solidFill>
                    <a:schemeClr val="accent1"/>
                  </a:solidFill>
                  <a:latin typeface="+mn-lt"/>
                  <a:ea typeface="+mn-ea"/>
                  <a:cs typeface="+mn-cs"/>
                </a:rPr>
                <a:t>如何共同塑造德国光伏 1991–2016 的扩散轨迹。</a:t>
              </a:r>
            </a:p>
          </p:txBody>
        </p:sp>
      </p:grpSp>
      <p:grpSp>
        <p:nvGrpSpPr>
          <p:cNvPr id="18" name="Group 18"/>
          <p:cNvGrpSpPr/>
          <p:nvPr/>
        </p:nvGrpSpPr>
        <p:grpSpPr>
          <a:xfrm>
            <a:off x="673608" y="3589020"/>
            <a:ext cx="3680308" cy="2393442"/>
            <a:chOff x="673608" y="3589020"/>
            <a:chExt cx="3680308" cy="2393442"/>
          </a:xfrm>
        </p:grpSpPr>
        <p:grpSp>
          <p:nvGrpSpPr>
            <p:cNvPr id="11" name="Group 11"/>
            <p:cNvGrpSpPr/>
            <p:nvPr/>
          </p:nvGrpSpPr>
          <p:grpSpPr>
            <a:xfrm>
              <a:off x="723900" y="3638550"/>
              <a:ext cx="228599" cy="228599"/>
              <a:chOff x="723900" y="3638550"/>
              <a:chExt cx="228599" cy="228599"/>
            </a:xfrm>
          </p:grpSpPr>
          <p:sp>
            <p:nvSpPr>
              <p:cNvPr id="9" name="Freeform 9"/>
              <p:cNvSpPr/>
              <p:nvPr/>
            </p:nvSpPr>
            <p:spPr>
              <a:xfrm>
                <a:off x="787400" y="3702050"/>
                <a:ext cx="101600" cy="101600"/>
              </a:xfrm>
              <a:custGeom>
                <a:avLst/>
                <a:gdLst/>
                <a:ahLst/>
                <a:cxnLst/>
                <a:rect l="l" t="t" r="r" b="b"/>
                <a:pathLst>
                  <a:path w="101600" h="101600">
                    <a:moveTo>
                      <a:pt x="0" y="50800"/>
                    </a:moveTo>
                    <a:cubicBezTo>
                      <a:pt x="0" y="78856"/>
                      <a:pt x="22744" y="101600"/>
                      <a:pt x="50800" y="101600"/>
                    </a:cubicBezTo>
                    <a:cubicBezTo>
                      <a:pt x="78856" y="101600"/>
                      <a:pt x="101600" y="78856"/>
                      <a:pt x="101600" y="50800"/>
                    </a:cubicBezTo>
                    <a:cubicBezTo>
                      <a:pt x="101600" y="22744"/>
                      <a:pt x="78856" y="0"/>
                      <a:pt x="50800" y="0"/>
                    </a:cubicBezTo>
                    <a:cubicBezTo>
                      <a:pt x="22744" y="0"/>
                      <a:pt x="0" y="22744"/>
                      <a:pt x="0" y="50800"/>
                    </a:cubicBezTo>
                  </a:path>
                </a:pathLst>
              </a:custGeom>
              <a:noFill/>
              <a:ln w="25400">
                <a:solidFill>
                  <a:schemeClr val="accent2"/>
                </a:solidFill>
              </a:ln>
            </p:spPr>
          </p:sp>
          <p:sp>
            <p:nvSpPr>
              <p:cNvPr id="10" name="Freeform 10"/>
              <p:cNvSpPr/>
              <p:nvPr/>
            </p:nvSpPr>
            <p:spPr>
              <a:xfrm>
                <a:off x="723900" y="3638550"/>
                <a:ext cx="228599" cy="228599"/>
              </a:xfrm>
              <a:custGeom>
                <a:avLst/>
                <a:gdLst/>
                <a:ahLst/>
                <a:cxnLst/>
                <a:rect l="l" t="t" r="r" b="b"/>
                <a:pathLst>
                  <a:path w="228599" h="228599">
                    <a:moveTo>
                      <a:pt x="0" y="114300"/>
                    </a:moveTo>
                    <a:lnTo>
                      <a:pt x="12700" y="114300"/>
                    </a:lnTo>
                    <a:moveTo>
                      <a:pt x="114300" y="0"/>
                    </a:moveTo>
                    <a:lnTo>
                      <a:pt x="114300" y="12700"/>
                    </a:lnTo>
                    <a:moveTo>
                      <a:pt x="215899" y="114300"/>
                    </a:moveTo>
                    <a:lnTo>
                      <a:pt x="228599" y="114300"/>
                    </a:lnTo>
                    <a:moveTo>
                      <a:pt x="114300" y="215899"/>
                    </a:moveTo>
                    <a:lnTo>
                      <a:pt x="114300" y="228599"/>
                    </a:lnTo>
                    <a:moveTo>
                      <a:pt x="33020" y="33020"/>
                    </a:moveTo>
                    <a:lnTo>
                      <a:pt x="41910" y="41910"/>
                    </a:lnTo>
                    <a:moveTo>
                      <a:pt x="195580" y="33020"/>
                    </a:moveTo>
                    <a:lnTo>
                      <a:pt x="186690" y="41910"/>
                    </a:lnTo>
                    <a:moveTo>
                      <a:pt x="186690" y="186690"/>
                    </a:moveTo>
                    <a:lnTo>
                      <a:pt x="195580" y="195580"/>
                    </a:lnTo>
                    <a:moveTo>
                      <a:pt x="41910" y="186690"/>
                    </a:moveTo>
                    <a:lnTo>
                      <a:pt x="33020" y="195580"/>
                    </a:lnTo>
                  </a:path>
                </a:pathLst>
              </a:custGeom>
              <a:noFill/>
              <a:ln w="25400">
                <a:solidFill>
                  <a:schemeClr val="accent2"/>
                </a:solidFill>
              </a:ln>
            </p:spPr>
          </p:sp>
        </p:grpSp>
        <p:sp>
          <p:nvSpPr>
            <p:cNvPr id="12" name="TextBox 12"/>
            <p:cNvSpPr txBox="1"/>
            <p:nvPr/>
          </p:nvSpPr>
          <p:spPr>
            <a:xfrm>
              <a:off x="1130808" y="3589020"/>
              <a:ext cx="2657551"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主线一 · 模型复现</a:t>
              </a:r>
            </a:p>
          </p:txBody>
        </p:sp>
        <p:sp>
          <p:nvSpPr>
            <p:cNvPr id="13" name="TextBox 13"/>
            <p:cNvSpPr txBox="1"/>
            <p:nvPr/>
          </p:nvSpPr>
          <p:spPr>
            <a:xfrm>
              <a:off x="676656" y="4168140"/>
              <a:ext cx="3641141"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复现论文补充材料中的完整 ABM</a:t>
              </a:r>
            </a:p>
          </p:txBody>
        </p:sp>
        <p:sp>
          <p:nvSpPr>
            <p:cNvPr id="14" name="TextBox 14"/>
            <p:cNvSpPr txBox="1"/>
            <p:nvPr/>
          </p:nvSpPr>
          <p:spPr>
            <a:xfrm>
              <a:off x="676656" y="4568190"/>
              <a:ext cx="3677260"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三类主体 + 宏观观察者，312 个月</a:t>
              </a:r>
            </a:p>
          </p:txBody>
        </p:sp>
        <p:sp>
          <p:nvSpPr>
            <p:cNvPr id="15" name="TextBox 15"/>
            <p:cNvSpPr txBox="1"/>
            <p:nvPr/>
          </p:nvSpPr>
          <p:spPr>
            <a:xfrm>
              <a:off x="676656" y="4968240"/>
              <a:ext cx="269382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三份 SI 参数表逐项对齐</a:t>
              </a:r>
            </a:p>
          </p:txBody>
        </p:sp>
        <p:sp>
          <p:nvSpPr>
            <p:cNvPr id="16" name="TextBox 16"/>
            <p:cNvSpPr txBox="1"/>
            <p:nvPr/>
          </p:nvSpPr>
          <p:spPr>
            <a:xfrm>
              <a:off x="673608" y="5513070"/>
              <a:ext cx="940338" cy="469392"/>
            </a:xfrm>
            <a:prstGeom prst="rect">
              <a:avLst/>
            </a:prstGeom>
            <a:noFill/>
            <a:ln>
              <a:noFill/>
            </a:ln>
          </p:spPr>
          <p:txBody>
            <a:bodyPr wrap="none" lIns="0" tIns="0" rIns="0" bIns="0" anchor="t" anchorCtr="0">
              <a:spAutoFit/>
            </a:bodyPr>
            <a:lstStyle/>
            <a:p>
              <a:pPr algn="l"/>
              <a:r>
                <a:rPr lang="zh-CN" sz="2400" b="1" dirty="0">
                  <a:solidFill>
                    <a:schemeClr val="accent2"/>
                  </a:solidFill>
                  <a:latin typeface="Consolas"/>
                  <a:ea typeface="Consolas"/>
                  <a:cs typeface="Consolas"/>
                </a:rPr>
                <a:t>≈ 95%</a:t>
              </a:r>
            </a:p>
          </p:txBody>
        </p:sp>
        <p:sp>
          <p:nvSpPr>
            <p:cNvPr id="17" name="TextBox 17"/>
            <p:cNvSpPr txBox="1"/>
            <p:nvPr/>
          </p:nvSpPr>
          <p:spPr>
            <a:xfrm>
              <a:off x="2012442" y="5626418"/>
              <a:ext cx="922401" cy="264033"/>
            </a:xfrm>
            <a:prstGeom prst="rect">
              <a:avLst/>
            </a:prstGeom>
            <a:noFill/>
            <a:ln>
              <a:noFill/>
            </a:ln>
          </p:spPr>
          <p:txBody>
            <a:bodyPr wrap="none" lIns="0" tIns="0" rIns="0" bIns="0" anchor="t" anchorCtr="0">
              <a:spAutoFit/>
            </a:bodyPr>
            <a:lstStyle/>
            <a:p>
              <a:pPr algn="l"/>
              <a:r>
                <a:rPr lang="zh-CN" sz="1350" dirty="0">
                  <a:solidFill>
                    <a:schemeClr val="dk1">
                      <a:alphaMod val="85000"/>
                    </a:schemeClr>
                  </a:solidFill>
                  <a:latin typeface="+mn-lt"/>
                  <a:ea typeface="+mn-ea"/>
                  <a:cs typeface="+mn-cs"/>
                </a:rPr>
                <a:t>当前完成度</a:t>
              </a:r>
            </a:p>
          </p:txBody>
        </p:sp>
      </p:grpSp>
      <p:sp>
        <p:nvSpPr>
          <p:cNvPr id="19" name="Line 19"/>
          <p:cNvSpPr/>
          <p:nvPr/>
        </p:nvSpPr>
        <p:spPr>
          <a:xfrm>
            <a:off x="6477000" y="3676650"/>
            <a:ext cx="9525" cy="2266950"/>
          </a:xfrm>
          <a:custGeom>
            <a:avLst/>
            <a:gdLst/>
            <a:ahLst/>
            <a:cxnLst/>
            <a:rect l="l" t="t" r="r" b="b"/>
            <a:pathLst>
              <a:path w="9525" h="2266950">
                <a:moveTo>
                  <a:pt x="0" y="0"/>
                </a:moveTo>
                <a:lnTo>
                  <a:pt x="0" y="2266950"/>
                </a:lnTo>
              </a:path>
            </a:pathLst>
          </a:custGeom>
          <a:noFill/>
          <a:ln w="9525">
            <a:solidFill>
              <a:schemeClr val="accent1">
                <a:alpha val="22000"/>
              </a:schemeClr>
            </a:solidFill>
          </a:ln>
        </p:spPr>
      </p:sp>
      <p:grpSp>
        <p:nvGrpSpPr>
          <p:cNvPr id="36" name="Group 36"/>
          <p:cNvGrpSpPr/>
          <p:nvPr/>
        </p:nvGrpSpPr>
        <p:grpSpPr>
          <a:xfrm>
            <a:off x="6922008" y="3589020"/>
            <a:ext cx="4233062" cy="2393442"/>
            <a:chOff x="6922008" y="3589020"/>
            <a:chExt cx="4233062" cy="2393442"/>
          </a:xfrm>
        </p:grpSpPr>
        <p:grpSp>
          <p:nvGrpSpPr>
            <p:cNvPr id="29" name="Group 29"/>
            <p:cNvGrpSpPr/>
            <p:nvPr/>
          </p:nvGrpSpPr>
          <p:grpSpPr>
            <a:xfrm>
              <a:off x="6997700" y="3625850"/>
              <a:ext cx="177800" cy="241300"/>
              <a:chOff x="6997700" y="3625850"/>
              <a:chExt cx="177800" cy="241300"/>
            </a:xfrm>
          </p:grpSpPr>
          <p:sp>
            <p:nvSpPr>
              <p:cNvPr id="20" name="Freeform 20"/>
              <p:cNvSpPr/>
              <p:nvPr/>
            </p:nvSpPr>
            <p:spPr>
              <a:xfrm>
                <a:off x="7010400" y="3651250"/>
                <a:ext cx="152400" cy="101600"/>
              </a:xfrm>
              <a:custGeom>
                <a:avLst/>
                <a:gdLst/>
                <a:ahLst/>
                <a:cxnLst/>
                <a:rect l="l" t="t" r="r" b="b"/>
                <a:pathLst>
                  <a:path w="152400" h="101600">
                    <a:moveTo>
                      <a:pt x="0" y="25400"/>
                    </a:moveTo>
                    <a:cubicBezTo>
                      <a:pt x="0" y="11372"/>
                      <a:pt x="11372" y="0"/>
                      <a:pt x="25400" y="0"/>
                    </a:cubicBezTo>
                    <a:lnTo>
                      <a:pt x="127000" y="0"/>
                    </a:lnTo>
                    <a:cubicBezTo>
                      <a:pt x="141028" y="0"/>
                      <a:pt x="152400" y="11372"/>
                      <a:pt x="152400" y="25400"/>
                    </a:cubicBezTo>
                    <a:lnTo>
                      <a:pt x="152400" y="76200"/>
                    </a:lnTo>
                    <a:cubicBezTo>
                      <a:pt x="152400" y="90228"/>
                      <a:pt x="141028" y="101600"/>
                      <a:pt x="127000" y="101600"/>
                    </a:cubicBezTo>
                    <a:lnTo>
                      <a:pt x="25400" y="101600"/>
                    </a:lnTo>
                    <a:cubicBezTo>
                      <a:pt x="11372" y="101600"/>
                      <a:pt x="0" y="90228"/>
                      <a:pt x="0" y="76200"/>
                    </a:cubicBezTo>
                    <a:lnTo>
                      <a:pt x="0" y="25400"/>
                    </a:lnTo>
                  </a:path>
                </a:pathLst>
              </a:custGeom>
              <a:noFill/>
              <a:ln w="25400">
                <a:solidFill>
                  <a:schemeClr val="accent3"/>
                </a:solidFill>
              </a:ln>
            </p:spPr>
          </p:sp>
          <p:sp>
            <p:nvSpPr>
              <p:cNvPr id="21" name="Freeform 21"/>
              <p:cNvSpPr/>
              <p:nvPr/>
            </p:nvSpPr>
            <p:spPr>
              <a:xfrm>
                <a:off x="7086600" y="3625850"/>
                <a:ext cx="9525" cy="25400"/>
              </a:xfrm>
              <a:custGeom>
                <a:avLst/>
                <a:gdLst/>
                <a:ahLst/>
                <a:cxnLst/>
                <a:rect l="l" t="t" r="r" b="b"/>
                <a:pathLst>
                  <a:path w="9525" h="25400">
                    <a:moveTo>
                      <a:pt x="0" y="0"/>
                    </a:moveTo>
                    <a:lnTo>
                      <a:pt x="0" y="25400"/>
                    </a:lnTo>
                  </a:path>
                </a:pathLst>
              </a:custGeom>
              <a:noFill/>
              <a:ln w="25400">
                <a:solidFill>
                  <a:schemeClr val="accent3"/>
                </a:solidFill>
              </a:ln>
            </p:spPr>
          </p:sp>
          <p:sp>
            <p:nvSpPr>
              <p:cNvPr id="22" name="Freeform 22"/>
              <p:cNvSpPr/>
              <p:nvPr/>
            </p:nvSpPr>
            <p:spPr>
              <a:xfrm>
                <a:off x="7048500" y="3752850"/>
                <a:ext cx="9525" cy="114300"/>
              </a:xfrm>
              <a:custGeom>
                <a:avLst/>
                <a:gdLst/>
                <a:ahLst/>
                <a:cxnLst/>
                <a:rect l="l" t="t" r="r" b="b"/>
                <a:pathLst>
                  <a:path w="9525" h="114300">
                    <a:moveTo>
                      <a:pt x="0" y="0"/>
                    </a:moveTo>
                    <a:lnTo>
                      <a:pt x="0" y="114300"/>
                    </a:lnTo>
                  </a:path>
                </a:pathLst>
              </a:custGeom>
              <a:noFill/>
              <a:ln w="25400">
                <a:solidFill>
                  <a:schemeClr val="accent3"/>
                </a:solidFill>
              </a:ln>
            </p:spPr>
          </p:sp>
          <p:sp>
            <p:nvSpPr>
              <p:cNvPr id="23" name="Freeform 23"/>
              <p:cNvSpPr/>
              <p:nvPr/>
            </p:nvSpPr>
            <p:spPr>
              <a:xfrm>
                <a:off x="7124700" y="3752850"/>
                <a:ext cx="9525" cy="114300"/>
              </a:xfrm>
              <a:custGeom>
                <a:avLst/>
                <a:gdLst/>
                <a:ahLst/>
                <a:cxnLst/>
                <a:rect l="l" t="t" r="r" b="b"/>
                <a:pathLst>
                  <a:path w="9525" h="114300">
                    <a:moveTo>
                      <a:pt x="0" y="0"/>
                    </a:moveTo>
                    <a:lnTo>
                      <a:pt x="0" y="114300"/>
                    </a:lnTo>
                  </a:path>
                </a:pathLst>
              </a:custGeom>
              <a:noFill/>
              <a:ln w="25400">
                <a:solidFill>
                  <a:schemeClr val="accent3"/>
                </a:solidFill>
              </a:ln>
            </p:spPr>
          </p:sp>
          <p:sp>
            <p:nvSpPr>
              <p:cNvPr id="24" name="Freeform 24"/>
              <p:cNvSpPr/>
              <p:nvPr/>
            </p:nvSpPr>
            <p:spPr>
              <a:xfrm>
                <a:off x="6997700" y="3778250"/>
                <a:ext cx="50800" cy="25400"/>
              </a:xfrm>
              <a:custGeom>
                <a:avLst/>
                <a:gdLst/>
                <a:ahLst/>
                <a:cxnLst/>
                <a:rect l="l" t="t" r="r" b="b"/>
                <a:pathLst>
                  <a:path w="50800" h="25400">
                    <a:moveTo>
                      <a:pt x="0" y="25400"/>
                    </a:moveTo>
                    <a:lnTo>
                      <a:pt x="50800" y="0"/>
                    </a:lnTo>
                  </a:path>
                </a:pathLst>
              </a:custGeom>
              <a:noFill/>
              <a:ln w="25400">
                <a:solidFill>
                  <a:schemeClr val="accent3"/>
                </a:solidFill>
              </a:ln>
            </p:spPr>
          </p:sp>
          <p:sp>
            <p:nvSpPr>
              <p:cNvPr id="25" name="Freeform 25"/>
              <p:cNvSpPr/>
              <p:nvPr/>
            </p:nvSpPr>
            <p:spPr>
              <a:xfrm>
                <a:off x="7124700" y="3778250"/>
                <a:ext cx="50800" cy="25400"/>
              </a:xfrm>
              <a:custGeom>
                <a:avLst/>
                <a:gdLst/>
                <a:ahLst/>
                <a:cxnLst/>
                <a:rect l="l" t="t" r="r" b="b"/>
                <a:pathLst>
                  <a:path w="50800" h="25400">
                    <a:moveTo>
                      <a:pt x="0" y="0"/>
                    </a:moveTo>
                    <a:lnTo>
                      <a:pt x="50800" y="25400"/>
                    </a:lnTo>
                  </a:path>
                </a:pathLst>
              </a:custGeom>
              <a:noFill/>
              <a:ln w="25400">
                <a:solidFill>
                  <a:schemeClr val="accent3"/>
                </a:solidFill>
              </a:ln>
            </p:spPr>
          </p:sp>
          <p:sp>
            <p:nvSpPr>
              <p:cNvPr id="26" name="Freeform 26"/>
              <p:cNvSpPr/>
              <p:nvPr/>
            </p:nvSpPr>
            <p:spPr>
              <a:xfrm>
                <a:off x="7048500" y="3829049"/>
                <a:ext cx="76200" cy="9525"/>
              </a:xfrm>
              <a:custGeom>
                <a:avLst/>
                <a:gdLst/>
                <a:ahLst/>
                <a:cxnLst/>
                <a:rect l="l" t="t" r="r" b="b"/>
                <a:pathLst>
                  <a:path w="76200" h="9525">
                    <a:moveTo>
                      <a:pt x="0" y="0"/>
                    </a:moveTo>
                    <a:lnTo>
                      <a:pt x="76200" y="0"/>
                    </a:lnTo>
                  </a:path>
                </a:pathLst>
              </a:custGeom>
              <a:noFill/>
              <a:ln w="25400">
                <a:solidFill>
                  <a:schemeClr val="accent3"/>
                </a:solidFill>
              </a:ln>
            </p:spPr>
          </p:sp>
          <p:sp>
            <p:nvSpPr>
              <p:cNvPr id="27" name="Freeform 27"/>
              <p:cNvSpPr/>
              <p:nvPr/>
            </p:nvSpPr>
            <p:spPr>
              <a:xfrm>
                <a:off x="7061200" y="3702050"/>
                <a:ext cx="9525" cy="9525"/>
              </a:xfrm>
              <a:custGeom>
                <a:avLst/>
                <a:gdLst/>
                <a:ahLst/>
                <a:cxnLst/>
                <a:rect l="l" t="t" r="r" b="b"/>
                <a:pathLst>
                  <a:path w="9525" h="9525">
                    <a:moveTo>
                      <a:pt x="0" y="0"/>
                    </a:moveTo>
                    <a:lnTo>
                      <a:pt x="0" y="127"/>
                    </a:lnTo>
                  </a:path>
                </a:pathLst>
              </a:custGeom>
              <a:noFill/>
              <a:ln w="25400">
                <a:solidFill>
                  <a:schemeClr val="accent3"/>
                </a:solidFill>
              </a:ln>
            </p:spPr>
          </p:sp>
          <p:sp>
            <p:nvSpPr>
              <p:cNvPr id="28" name="Freeform 28"/>
              <p:cNvSpPr/>
              <p:nvPr/>
            </p:nvSpPr>
            <p:spPr>
              <a:xfrm>
                <a:off x="7112000" y="3702050"/>
                <a:ext cx="9525" cy="9525"/>
              </a:xfrm>
              <a:custGeom>
                <a:avLst/>
                <a:gdLst/>
                <a:ahLst/>
                <a:cxnLst/>
                <a:rect l="l" t="t" r="r" b="b"/>
                <a:pathLst>
                  <a:path w="9525" h="9525">
                    <a:moveTo>
                      <a:pt x="0" y="0"/>
                    </a:moveTo>
                    <a:lnTo>
                      <a:pt x="0" y="127"/>
                    </a:lnTo>
                  </a:path>
                </a:pathLst>
              </a:custGeom>
              <a:noFill/>
              <a:ln w="25400">
                <a:solidFill>
                  <a:schemeClr val="accent3"/>
                </a:solidFill>
              </a:ln>
            </p:spPr>
          </p:sp>
        </p:grpSp>
        <p:sp>
          <p:nvSpPr>
            <p:cNvPr id="30" name="TextBox 30"/>
            <p:cNvSpPr txBox="1"/>
            <p:nvPr/>
          </p:nvSpPr>
          <p:spPr>
            <a:xfrm>
              <a:off x="7379208" y="3589020"/>
              <a:ext cx="2857805"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主线二 · LLM 增强</a:t>
              </a:r>
            </a:p>
          </p:txBody>
        </p:sp>
        <p:sp>
          <p:nvSpPr>
            <p:cNvPr id="31" name="TextBox 31"/>
            <p:cNvSpPr txBox="1"/>
            <p:nvPr/>
          </p:nvSpPr>
          <p:spPr>
            <a:xfrm>
              <a:off x="6925056" y="4168140"/>
              <a:ext cx="4230014"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制造商与采用者的决策改由 LLM 完成</a:t>
              </a:r>
            </a:p>
          </p:txBody>
        </p:sp>
        <p:sp>
          <p:nvSpPr>
            <p:cNvPr id="32" name="TextBox 32"/>
            <p:cNvSpPr txBox="1"/>
            <p:nvPr/>
          </p:nvSpPr>
          <p:spPr>
            <a:xfrm>
              <a:off x="6925056" y="4568190"/>
              <a:ext cx="3895344"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带对话记忆、工具调用与结构化校验</a:t>
              </a:r>
            </a:p>
          </p:txBody>
        </p:sp>
        <p:sp>
          <p:nvSpPr>
            <p:cNvPr id="33" name="TextBox 33"/>
            <p:cNvSpPr txBox="1"/>
            <p:nvPr/>
          </p:nvSpPr>
          <p:spPr>
            <a:xfrm>
              <a:off x="6925056" y="4968240"/>
              <a:ext cx="3895344"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任何失败自动回退公式，模型不停摆</a:t>
              </a:r>
            </a:p>
          </p:txBody>
        </p:sp>
        <p:sp>
          <p:nvSpPr>
            <p:cNvPr id="34" name="TextBox 34"/>
            <p:cNvSpPr txBox="1"/>
            <p:nvPr/>
          </p:nvSpPr>
          <p:spPr>
            <a:xfrm>
              <a:off x="6922008" y="5513070"/>
              <a:ext cx="940338" cy="469392"/>
            </a:xfrm>
            <a:prstGeom prst="rect">
              <a:avLst/>
            </a:prstGeom>
            <a:noFill/>
            <a:ln>
              <a:noFill/>
            </a:ln>
          </p:spPr>
          <p:txBody>
            <a:bodyPr wrap="none" lIns="0" tIns="0" rIns="0" bIns="0" anchor="t" anchorCtr="0">
              <a:spAutoFit/>
            </a:bodyPr>
            <a:lstStyle/>
            <a:p>
              <a:pPr algn="l"/>
              <a:r>
                <a:rPr lang="zh-CN" sz="2400" b="1" dirty="0">
                  <a:solidFill>
                    <a:schemeClr val="accent3"/>
                  </a:solidFill>
                  <a:latin typeface="Consolas"/>
                  <a:ea typeface="Consolas"/>
                  <a:cs typeface="Consolas"/>
                </a:rPr>
                <a:t>≈ 75%</a:t>
              </a:r>
            </a:p>
          </p:txBody>
        </p:sp>
        <p:sp>
          <p:nvSpPr>
            <p:cNvPr id="35" name="TextBox 35"/>
            <p:cNvSpPr txBox="1"/>
            <p:nvPr/>
          </p:nvSpPr>
          <p:spPr>
            <a:xfrm>
              <a:off x="8260842" y="5626418"/>
              <a:ext cx="922401" cy="264033"/>
            </a:xfrm>
            <a:prstGeom prst="rect">
              <a:avLst/>
            </a:prstGeom>
            <a:noFill/>
            <a:ln>
              <a:noFill/>
            </a:ln>
          </p:spPr>
          <p:txBody>
            <a:bodyPr wrap="none" lIns="0" tIns="0" rIns="0" bIns="0" anchor="t" anchorCtr="0">
              <a:spAutoFit/>
            </a:bodyPr>
            <a:lstStyle/>
            <a:p>
              <a:pPr algn="l"/>
              <a:r>
                <a:rPr lang="zh-CN" sz="1350" dirty="0">
                  <a:solidFill>
                    <a:schemeClr val="dk1">
                      <a:alphaMod val="85000"/>
                    </a:schemeClr>
                  </a:solidFill>
                  <a:latin typeface="+mn-lt"/>
                  <a:ea typeface="+mn-ea"/>
                  <a:cs typeface="+mn-cs"/>
                </a:rPr>
                <a:t>当前完成度</a:t>
              </a:r>
            </a:p>
          </p:txBody>
        </p:sp>
      </p:grpSp>
      <p:grpSp>
        <p:nvGrpSpPr>
          <p:cNvPr id="40" name="Group 40"/>
          <p:cNvGrpSpPr/>
          <p:nvPr/>
        </p:nvGrpSpPr>
        <p:grpSpPr>
          <a:xfrm>
            <a:off x="679704" y="6286500"/>
            <a:ext cx="10832592" cy="390906"/>
            <a:chOff x="679704" y="6286500"/>
            <a:chExt cx="10832592" cy="390906"/>
          </a:xfrm>
        </p:grpSpPr>
        <p:sp>
          <p:nvSpPr>
            <p:cNvPr id="37" name="Line 37"/>
            <p:cNvSpPr/>
            <p:nvPr/>
          </p:nvSpPr>
          <p:spPr>
            <a:xfrm>
              <a:off x="685800" y="6286500"/>
              <a:ext cx="10820400" cy="9525"/>
            </a:xfrm>
            <a:custGeom>
              <a:avLst/>
              <a:gdLst/>
              <a:ahLst/>
              <a:cxnLst/>
              <a:rect l="l" t="t" r="r" b="b"/>
              <a:pathLst>
                <a:path w="10820400" h="9525">
                  <a:moveTo>
                    <a:pt x="0" y="0"/>
                  </a:moveTo>
                  <a:lnTo>
                    <a:pt x="10820400" y="0"/>
                  </a:lnTo>
                </a:path>
              </a:pathLst>
            </a:custGeom>
            <a:noFill/>
            <a:ln w="9525">
              <a:solidFill>
                <a:schemeClr val="accent1">
                  <a:alpha val="30000"/>
                </a:schemeClr>
              </a:solidFill>
            </a:ln>
          </p:spPr>
        </p:sp>
        <p:sp>
          <p:nvSpPr>
            <p:cNvPr id="38" name="TextBox 38"/>
            <p:cNvSpPr txBox="1"/>
            <p:nvPr/>
          </p:nvSpPr>
          <p:spPr>
            <a:xfrm>
              <a:off x="679704" y="6442710"/>
              <a:ext cx="5907359" cy="234696"/>
            </a:xfrm>
            <a:prstGeom prst="rect">
              <a:avLst/>
            </a:prstGeom>
            <a:noFill/>
            <a:ln>
              <a:noFill/>
            </a:ln>
          </p:spPr>
          <p:txBody>
            <a:bodyPr wrap="none" lIns="0" tIns="0" rIns="0" bIns="0" anchor="t" anchorCtr="0">
              <a:spAutoFit/>
            </a:bodyPr>
            <a:lstStyle/>
            <a:p>
              <a:pPr algn="l"/>
              <a:r>
                <a:rPr lang="zh-CN" sz="1200" dirty="0">
                  <a:solidFill>
                    <a:schemeClr val="dk1">
                      <a:alphaMod val="72000"/>
                    </a:schemeClr>
                  </a:solidFill>
                  <a:latin typeface="+mn-lt"/>
                  <a:ea typeface="+mn-ea"/>
                  <a:cs typeface="+mn-cs"/>
                </a:rPr>
                <a:t>来源：论文补充材料（Supplementary Information）与仓库 README／系统说明</a:t>
              </a:r>
            </a:p>
          </p:txBody>
        </p:sp>
        <p:sp>
          <p:nvSpPr>
            <p:cNvPr id="39" name="TextBox 39"/>
            <p:cNvSpPr txBox="1"/>
            <p:nvPr/>
          </p:nvSpPr>
          <p:spPr>
            <a:xfrm>
              <a:off x="10958932" y="6442710"/>
              <a:ext cx="553364" cy="234696"/>
            </a:xfrm>
            <a:prstGeom prst="rect">
              <a:avLst/>
            </a:prstGeom>
            <a:noFill/>
            <a:ln>
              <a:noFill/>
            </a:ln>
          </p:spPr>
          <p:txBody>
            <a:bodyPr wrap="none" lIns="0" tIns="0" rIns="0" bIns="0" anchor="t" anchorCtr="0">
              <a:spAutoFit/>
            </a:bodyPr>
            <a:lstStyle/>
            <a:p>
              <a:pPr algn="r"/>
              <a:r>
                <a:rPr lang="zh-CN" sz="1200" dirty="0">
                  <a:solidFill>
                    <a:schemeClr val="dk1">
                      <a:alphaMod val="72000"/>
                    </a:schemeClr>
                  </a:solidFill>
                  <a:latin typeface="+mn-lt"/>
                  <a:ea typeface="+mn-ea"/>
                  <a:cs typeface="+mn-cs"/>
                </a:rPr>
                <a:t>03 / 14</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669798" y="552450"/>
            <a:ext cx="10836402" cy="1076135"/>
            <a:chOff x="669798" y="552450"/>
            <a:chExt cx="10836402" cy="1076135"/>
          </a:xfrm>
        </p:grpSpPr>
        <p:sp>
          <p:nvSpPr>
            <p:cNvPr id="2" name="Rectangle 2"/>
            <p:cNvSpPr/>
            <p:nvPr/>
          </p:nvSpPr>
          <p:spPr>
            <a:xfrm>
              <a:off x="685800" y="552450"/>
              <a:ext cx="533400" cy="38100"/>
            </a:xfrm>
            <a:prstGeom prst="rect">
              <a:avLst/>
            </a:prstGeom>
            <a:solidFill>
              <a:schemeClr val="accent2"/>
            </a:solidFill>
            <a:ln>
              <a:noFill/>
            </a:ln>
          </p:spPr>
        </p:sp>
        <p:sp>
          <p:nvSpPr>
            <p:cNvPr id="3" name="TextBox 3"/>
            <p:cNvSpPr txBox="1"/>
            <p:nvPr/>
          </p:nvSpPr>
          <p:spPr>
            <a:xfrm>
              <a:off x="678942" y="768668"/>
              <a:ext cx="1780337" cy="264033"/>
            </a:xfrm>
            <a:prstGeom prst="rect">
              <a:avLst/>
            </a:prstGeom>
            <a:noFill/>
            <a:ln>
              <a:noFill/>
            </a:ln>
          </p:spPr>
          <p:txBody>
            <a:bodyPr wrap="none" lIns="0" tIns="0" rIns="0" bIns="0" anchor="t" anchorCtr="0">
              <a:spAutoFit/>
            </a:bodyPr>
            <a:lstStyle/>
            <a:p>
              <a:pPr algn="l"/>
              <a:r>
                <a:rPr lang="zh-CN" sz="1350" dirty="0">
                  <a:solidFill>
                    <a:schemeClr val="accent1">
                      <a:alphaMod val="78000"/>
                    </a:schemeClr>
                  </a:solidFill>
                  <a:latin typeface="+mn-lt"/>
                  <a:ea typeface="+mn-ea"/>
                  <a:cs typeface="+mn-cs"/>
                </a:rPr>
                <a:t>PART 1 · 项目与系统</a:t>
              </a:r>
            </a:p>
          </p:txBody>
        </p:sp>
        <p:sp>
          <p:nvSpPr>
            <p:cNvPr id="4" name="TextBox 4"/>
            <p:cNvSpPr txBox="1"/>
            <p:nvPr/>
          </p:nvSpPr>
          <p:spPr>
            <a:xfrm>
              <a:off x="669798" y="1012508"/>
              <a:ext cx="7156094"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四类角色，每个月走一遍同样的循环</a:t>
              </a:r>
            </a:p>
          </p:txBody>
        </p:sp>
        <p:sp>
          <p:nvSpPr>
            <p:cNvPr id="5" name="Line 5"/>
            <p:cNvSpPr/>
            <p:nvPr/>
          </p:nvSpPr>
          <p:spPr>
            <a:xfrm>
              <a:off x="685800" y="1600200"/>
              <a:ext cx="10820400" cy="9525"/>
            </a:xfrm>
            <a:custGeom>
              <a:avLst/>
              <a:gdLst/>
              <a:ahLst/>
              <a:cxnLst/>
              <a:rect l="l" t="t" r="r" b="b"/>
              <a:pathLst>
                <a:path w="10820400" h="9525">
                  <a:moveTo>
                    <a:pt x="0" y="0"/>
                  </a:moveTo>
                  <a:lnTo>
                    <a:pt x="10820400" y="0"/>
                  </a:lnTo>
                </a:path>
              </a:pathLst>
            </a:custGeom>
            <a:noFill/>
            <a:ln w="9525">
              <a:solidFill>
                <a:schemeClr val="accent1">
                  <a:alpha val="22000"/>
                </a:schemeClr>
              </a:solidFill>
            </a:ln>
          </p:spPr>
        </p:sp>
      </p:grpSp>
      <p:grpSp>
        <p:nvGrpSpPr>
          <p:cNvPr id="43" name="Group 43"/>
          <p:cNvGrpSpPr/>
          <p:nvPr/>
        </p:nvGrpSpPr>
        <p:grpSpPr>
          <a:xfrm>
            <a:off x="679704" y="1962150"/>
            <a:ext cx="6673596" cy="3667506"/>
            <a:chOff x="679704" y="1962150"/>
            <a:chExt cx="6673596" cy="3667506"/>
          </a:xfrm>
        </p:grpSpPr>
        <p:sp>
          <p:nvSpPr>
            <p:cNvPr id="7" name="Rectangle 7"/>
            <p:cNvSpPr/>
            <p:nvPr/>
          </p:nvSpPr>
          <p:spPr>
            <a:xfrm>
              <a:off x="685800" y="1962150"/>
              <a:ext cx="6667500" cy="533400"/>
            </a:xfrm>
            <a:prstGeom prst="rect">
              <a:avLst/>
            </a:prstGeom>
            <a:solidFill>
              <a:schemeClr val="lt2"/>
            </a:solidFill>
            <a:ln>
              <a:noFill/>
            </a:ln>
          </p:spPr>
        </p:sp>
        <p:sp>
          <p:nvSpPr>
            <p:cNvPr id="8" name="TextBox 8"/>
            <p:cNvSpPr txBox="1"/>
            <p:nvPr/>
          </p:nvSpPr>
          <p:spPr>
            <a:xfrm>
              <a:off x="869442" y="2159318"/>
              <a:ext cx="5294376" cy="264033"/>
            </a:xfrm>
            <a:prstGeom prst="rect">
              <a:avLst/>
            </a:prstGeom>
            <a:noFill/>
            <a:ln>
              <a:noFill/>
            </a:ln>
          </p:spPr>
          <p:txBody>
            <a:bodyPr wrap="none" lIns="0" tIns="0" rIns="0" bIns="0" anchor="t" anchorCtr="0">
              <a:spAutoFit/>
            </a:bodyPr>
            <a:lstStyle/>
            <a:p>
              <a:pPr algn="l"/>
              <a:r>
                <a:rPr lang="zh-CN" sz="1350" dirty="0">
                  <a:solidFill>
                    <a:schemeClr val="accent1"/>
                  </a:solidFill>
                  <a:latin typeface="+mn-lt"/>
                  <a:ea typeface="+mn-ea"/>
                  <a:cs typeface="+mn-cs"/>
                </a:rPr>
                <a:t>宏观环境：电价 · FiT · 媒体关注度 · 研发强度 · 全球累计装机</a:t>
              </a:r>
            </a:p>
          </p:txBody>
        </p:sp>
        <p:sp>
          <p:nvSpPr>
            <p:cNvPr id="9" name="Line 9"/>
            <p:cNvSpPr/>
            <p:nvPr/>
          </p:nvSpPr>
          <p:spPr>
            <a:xfrm>
              <a:off x="4019550" y="2495550"/>
              <a:ext cx="1" cy="457200"/>
            </a:xfrm>
            <a:prstGeom prst="line">
              <a:avLst/>
            </a:prstGeom>
            <a:noFill/>
            <a:ln w="19050">
              <a:solidFill>
                <a:schemeClr val="accent1"/>
              </a:solidFill>
              <a:tailEnd type="triangle" w="lg" len="lg"/>
            </a:ln>
          </p:spPr>
        </p:sp>
        <p:sp>
          <p:nvSpPr>
            <p:cNvPr id="10" name="TextBox 10"/>
            <p:cNvSpPr txBox="1"/>
            <p:nvPr/>
          </p:nvSpPr>
          <p:spPr>
            <a:xfrm>
              <a:off x="4165854" y="2651760"/>
              <a:ext cx="658368" cy="234696"/>
            </a:xfrm>
            <a:prstGeom prst="rect">
              <a:avLst/>
            </a:prstGeom>
            <a:noFill/>
            <a:ln>
              <a:noFill/>
            </a:ln>
          </p:spPr>
          <p:txBody>
            <a:bodyPr wrap="none" lIns="0" tIns="0" rIns="0" bIns="0" anchor="t" anchorCtr="0">
              <a:spAutoFit/>
            </a:bodyPr>
            <a:lstStyle/>
            <a:p>
              <a:pPr algn="l"/>
              <a:r>
                <a:rPr lang="zh-CN" sz="1200" dirty="0">
                  <a:solidFill>
                    <a:schemeClr val="dk1">
                      <a:alphaMod val="85000"/>
                    </a:schemeClr>
                  </a:solidFill>
                  <a:latin typeface="+mn-lt"/>
                  <a:ea typeface="+mn-ea"/>
                  <a:cs typeface="+mn-cs"/>
                </a:rPr>
                <a:t>外生信号</a:t>
              </a:r>
            </a:p>
          </p:txBody>
        </p:sp>
        <p:sp>
          <p:nvSpPr>
            <p:cNvPr id="11" name="Rectangle 11"/>
            <p:cNvSpPr/>
            <p:nvPr/>
          </p:nvSpPr>
          <p:spPr>
            <a:xfrm>
              <a:off x="685800" y="3067050"/>
              <a:ext cx="2000250" cy="1181100"/>
            </a:xfrm>
            <a:prstGeom prst="rect">
              <a:avLst/>
            </a:prstGeom>
            <a:solidFill>
              <a:srgbClr val="FFFFFF"/>
            </a:solidFill>
            <a:ln w="9525">
              <a:solidFill>
                <a:schemeClr val="accent5"/>
              </a:solidFill>
            </a:ln>
          </p:spPr>
        </p:sp>
        <p:grpSp>
          <p:nvGrpSpPr>
            <p:cNvPr id="16" name="Group 16"/>
            <p:cNvGrpSpPr/>
            <p:nvPr/>
          </p:nvGrpSpPr>
          <p:grpSpPr>
            <a:xfrm>
              <a:off x="912019" y="3274219"/>
              <a:ext cx="214313" cy="214313"/>
              <a:chOff x="912019" y="3274219"/>
              <a:chExt cx="214313" cy="214313"/>
            </a:xfrm>
          </p:grpSpPr>
          <p:sp>
            <p:nvSpPr>
              <p:cNvPr id="12" name="Freeform 12"/>
              <p:cNvSpPr/>
              <p:nvPr/>
            </p:nvSpPr>
            <p:spPr>
              <a:xfrm>
                <a:off x="935831" y="3274219"/>
                <a:ext cx="95250" cy="95250"/>
              </a:xfrm>
              <a:custGeom>
                <a:avLst/>
                <a:gdLst/>
                <a:ahLst/>
                <a:cxnLst/>
                <a:rect l="l" t="t" r="r" b="b"/>
                <a:pathLst>
                  <a:path w="95250" h="95250">
                    <a:moveTo>
                      <a:pt x="0" y="47625"/>
                    </a:moveTo>
                    <a:cubicBezTo>
                      <a:pt x="0" y="73928"/>
                      <a:pt x="21322" y="95250"/>
                      <a:pt x="47625" y="95250"/>
                    </a:cubicBezTo>
                    <a:cubicBezTo>
                      <a:pt x="73928" y="95250"/>
                      <a:pt x="95250" y="73928"/>
                      <a:pt x="95250" y="47625"/>
                    </a:cubicBezTo>
                    <a:cubicBezTo>
                      <a:pt x="95250" y="21322"/>
                      <a:pt x="73928" y="0"/>
                      <a:pt x="47625" y="0"/>
                    </a:cubicBezTo>
                    <a:cubicBezTo>
                      <a:pt x="21322" y="0"/>
                      <a:pt x="0" y="21322"/>
                      <a:pt x="0" y="47625"/>
                    </a:cubicBezTo>
                  </a:path>
                </a:pathLst>
              </a:custGeom>
              <a:noFill/>
              <a:ln w="23812">
                <a:solidFill>
                  <a:schemeClr val="accent2"/>
                </a:solidFill>
              </a:ln>
            </p:spPr>
          </p:sp>
          <p:sp>
            <p:nvSpPr>
              <p:cNvPr id="13" name="Freeform 13"/>
              <p:cNvSpPr/>
              <p:nvPr/>
            </p:nvSpPr>
            <p:spPr>
              <a:xfrm>
                <a:off x="912019" y="3417094"/>
                <a:ext cx="142875" cy="71438"/>
              </a:xfrm>
              <a:custGeom>
                <a:avLst/>
                <a:gdLst/>
                <a:ahLst/>
                <a:cxnLst/>
                <a:rect l="l" t="t" r="r" b="b"/>
                <a:pathLst>
                  <a:path w="142875" h="71438">
                    <a:moveTo>
                      <a:pt x="0" y="71438"/>
                    </a:moveTo>
                    <a:lnTo>
                      <a:pt x="0" y="47625"/>
                    </a:lnTo>
                    <a:cubicBezTo>
                      <a:pt x="0" y="21322"/>
                      <a:pt x="21322" y="0"/>
                      <a:pt x="47625" y="0"/>
                    </a:cubicBezTo>
                    <a:lnTo>
                      <a:pt x="95250" y="0"/>
                    </a:lnTo>
                    <a:cubicBezTo>
                      <a:pt x="121553" y="0"/>
                      <a:pt x="142875" y="21322"/>
                      <a:pt x="142875" y="47625"/>
                    </a:cubicBezTo>
                    <a:lnTo>
                      <a:pt x="142875" y="71438"/>
                    </a:lnTo>
                  </a:path>
                </a:pathLst>
              </a:custGeom>
              <a:noFill/>
              <a:ln w="23812">
                <a:solidFill>
                  <a:schemeClr val="accent2"/>
                </a:solidFill>
              </a:ln>
            </p:spPr>
          </p:sp>
          <p:sp>
            <p:nvSpPr>
              <p:cNvPr id="14" name="Freeform 14"/>
              <p:cNvSpPr/>
              <p:nvPr/>
            </p:nvSpPr>
            <p:spPr>
              <a:xfrm>
                <a:off x="1066800" y="3275767"/>
                <a:ext cx="35812" cy="92273"/>
              </a:xfrm>
              <a:custGeom>
                <a:avLst/>
                <a:gdLst/>
                <a:ahLst/>
                <a:cxnLst/>
                <a:rect l="l" t="t" r="r" b="b"/>
                <a:pathLst>
                  <a:path w="35812" h="92273">
                    <a:moveTo>
                      <a:pt x="0" y="0"/>
                    </a:moveTo>
                    <a:cubicBezTo>
                      <a:pt x="21073" y="5396"/>
                      <a:pt x="35812" y="24384"/>
                      <a:pt x="35812" y="46137"/>
                    </a:cubicBezTo>
                    <a:cubicBezTo>
                      <a:pt x="35812" y="67890"/>
                      <a:pt x="21073" y="86878"/>
                      <a:pt x="0" y="92273"/>
                    </a:cubicBezTo>
                  </a:path>
                </a:pathLst>
              </a:custGeom>
              <a:noFill/>
              <a:ln w="23812">
                <a:solidFill>
                  <a:schemeClr val="accent2"/>
                </a:solidFill>
              </a:ln>
            </p:spPr>
          </p:sp>
          <p:sp>
            <p:nvSpPr>
              <p:cNvPr id="15" name="Freeform 15"/>
              <p:cNvSpPr/>
              <p:nvPr/>
            </p:nvSpPr>
            <p:spPr>
              <a:xfrm>
                <a:off x="1090613" y="3418880"/>
                <a:ext cx="35719" cy="69652"/>
              </a:xfrm>
              <a:custGeom>
                <a:avLst/>
                <a:gdLst/>
                <a:ahLst/>
                <a:cxnLst/>
                <a:rect l="l" t="t" r="r" b="b"/>
                <a:pathLst>
                  <a:path w="35719" h="69652">
                    <a:moveTo>
                      <a:pt x="35719" y="69652"/>
                    </a:moveTo>
                    <a:lnTo>
                      <a:pt x="35719" y="45839"/>
                    </a:lnTo>
                    <a:cubicBezTo>
                      <a:pt x="35594" y="24224"/>
                      <a:pt x="20929" y="5403"/>
                      <a:pt x="0" y="0"/>
                    </a:cubicBezTo>
                  </a:path>
                </a:pathLst>
              </a:custGeom>
              <a:noFill/>
              <a:ln w="23812">
                <a:solidFill>
                  <a:schemeClr val="accent2"/>
                </a:solidFill>
              </a:ln>
            </p:spPr>
          </p:sp>
        </p:grpSp>
        <p:sp>
          <p:nvSpPr>
            <p:cNvPr id="17" name="TextBox 17"/>
            <p:cNvSpPr txBox="1"/>
            <p:nvPr/>
          </p:nvSpPr>
          <p:spPr>
            <a:xfrm>
              <a:off x="867156" y="3653790"/>
              <a:ext cx="1277725"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采用者 500</a:t>
              </a:r>
            </a:p>
          </p:txBody>
        </p:sp>
        <p:sp>
          <p:nvSpPr>
            <p:cNvPr id="18" name="TextBox 18"/>
            <p:cNvSpPr txBox="1"/>
            <p:nvPr/>
          </p:nvSpPr>
          <p:spPr>
            <a:xfrm>
              <a:off x="870204" y="3966210"/>
              <a:ext cx="1514551" cy="234696"/>
            </a:xfrm>
            <a:prstGeom prst="rect">
              <a:avLst/>
            </a:prstGeom>
            <a:noFill/>
            <a:ln>
              <a:noFill/>
            </a:ln>
          </p:spPr>
          <p:txBody>
            <a:bodyPr wrap="none" lIns="0" tIns="0" rIns="0" bIns="0" anchor="t" anchorCtr="0">
              <a:spAutoFit/>
            </a:bodyPr>
            <a:lstStyle/>
            <a:p>
              <a:pPr algn="l"/>
              <a:r>
                <a:rPr lang="zh-CN" sz="1200" dirty="0">
                  <a:solidFill>
                    <a:schemeClr val="dk1">
                      <a:alphaMod val="85000"/>
                    </a:schemeClr>
                  </a:solidFill>
                  <a:latin typeface="+mn-lt"/>
                  <a:ea typeface="+mn-ea"/>
                  <a:cs typeface="+mn-cs"/>
                </a:rPr>
                <a:t>住宅 / 工商业 / 电站</a:t>
              </a:r>
            </a:p>
          </p:txBody>
        </p:sp>
        <p:sp>
          <p:nvSpPr>
            <p:cNvPr id="19" name="Rectangle 19"/>
            <p:cNvSpPr/>
            <p:nvPr/>
          </p:nvSpPr>
          <p:spPr>
            <a:xfrm>
              <a:off x="3019425" y="3067050"/>
              <a:ext cx="2000250" cy="1181100"/>
            </a:xfrm>
            <a:prstGeom prst="rect">
              <a:avLst/>
            </a:prstGeom>
            <a:solidFill>
              <a:srgbClr val="FFFFFF"/>
            </a:solidFill>
            <a:ln w="9525">
              <a:solidFill>
                <a:schemeClr val="accent5"/>
              </a:solidFill>
            </a:ln>
          </p:spPr>
        </p:sp>
        <p:grpSp>
          <p:nvGrpSpPr>
            <p:cNvPr id="23" name="Group 23"/>
            <p:cNvGrpSpPr/>
            <p:nvPr/>
          </p:nvGrpSpPr>
          <p:grpSpPr>
            <a:xfrm>
              <a:off x="3245644" y="3274219"/>
              <a:ext cx="214312" cy="214312"/>
              <a:chOff x="3245644" y="3274219"/>
              <a:chExt cx="214312" cy="214312"/>
            </a:xfrm>
          </p:grpSpPr>
          <p:sp>
            <p:nvSpPr>
              <p:cNvPr id="20" name="Freeform 20"/>
              <p:cNvSpPr/>
              <p:nvPr/>
            </p:nvSpPr>
            <p:spPr>
              <a:xfrm>
                <a:off x="3245644" y="3440906"/>
                <a:ext cx="47625" cy="47625"/>
              </a:xfrm>
              <a:custGeom>
                <a:avLst/>
                <a:gdLst/>
                <a:ahLst/>
                <a:cxnLst/>
                <a:rect l="l" t="t" r="r" b="b"/>
                <a:pathLst>
                  <a:path w="47625" h="47625">
                    <a:moveTo>
                      <a:pt x="0" y="23812"/>
                    </a:moveTo>
                    <a:cubicBezTo>
                      <a:pt x="0" y="36964"/>
                      <a:pt x="10661" y="47625"/>
                      <a:pt x="23812" y="47625"/>
                    </a:cubicBezTo>
                    <a:cubicBezTo>
                      <a:pt x="36964" y="47625"/>
                      <a:pt x="47625" y="36964"/>
                      <a:pt x="47625" y="23812"/>
                    </a:cubicBezTo>
                    <a:cubicBezTo>
                      <a:pt x="47625" y="10661"/>
                      <a:pt x="36964" y="0"/>
                      <a:pt x="23812" y="0"/>
                    </a:cubicBezTo>
                    <a:cubicBezTo>
                      <a:pt x="10661" y="0"/>
                      <a:pt x="0" y="10661"/>
                      <a:pt x="0" y="23812"/>
                    </a:cubicBezTo>
                  </a:path>
                </a:pathLst>
              </a:custGeom>
              <a:noFill/>
              <a:ln w="23812">
                <a:solidFill>
                  <a:schemeClr val="accent3"/>
                </a:solidFill>
              </a:ln>
            </p:spPr>
          </p:sp>
          <p:sp>
            <p:nvSpPr>
              <p:cNvPr id="21" name="Freeform 21"/>
              <p:cNvSpPr/>
              <p:nvPr/>
            </p:nvSpPr>
            <p:spPr>
              <a:xfrm>
                <a:off x="3412331" y="3274219"/>
                <a:ext cx="47625" cy="47625"/>
              </a:xfrm>
              <a:custGeom>
                <a:avLst/>
                <a:gdLst/>
                <a:ahLst/>
                <a:cxnLst/>
                <a:rect l="l" t="t" r="r" b="b"/>
                <a:pathLst>
                  <a:path w="47625" h="47625">
                    <a:moveTo>
                      <a:pt x="23812" y="47625"/>
                    </a:moveTo>
                    <a:cubicBezTo>
                      <a:pt x="36964" y="47625"/>
                      <a:pt x="47625" y="36964"/>
                      <a:pt x="47625" y="23812"/>
                    </a:cubicBezTo>
                    <a:cubicBezTo>
                      <a:pt x="47625" y="10661"/>
                      <a:pt x="36964" y="0"/>
                      <a:pt x="23812" y="0"/>
                    </a:cubicBezTo>
                    <a:cubicBezTo>
                      <a:pt x="10661" y="0"/>
                      <a:pt x="0" y="10661"/>
                      <a:pt x="0" y="23812"/>
                    </a:cubicBezTo>
                    <a:cubicBezTo>
                      <a:pt x="0" y="36964"/>
                      <a:pt x="10661" y="47625"/>
                      <a:pt x="23812" y="47625"/>
                    </a:cubicBezTo>
                  </a:path>
                </a:pathLst>
              </a:custGeom>
              <a:noFill/>
              <a:ln w="23812">
                <a:solidFill>
                  <a:schemeClr val="accent3"/>
                </a:solidFill>
              </a:ln>
            </p:spPr>
          </p:sp>
          <p:sp>
            <p:nvSpPr>
              <p:cNvPr id="22" name="Freeform 22"/>
              <p:cNvSpPr/>
              <p:nvPr/>
            </p:nvSpPr>
            <p:spPr>
              <a:xfrm>
                <a:off x="3269456" y="3298031"/>
                <a:ext cx="178594" cy="166688"/>
              </a:xfrm>
              <a:custGeom>
                <a:avLst/>
                <a:gdLst/>
                <a:ahLst/>
                <a:cxnLst/>
                <a:rect l="l" t="t" r="r" b="b"/>
                <a:pathLst>
                  <a:path w="178594" h="166688">
                    <a:moveTo>
                      <a:pt x="71438" y="166688"/>
                    </a:moveTo>
                    <a:lnTo>
                      <a:pt x="136922" y="166688"/>
                    </a:lnTo>
                    <a:cubicBezTo>
                      <a:pt x="159937" y="166688"/>
                      <a:pt x="178594" y="148030"/>
                      <a:pt x="178594" y="125016"/>
                    </a:cubicBezTo>
                    <a:cubicBezTo>
                      <a:pt x="178594" y="102001"/>
                      <a:pt x="159937" y="83344"/>
                      <a:pt x="136922" y="83344"/>
                    </a:cubicBezTo>
                    <a:lnTo>
                      <a:pt x="41672" y="83344"/>
                    </a:lnTo>
                    <a:cubicBezTo>
                      <a:pt x="18657" y="83344"/>
                      <a:pt x="0" y="64687"/>
                      <a:pt x="0" y="41672"/>
                    </a:cubicBezTo>
                    <a:cubicBezTo>
                      <a:pt x="0" y="18657"/>
                      <a:pt x="18657" y="0"/>
                      <a:pt x="41672" y="0"/>
                    </a:cubicBezTo>
                    <a:lnTo>
                      <a:pt x="95250" y="0"/>
                    </a:lnTo>
                  </a:path>
                </a:pathLst>
              </a:custGeom>
              <a:noFill/>
              <a:ln w="23812">
                <a:solidFill>
                  <a:schemeClr val="accent3"/>
                </a:solidFill>
              </a:ln>
            </p:spPr>
          </p:sp>
        </p:grpSp>
        <p:sp>
          <p:nvSpPr>
            <p:cNvPr id="24" name="TextBox 24"/>
            <p:cNvSpPr txBox="1"/>
            <p:nvPr/>
          </p:nvSpPr>
          <p:spPr>
            <a:xfrm>
              <a:off x="3200781" y="3653790"/>
              <a:ext cx="997850"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安装商 2</a:t>
              </a:r>
            </a:p>
          </p:txBody>
        </p:sp>
        <p:sp>
          <p:nvSpPr>
            <p:cNvPr id="25" name="TextBox 25"/>
            <p:cNvSpPr txBox="1"/>
            <p:nvPr/>
          </p:nvSpPr>
          <p:spPr>
            <a:xfrm>
              <a:off x="3203829" y="3966210"/>
              <a:ext cx="844144" cy="234696"/>
            </a:xfrm>
            <a:prstGeom prst="rect">
              <a:avLst/>
            </a:prstGeom>
            <a:noFill/>
            <a:ln>
              <a:noFill/>
            </a:ln>
          </p:spPr>
          <p:txBody>
            <a:bodyPr wrap="none" lIns="0" tIns="0" rIns="0" bIns="0" anchor="t" anchorCtr="0">
              <a:spAutoFit/>
            </a:bodyPr>
            <a:lstStyle/>
            <a:p>
              <a:pPr algn="l"/>
              <a:r>
                <a:rPr lang="zh-CN" sz="1200" dirty="0">
                  <a:solidFill>
                    <a:schemeClr val="dk1">
                      <a:alphaMod val="85000"/>
                    </a:schemeClr>
                  </a:solidFill>
                  <a:latin typeface="+mn-lt"/>
                  <a:ea typeface="+mn-ea"/>
                  <a:cs typeface="+mn-cs"/>
                </a:rPr>
                <a:t>国内 / 国外</a:t>
              </a:r>
            </a:p>
          </p:txBody>
        </p:sp>
        <p:sp>
          <p:nvSpPr>
            <p:cNvPr id="26" name="Rectangle 26"/>
            <p:cNvSpPr/>
            <p:nvPr/>
          </p:nvSpPr>
          <p:spPr>
            <a:xfrm>
              <a:off x="5353050" y="3067050"/>
              <a:ext cx="2000250" cy="1181100"/>
            </a:xfrm>
            <a:prstGeom prst="rect">
              <a:avLst/>
            </a:prstGeom>
            <a:solidFill>
              <a:srgbClr val="FFFFFF"/>
            </a:solidFill>
            <a:ln w="9525">
              <a:solidFill>
                <a:schemeClr val="accent5"/>
              </a:solidFill>
            </a:ln>
          </p:spPr>
        </p:sp>
        <p:grpSp>
          <p:nvGrpSpPr>
            <p:cNvPr id="31" name="Group 31"/>
            <p:cNvGrpSpPr/>
            <p:nvPr/>
          </p:nvGrpSpPr>
          <p:grpSpPr>
            <a:xfrm>
              <a:off x="5579269" y="3285928"/>
              <a:ext cx="226219" cy="212128"/>
              <a:chOff x="5579269" y="3285928"/>
              <a:chExt cx="226219" cy="212128"/>
            </a:xfrm>
          </p:grpSpPr>
          <p:sp>
            <p:nvSpPr>
              <p:cNvPr id="27" name="Freeform 27"/>
              <p:cNvSpPr/>
              <p:nvPr/>
            </p:nvSpPr>
            <p:spPr>
              <a:xfrm>
                <a:off x="5591175" y="3345656"/>
                <a:ext cx="119062" cy="142875"/>
              </a:xfrm>
              <a:custGeom>
                <a:avLst/>
                <a:gdLst/>
                <a:ahLst/>
                <a:cxnLst/>
                <a:rect l="l" t="t" r="r" b="b"/>
                <a:pathLst>
                  <a:path w="119062" h="142875">
                    <a:moveTo>
                      <a:pt x="0" y="142875"/>
                    </a:moveTo>
                    <a:cubicBezTo>
                      <a:pt x="13656" y="95012"/>
                      <a:pt x="23610" y="47304"/>
                      <a:pt x="23812" y="0"/>
                    </a:cubicBezTo>
                    <a:lnTo>
                      <a:pt x="95250" y="0"/>
                    </a:lnTo>
                    <a:cubicBezTo>
                      <a:pt x="95452" y="47304"/>
                      <a:pt x="105406" y="95012"/>
                      <a:pt x="119062" y="142875"/>
                    </a:cubicBezTo>
                  </a:path>
                </a:pathLst>
              </a:custGeom>
              <a:noFill/>
              <a:ln w="23812">
                <a:solidFill>
                  <a:schemeClr val="accent1"/>
                </a:solidFill>
              </a:ln>
            </p:spPr>
          </p:sp>
          <p:sp>
            <p:nvSpPr>
              <p:cNvPr id="28" name="Freeform 28"/>
              <p:cNvSpPr/>
              <p:nvPr/>
            </p:nvSpPr>
            <p:spPr>
              <a:xfrm>
                <a:off x="5692378" y="3393281"/>
                <a:ext cx="77391" cy="95250"/>
              </a:xfrm>
              <a:custGeom>
                <a:avLst/>
                <a:gdLst/>
                <a:ahLst/>
                <a:cxnLst/>
                <a:rect l="l" t="t" r="r" b="b"/>
                <a:pathLst>
                  <a:path w="77391" h="95250">
                    <a:moveTo>
                      <a:pt x="0" y="0"/>
                    </a:moveTo>
                    <a:lnTo>
                      <a:pt x="53578" y="0"/>
                    </a:lnTo>
                    <a:cubicBezTo>
                      <a:pt x="53876" y="31099"/>
                      <a:pt x="64222" y="63056"/>
                      <a:pt x="77391" y="95250"/>
                    </a:cubicBezTo>
                  </a:path>
                </a:pathLst>
              </a:custGeom>
              <a:noFill/>
              <a:ln w="23812">
                <a:solidFill>
                  <a:schemeClr val="accent1"/>
                </a:solidFill>
              </a:ln>
            </p:spPr>
          </p:sp>
          <p:sp>
            <p:nvSpPr>
              <p:cNvPr id="29" name="Freeform 29"/>
              <p:cNvSpPr/>
              <p:nvPr/>
            </p:nvSpPr>
            <p:spPr>
              <a:xfrm>
                <a:off x="5650706" y="3285928"/>
                <a:ext cx="142875" cy="24207"/>
              </a:xfrm>
              <a:custGeom>
                <a:avLst/>
                <a:gdLst/>
                <a:ahLst/>
                <a:cxnLst/>
                <a:rect l="l" t="t" r="r" b="b"/>
                <a:pathLst>
                  <a:path w="142875" h="24207">
                    <a:moveTo>
                      <a:pt x="0" y="12103"/>
                    </a:moveTo>
                    <a:cubicBezTo>
                      <a:pt x="5491" y="4454"/>
                      <a:pt x="14398" y="0"/>
                      <a:pt x="23812" y="197"/>
                    </a:cubicBezTo>
                    <a:cubicBezTo>
                      <a:pt x="33227" y="0"/>
                      <a:pt x="42134" y="4454"/>
                      <a:pt x="47625" y="12103"/>
                    </a:cubicBezTo>
                    <a:cubicBezTo>
                      <a:pt x="53116" y="19753"/>
                      <a:pt x="62023" y="24207"/>
                      <a:pt x="71438" y="24010"/>
                    </a:cubicBezTo>
                    <a:cubicBezTo>
                      <a:pt x="80852" y="24207"/>
                      <a:pt x="89759" y="19753"/>
                      <a:pt x="95250" y="12103"/>
                    </a:cubicBezTo>
                    <a:cubicBezTo>
                      <a:pt x="100741" y="4454"/>
                      <a:pt x="109648" y="0"/>
                      <a:pt x="119062" y="197"/>
                    </a:cubicBezTo>
                    <a:cubicBezTo>
                      <a:pt x="128477" y="0"/>
                      <a:pt x="137384" y="4454"/>
                      <a:pt x="142875" y="12103"/>
                    </a:cubicBezTo>
                  </a:path>
                </a:pathLst>
              </a:custGeom>
              <a:noFill/>
              <a:ln w="23812">
                <a:solidFill>
                  <a:schemeClr val="accent1"/>
                </a:solidFill>
              </a:ln>
            </p:spPr>
          </p:sp>
          <p:sp>
            <p:nvSpPr>
              <p:cNvPr id="30" name="Freeform 30"/>
              <p:cNvSpPr/>
              <p:nvPr/>
            </p:nvSpPr>
            <p:spPr>
              <a:xfrm>
                <a:off x="5579269" y="3488531"/>
                <a:ext cx="226219" cy="9525"/>
              </a:xfrm>
              <a:custGeom>
                <a:avLst/>
                <a:gdLst/>
                <a:ahLst/>
                <a:cxnLst/>
                <a:rect l="l" t="t" r="r" b="b"/>
                <a:pathLst>
                  <a:path w="226219" h="9525">
                    <a:moveTo>
                      <a:pt x="0" y="0"/>
                    </a:moveTo>
                    <a:lnTo>
                      <a:pt x="226219" y="0"/>
                    </a:lnTo>
                  </a:path>
                </a:pathLst>
              </a:custGeom>
              <a:noFill/>
              <a:ln w="23812">
                <a:solidFill>
                  <a:schemeClr val="accent1"/>
                </a:solidFill>
              </a:ln>
            </p:spPr>
          </p:sp>
        </p:grpSp>
        <p:sp>
          <p:nvSpPr>
            <p:cNvPr id="32" name="TextBox 32"/>
            <p:cNvSpPr txBox="1"/>
            <p:nvPr/>
          </p:nvSpPr>
          <p:spPr>
            <a:xfrm>
              <a:off x="5534406" y="3653790"/>
              <a:ext cx="997850"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制造商 2</a:t>
              </a:r>
            </a:p>
          </p:txBody>
        </p:sp>
        <p:sp>
          <p:nvSpPr>
            <p:cNvPr id="33" name="TextBox 33"/>
            <p:cNvSpPr txBox="1"/>
            <p:nvPr/>
          </p:nvSpPr>
          <p:spPr>
            <a:xfrm>
              <a:off x="5537454" y="3966210"/>
              <a:ext cx="844144" cy="234696"/>
            </a:xfrm>
            <a:prstGeom prst="rect">
              <a:avLst/>
            </a:prstGeom>
            <a:noFill/>
            <a:ln>
              <a:noFill/>
            </a:ln>
          </p:spPr>
          <p:txBody>
            <a:bodyPr wrap="none" lIns="0" tIns="0" rIns="0" bIns="0" anchor="t" anchorCtr="0">
              <a:spAutoFit/>
            </a:bodyPr>
            <a:lstStyle/>
            <a:p>
              <a:pPr algn="l"/>
              <a:r>
                <a:rPr lang="zh-CN" sz="1200" dirty="0">
                  <a:solidFill>
                    <a:schemeClr val="dk1">
                      <a:alphaMod val="85000"/>
                    </a:schemeClr>
                  </a:solidFill>
                  <a:latin typeface="+mn-lt"/>
                  <a:ea typeface="+mn-ea"/>
                  <a:cs typeface="+mn-cs"/>
                </a:rPr>
                <a:t>国内 / 国外</a:t>
              </a:r>
            </a:p>
          </p:txBody>
        </p:sp>
        <p:sp>
          <p:nvSpPr>
            <p:cNvPr id="34" name="Line 34"/>
            <p:cNvSpPr/>
            <p:nvPr/>
          </p:nvSpPr>
          <p:spPr>
            <a:xfrm>
              <a:off x="2705100" y="3657600"/>
              <a:ext cx="295275" cy="1"/>
            </a:xfrm>
            <a:prstGeom prst="line">
              <a:avLst/>
            </a:prstGeom>
            <a:noFill/>
            <a:ln w="19050">
              <a:solidFill>
                <a:schemeClr val="accent1"/>
              </a:solidFill>
              <a:tailEnd type="triangle" w="lg" len="lg"/>
            </a:ln>
          </p:spPr>
        </p:sp>
        <p:sp>
          <p:nvSpPr>
            <p:cNvPr id="35" name="TextBox 35"/>
            <p:cNvSpPr txBox="1"/>
            <p:nvPr/>
          </p:nvSpPr>
          <p:spPr>
            <a:xfrm>
              <a:off x="2699766" y="3429952"/>
              <a:ext cx="434721" cy="205359"/>
            </a:xfrm>
            <a:prstGeom prst="rect">
              <a:avLst/>
            </a:prstGeom>
            <a:noFill/>
            <a:ln>
              <a:noFill/>
            </a:ln>
          </p:spPr>
          <p:txBody>
            <a:bodyPr wrap="none" lIns="0" tIns="0" rIns="0" bIns="0" anchor="t" anchorCtr="0">
              <a:spAutoFit/>
            </a:bodyPr>
            <a:lstStyle/>
            <a:p>
              <a:pPr algn="l"/>
              <a:r>
                <a:rPr lang="zh-CN" sz="1050" dirty="0">
                  <a:solidFill>
                    <a:schemeClr val="dk1">
                      <a:alphaMod val="85000"/>
                    </a:schemeClr>
                  </a:solidFill>
                  <a:latin typeface="+mn-lt"/>
                  <a:ea typeface="+mn-ea"/>
                  <a:cs typeface="+mn-cs"/>
                </a:rPr>
                <a:t>新需求</a:t>
              </a:r>
            </a:p>
          </p:txBody>
        </p:sp>
        <p:sp>
          <p:nvSpPr>
            <p:cNvPr id="36" name="Line 36"/>
            <p:cNvSpPr/>
            <p:nvPr/>
          </p:nvSpPr>
          <p:spPr>
            <a:xfrm>
              <a:off x="5038725" y="3657600"/>
              <a:ext cx="295275" cy="1"/>
            </a:xfrm>
            <a:prstGeom prst="line">
              <a:avLst/>
            </a:prstGeom>
            <a:noFill/>
            <a:ln w="19050">
              <a:solidFill>
                <a:schemeClr val="accent1"/>
              </a:solidFill>
              <a:tailEnd type="triangle" w="lg" len="lg"/>
            </a:ln>
          </p:spPr>
        </p:sp>
        <p:sp>
          <p:nvSpPr>
            <p:cNvPr id="37" name="TextBox 37"/>
            <p:cNvSpPr txBox="1"/>
            <p:nvPr/>
          </p:nvSpPr>
          <p:spPr>
            <a:xfrm>
              <a:off x="5033391" y="3429952"/>
              <a:ext cx="717423" cy="205359"/>
            </a:xfrm>
            <a:prstGeom prst="rect">
              <a:avLst/>
            </a:prstGeom>
            <a:noFill/>
            <a:ln>
              <a:noFill/>
            </a:ln>
          </p:spPr>
          <p:txBody>
            <a:bodyPr wrap="none" lIns="0" tIns="0" rIns="0" bIns="0" anchor="t" anchorCtr="0">
              <a:spAutoFit/>
            </a:bodyPr>
            <a:lstStyle/>
            <a:p>
              <a:pPr algn="l"/>
              <a:r>
                <a:rPr lang="zh-CN" sz="1050" dirty="0">
                  <a:solidFill>
                    <a:schemeClr val="dk1">
                      <a:alphaMod val="85000"/>
                    </a:schemeClr>
                  </a:solidFill>
                  <a:latin typeface="+mn-lt"/>
                  <a:ea typeface="+mn-ea"/>
                  <a:cs typeface="+mn-cs"/>
                </a:rPr>
                <a:t>订单与价格</a:t>
              </a:r>
            </a:p>
          </p:txBody>
        </p:sp>
        <p:sp>
          <p:nvSpPr>
            <p:cNvPr id="38" name="Line 38"/>
            <p:cNvSpPr/>
            <p:nvPr/>
          </p:nvSpPr>
          <p:spPr>
            <a:xfrm>
              <a:off x="6353175" y="4248150"/>
              <a:ext cx="9525" cy="438150"/>
            </a:xfrm>
            <a:custGeom>
              <a:avLst/>
              <a:gdLst/>
              <a:ahLst/>
              <a:cxnLst/>
              <a:rect l="l" t="t" r="r" b="b"/>
              <a:pathLst>
                <a:path w="9525" h="438150">
                  <a:moveTo>
                    <a:pt x="0" y="0"/>
                  </a:moveTo>
                  <a:lnTo>
                    <a:pt x="0" y="438150"/>
                  </a:lnTo>
                </a:path>
              </a:pathLst>
            </a:custGeom>
            <a:noFill/>
            <a:ln w="19050">
              <a:solidFill>
                <a:schemeClr val="accent1">
                  <a:alpha val="55000"/>
                </a:schemeClr>
              </a:solidFill>
            </a:ln>
          </p:spPr>
        </p:sp>
        <p:sp>
          <p:nvSpPr>
            <p:cNvPr id="39" name="Line 39"/>
            <p:cNvSpPr/>
            <p:nvPr/>
          </p:nvSpPr>
          <p:spPr>
            <a:xfrm>
              <a:off x="1704975" y="4686300"/>
              <a:ext cx="4648200" cy="9525"/>
            </a:xfrm>
            <a:custGeom>
              <a:avLst/>
              <a:gdLst/>
              <a:ahLst/>
              <a:cxnLst/>
              <a:rect l="l" t="t" r="r" b="b"/>
              <a:pathLst>
                <a:path w="4648200" h="9525">
                  <a:moveTo>
                    <a:pt x="4648200" y="0"/>
                  </a:moveTo>
                  <a:lnTo>
                    <a:pt x="0" y="0"/>
                  </a:lnTo>
                </a:path>
              </a:pathLst>
            </a:custGeom>
            <a:noFill/>
            <a:ln w="19050">
              <a:solidFill>
                <a:schemeClr val="accent1">
                  <a:alpha val="55000"/>
                </a:schemeClr>
              </a:solidFill>
            </a:ln>
          </p:spPr>
        </p:sp>
        <p:sp>
          <p:nvSpPr>
            <p:cNvPr id="40" name="Line 40"/>
            <p:cNvSpPr/>
            <p:nvPr/>
          </p:nvSpPr>
          <p:spPr>
            <a:xfrm flipV="1">
              <a:off x="1685925" y="4286250"/>
              <a:ext cx="1" cy="400050"/>
            </a:xfrm>
            <a:prstGeom prst="line">
              <a:avLst/>
            </a:prstGeom>
            <a:noFill/>
            <a:ln w="19050">
              <a:solidFill>
                <a:schemeClr val="accent1"/>
              </a:solidFill>
              <a:tailEnd type="triangle" w="lg" len="lg"/>
            </a:ln>
          </p:spPr>
        </p:sp>
        <p:sp>
          <p:nvSpPr>
            <p:cNvPr id="41" name="TextBox 41"/>
            <p:cNvSpPr txBox="1"/>
            <p:nvPr/>
          </p:nvSpPr>
          <p:spPr>
            <a:xfrm>
              <a:off x="2852166" y="4801552"/>
              <a:ext cx="1565529" cy="205359"/>
            </a:xfrm>
            <a:prstGeom prst="rect">
              <a:avLst/>
            </a:prstGeom>
            <a:noFill/>
            <a:ln>
              <a:noFill/>
            </a:ln>
          </p:spPr>
          <p:txBody>
            <a:bodyPr wrap="none" lIns="0" tIns="0" rIns="0" bIns="0" anchor="t" anchorCtr="0">
              <a:spAutoFit/>
            </a:bodyPr>
            <a:lstStyle/>
            <a:p>
              <a:pPr algn="l"/>
              <a:r>
                <a:rPr lang="zh-CN" sz="1050" dirty="0">
                  <a:solidFill>
                    <a:schemeClr val="dk1">
                      <a:alphaMod val="85000"/>
                    </a:schemeClr>
                  </a:solidFill>
                  <a:latin typeface="+mn-lt"/>
                  <a:ea typeface="+mn-ea"/>
                  <a:cs typeface="+mn-cs"/>
                </a:rPr>
                <a:t>成本与价格反馈回采用者</a:t>
              </a:r>
            </a:p>
          </p:txBody>
        </p:sp>
        <p:sp>
          <p:nvSpPr>
            <p:cNvPr id="42" name="TextBox 42"/>
            <p:cNvSpPr txBox="1"/>
            <p:nvPr/>
          </p:nvSpPr>
          <p:spPr>
            <a:xfrm>
              <a:off x="679704" y="5166360"/>
              <a:ext cx="3517392" cy="463296"/>
            </a:xfrm>
            <a:prstGeom prst="rect">
              <a:avLst/>
            </a:prstGeom>
            <a:noFill/>
            <a:ln>
              <a:noFill/>
            </a:ln>
          </p:spPr>
          <p:txBody>
            <a:bodyPr wrap="none" lIns="0" tIns="0" rIns="0" bIns="0" anchor="t" anchorCtr="0">
              <a:spAutoFit/>
            </a:bodyPr>
            <a:lstStyle/>
            <a:p>
              <a:pPr algn="l">
                <a:lnSpc>
                  <a:spcPts val="1800"/>
                </a:lnSpc>
              </a:pPr>
              <a:r>
                <a:rPr lang="zh-CN" sz="1200" dirty="0">
                  <a:solidFill>
                    <a:schemeClr val="dk1">
                      <a:alphaMod val="85000"/>
                    </a:schemeClr>
                  </a:solidFill>
                  <a:latin typeface="+mn-lt"/>
                  <a:ea typeface="+mn-ea"/>
                  <a:cs typeface="+mn-cs"/>
                </a:rPr>
                <a:t>国内与国外制造商之间按知识差距比例溢出学习；</a:t>
              </a:r>
              <a:br/>
              <a:r>
                <a:rPr lang="zh-CN" sz="1200" dirty="0">
                  <a:solidFill>
                    <a:schemeClr val="dk1">
                      <a:alphaMod val="85000"/>
                    </a:schemeClr>
                  </a:solidFill>
                  <a:latin typeface="+mn-lt"/>
                  <a:ea typeface="+mn-ea"/>
                  <a:cs typeface="+mn-cs"/>
                </a:rPr>
                <a:t>采用决策与实际安装之间隔着安装队列，存在时滞。</a:t>
              </a:r>
            </a:p>
          </p:txBody>
        </p:sp>
      </p:grpSp>
      <p:grpSp>
        <p:nvGrpSpPr>
          <p:cNvPr id="53" name="Group 53"/>
          <p:cNvGrpSpPr/>
          <p:nvPr/>
        </p:nvGrpSpPr>
        <p:grpSpPr>
          <a:xfrm>
            <a:off x="7803642" y="1996440"/>
            <a:ext cx="2928366" cy="3836861"/>
            <a:chOff x="7803642" y="1996440"/>
            <a:chExt cx="2928366" cy="3836861"/>
          </a:xfrm>
        </p:grpSpPr>
        <p:grpSp>
          <p:nvGrpSpPr>
            <p:cNvPr id="47" name="Group 47"/>
            <p:cNvGrpSpPr/>
            <p:nvPr/>
          </p:nvGrpSpPr>
          <p:grpSpPr>
            <a:xfrm>
              <a:off x="7846219" y="2009775"/>
              <a:ext cx="214312" cy="190500"/>
              <a:chOff x="7846219" y="2009775"/>
              <a:chExt cx="214312" cy="190500"/>
            </a:xfrm>
          </p:grpSpPr>
          <p:sp>
            <p:nvSpPr>
              <p:cNvPr id="44" name="Freeform 44"/>
              <p:cNvSpPr/>
              <p:nvPr/>
            </p:nvSpPr>
            <p:spPr>
              <a:xfrm>
                <a:off x="7846219" y="2057400"/>
                <a:ext cx="47625" cy="95250"/>
              </a:xfrm>
              <a:custGeom>
                <a:avLst/>
                <a:gdLst/>
                <a:ahLst/>
                <a:cxnLst/>
                <a:rect l="l" t="t" r="r" b="b"/>
                <a:pathLst>
                  <a:path w="47625" h="95250">
                    <a:moveTo>
                      <a:pt x="47625" y="0"/>
                    </a:moveTo>
                    <a:lnTo>
                      <a:pt x="0" y="47625"/>
                    </a:lnTo>
                    <a:lnTo>
                      <a:pt x="47625" y="95250"/>
                    </a:lnTo>
                  </a:path>
                </a:pathLst>
              </a:custGeom>
              <a:noFill/>
              <a:ln w="23812">
                <a:solidFill>
                  <a:schemeClr val="accent3"/>
                </a:solidFill>
              </a:ln>
            </p:spPr>
          </p:sp>
          <p:sp>
            <p:nvSpPr>
              <p:cNvPr id="45" name="Freeform 45"/>
              <p:cNvSpPr/>
              <p:nvPr/>
            </p:nvSpPr>
            <p:spPr>
              <a:xfrm>
                <a:off x="8012906" y="2057400"/>
                <a:ext cx="47625" cy="95250"/>
              </a:xfrm>
              <a:custGeom>
                <a:avLst/>
                <a:gdLst/>
                <a:ahLst/>
                <a:cxnLst/>
                <a:rect l="l" t="t" r="r" b="b"/>
                <a:pathLst>
                  <a:path w="47625" h="95250">
                    <a:moveTo>
                      <a:pt x="0" y="0"/>
                    </a:moveTo>
                    <a:lnTo>
                      <a:pt x="47625" y="47625"/>
                    </a:lnTo>
                    <a:lnTo>
                      <a:pt x="0" y="95250"/>
                    </a:lnTo>
                  </a:path>
                </a:pathLst>
              </a:custGeom>
              <a:noFill/>
              <a:ln w="23812">
                <a:solidFill>
                  <a:schemeClr val="accent3"/>
                </a:solidFill>
              </a:ln>
            </p:spPr>
          </p:sp>
          <p:sp>
            <p:nvSpPr>
              <p:cNvPr id="46" name="Freeform 46"/>
              <p:cNvSpPr/>
              <p:nvPr/>
            </p:nvSpPr>
            <p:spPr>
              <a:xfrm>
                <a:off x="7929562" y="2009775"/>
                <a:ext cx="47625" cy="190500"/>
              </a:xfrm>
              <a:custGeom>
                <a:avLst/>
                <a:gdLst/>
                <a:ahLst/>
                <a:cxnLst/>
                <a:rect l="l" t="t" r="r" b="b"/>
                <a:pathLst>
                  <a:path w="47625" h="190500">
                    <a:moveTo>
                      <a:pt x="47625" y="0"/>
                    </a:moveTo>
                    <a:lnTo>
                      <a:pt x="0" y="190500"/>
                    </a:lnTo>
                  </a:path>
                </a:pathLst>
              </a:custGeom>
              <a:noFill/>
              <a:ln w="23812">
                <a:solidFill>
                  <a:schemeClr val="accent3"/>
                </a:solidFill>
              </a:ln>
            </p:spPr>
          </p:sp>
        </p:grpSp>
        <p:sp>
          <p:nvSpPr>
            <p:cNvPr id="48" name="TextBox 48"/>
            <p:cNvSpPr txBox="1"/>
            <p:nvPr/>
          </p:nvSpPr>
          <p:spPr>
            <a:xfrm>
              <a:off x="8220456" y="1996440"/>
              <a:ext cx="1290447"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规模与构成</a:t>
              </a:r>
            </a:p>
          </p:txBody>
        </p:sp>
        <p:sp>
          <p:nvSpPr>
            <p:cNvPr id="49" name="TextBox 49"/>
            <p:cNvSpPr txBox="1"/>
            <p:nvPr/>
          </p:nvSpPr>
          <p:spPr>
            <a:xfrm>
              <a:off x="7803642" y="2578418"/>
              <a:ext cx="2611184" cy="797433"/>
            </a:xfrm>
            <a:prstGeom prst="rect">
              <a:avLst/>
            </a:prstGeom>
            <a:noFill/>
            <a:ln>
              <a:noFill/>
            </a:ln>
          </p:spPr>
          <p:txBody>
            <a:bodyPr wrap="none" lIns="0" tIns="0" rIns="0" bIns="0" anchor="t" anchorCtr="0">
              <a:spAutoFit/>
            </a:bodyPr>
            <a:lstStyle/>
            <a:p>
              <a:pPr algn="l">
                <a:lnSpc>
                  <a:spcPts val="2100"/>
                </a:lnSpc>
              </a:pPr>
              <a:r>
                <a:rPr lang="zh-CN" sz="1350" dirty="0">
                  <a:solidFill>
                    <a:schemeClr val="dk1"/>
                  </a:solidFill>
                  <a:latin typeface="+mn-lt"/>
                  <a:ea typeface="+mn-ea"/>
                  <a:cs typeface="+mn-cs"/>
                </a:rPr>
                <a:t>采用者按 1:1000 缩比为 500 个，</a:t>
              </a:r>
              <a:br/>
              <a:r>
                <a:rPr lang="zh-CN" sz="1350" dirty="0">
                  <a:solidFill>
                    <a:schemeClr val="dk1"/>
                  </a:solidFill>
                  <a:latin typeface="+mn-lt"/>
                  <a:ea typeface="+mn-ea"/>
                  <a:cs typeface="+mn-cs"/>
                </a:rPr>
                <a:t>构成 住宅 81%、工商业 18.5%、</a:t>
              </a:r>
              <a:br/>
              <a:r>
                <a:rPr lang="zh-CN" sz="1350" dirty="0">
                  <a:solidFill>
                    <a:schemeClr val="dk1"/>
                  </a:solidFill>
                  <a:latin typeface="+mn-lt"/>
                  <a:ea typeface="+mn-ea"/>
                  <a:cs typeface="+mn-cs"/>
                </a:rPr>
                <a:t>电站 0.5%。</a:t>
              </a:r>
            </a:p>
          </p:txBody>
        </p:sp>
        <p:sp>
          <p:nvSpPr>
            <p:cNvPr id="50" name="TextBox 50"/>
            <p:cNvSpPr txBox="1"/>
            <p:nvPr/>
          </p:nvSpPr>
          <p:spPr>
            <a:xfrm>
              <a:off x="7803642" y="3664268"/>
              <a:ext cx="2816924" cy="530733"/>
            </a:xfrm>
            <a:prstGeom prst="rect">
              <a:avLst/>
            </a:prstGeom>
            <a:noFill/>
            <a:ln>
              <a:noFill/>
            </a:ln>
          </p:spPr>
          <p:txBody>
            <a:bodyPr wrap="none" lIns="0" tIns="0" rIns="0" bIns="0" anchor="t" anchorCtr="0">
              <a:spAutoFit/>
            </a:bodyPr>
            <a:lstStyle/>
            <a:p>
              <a:pPr algn="l">
                <a:lnSpc>
                  <a:spcPts val="2100"/>
                </a:lnSpc>
              </a:pPr>
              <a:r>
                <a:rPr lang="zh-CN" sz="1350" dirty="0">
                  <a:solidFill>
                    <a:schemeClr val="dk1"/>
                  </a:solidFill>
                  <a:latin typeface="+mn-lt"/>
                  <a:ea typeface="+mn-ea"/>
                  <a:cs typeface="+mn-cs"/>
                </a:rPr>
                <a:t>系统规模由屋顶面积 × 0.15 kWp/m²</a:t>
              </a:r>
              <a:br/>
              <a:r>
                <a:rPr lang="zh-CN" sz="1350" dirty="0">
                  <a:solidFill>
                    <a:schemeClr val="dk1"/>
                  </a:solidFill>
                  <a:latin typeface="+mn-lt"/>
                  <a:ea typeface="+mn-ea"/>
                  <a:cs typeface="+mn-cs"/>
                </a:rPr>
                <a:t>生成，再按类别的经验区间裁剪。</a:t>
              </a:r>
            </a:p>
          </p:txBody>
        </p:sp>
        <p:sp>
          <p:nvSpPr>
            <p:cNvPr id="51" name="TextBox 51"/>
            <p:cNvSpPr txBox="1"/>
            <p:nvPr/>
          </p:nvSpPr>
          <p:spPr>
            <a:xfrm>
              <a:off x="7803642" y="4483418"/>
              <a:ext cx="2928366" cy="530733"/>
            </a:xfrm>
            <a:prstGeom prst="rect">
              <a:avLst/>
            </a:prstGeom>
            <a:noFill/>
            <a:ln>
              <a:noFill/>
            </a:ln>
          </p:spPr>
          <p:txBody>
            <a:bodyPr wrap="none" lIns="0" tIns="0" rIns="0" bIns="0" anchor="t" anchorCtr="0">
              <a:spAutoFit/>
            </a:bodyPr>
            <a:lstStyle/>
            <a:p>
              <a:pPr algn="l">
                <a:lnSpc>
                  <a:spcPts val="2100"/>
                </a:lnSpc>
              </a:pPr>
              <a:r>
                <a:rPr lang="zh-CN" sz="1350" dirty="0">
                  <a:solidFill>
                    <a:schemeClr val="dk1"/>
                  </a:solidFill>
                  <a:latin typeface="+mn-lt"/>
                  <a:ea typeface="+mn-ea"/>
                  <a:cs typeface="+mn-cs"/>
                </a:rPr>
                <a:t>制造商与安装商各 2 个；截距、β 斜率</a:t>
              </a:r>
              <a:br/>
              <a:r>
                <a:rPr lang="zh-CN" sz="1350" dirty="0">
                  <a:solidFill>
                    <a:schemeClr val="dk1"/>
                  </a:solidFill>
                  <a:latin typeface="+mn-lt"/>
                  <a:ea typeface="+mn-ea"/>
                  <a:cs typeface="+mn-cs"/>
                </a:rPr>
                <a:t>与加成率全部取自论文 SI 参数表。</a:t>
              </a:r>
            </a:p>
          </p:txBody>
        </p:sp>
        <p:sp>
          <p:nvSpPr>
            <p:cNvPr id="52" name="TextBox 52"/>
            <p:cNvSpPr txBox="1"/>
            <p:nvPr/>
          </p:nvSpPr>
          <p:spPr>
            <a:xfrm>
              <a:off x="7803642" y="5302568"/>
              <a:ext cx="2928366" cy="530733"/>
            </a:xfrm>
            <a:prstGeom prst="rect">
              <a:avLst/>
            </a:prstGeom>
            <a:noFill/>
            <a:ln>
              <a:noFill/>
            </a:ln>
          </p:spPr>
          <p:txBody>
            <a:bodyPr wrap="none" lIns="0" tIns="0" rIns="0" bIns="0" anchor="t" anchorCtr="0">
              <a:spAutoFit/>
            </a:bodyPr>
            <a:lstStyle/>
            <a:p>
              <a:pPr algn="l">
                <a:lnSpc>
                  <a:spcPts val="2100"/>
                </a:lnSpc>
              </a:pPr>
              <a:r>
                <a:rPr lang="zh-CN" sz="1350" dirty="0">
                  <a:solidFill>
                    <a:schemeClr val="dk1"/>
                  </a:solidFill>
                  <a:latin typeface="+mn-lt"/>
                  <a:ea typeface="+mn-ea"/>
                  <a:cs typeface="+mn-cs"/>
                </a:rPr>
                <a:t>宏观环境每月给出 5 组外生变量，</a:t>
              </a:r>
              <a:br/>
              <a:r>
                <a:rPr lang="zh-CN" sz="1350" dirty="0">
                  <a:solidFill>
                    <a:schemeClr val="dk1"/>
                  </a:solidFill>
                  <a:latin typeface="+mn-lt"/>
                  <a:ea typeface="+mn-ea"/>
                  <a:cs typeface="+mn-cs"/>
                </a:rPr>
                <a:t>支持合成数据与真实历史数据两模式。</a:t>
              </a:r>
            </a:p>
          </p:txBody>
        </p:sp>
      </p:grpSp>
      <p:grpSp>
        <p:nvGrpSpPr>
          <p:cNvPr id="57" name="Group 57"/>
          <p:cNvGrpSpPr/>
          <p:nvPr/>
        </p:nvGrpSpPr>
        <p:grpSpPr>
          <a:xfrm>
            <a:off x="679704" y="6286500"/>
            <a:ext cx="10832592" cy="390906"/>
            <a:chOff x="679704" y="6286500"/>
            <a:chExt cx="10832592" cy="390906"/>
          </a:xfrm>
        </p:grpSpPr>
        <p:sp>
          <p:nvSpPr>
            <p:cNvPr id="54" name="Line 54"/>
            <p:cNvSpPr/>
            <p:nvPr/>
          </p:nvSpPr>
          <p:spPr>
            <a:xfrm>
              <a:off x="685800" y="6286500"/>
              <a:ext cx="10820400" cy="9525"/>
            </a:xfrm>
            <a:custGeom>
              <a:avLst/>
              <a:gdLst/>
              <a:ahLst/>
              <a:cxnLst/>
              <a:rect l="l" t="t" r="r" b="b"/>
              <a:pathLst>
                <a:path w="10820400" h="9525">
                  <a:moveTo>
                    <a:pt x="0" y="0"/>
                  </a:moveTo>
                  <a:lnTo>
                    <a:pt x="10820400" y="0"/>
                  </a:lnTo>
                </a:path>
              </a:pathLst>
            </a:custGeom>
            <a:noFill/>
            <a:ln w="9525">
              <a:solidFill>
                <a:schemeClr val="accent1">
                  <a:alpha val="30000"/>
                </a:schemeClr>
              </a:solidFill>
            </a:ln>
          </p:spPr>
        </p:sp>
        <p:sp>
          <p:nvSpPr>
            <p:cNvPr id="55" name="TextBox 55"/>
            <p:cNvSpPr txBox="1"/>
            <p:nvPr/>
          </p:nvSpPr>
          <p:spPr>
            <a:xfrm>
              <a:off x="679704" y="6442710"/>
              <a:ext cx="6393180" cy="234696"/>
            </a:xfrm>
            <a:prstGeom prst="rect">
              <a:avLst/>
            </a:prstGeom>
            <a:noFill/>
            <a:ln>
              <a:noFill/>
            </a:ln>
          </p:spPr>
          <p:txBody>
            <a:bodyPr wrap="none" lIns="0" tIns="0" rIns="0" bIns="0" anchor="t" anchorCtr="0">
              <a:spAutoFit/>
            </a:bodyPr>
            <a:lstStyle/>
            <a:p>
              <a:pPr algn="l"/>
              <a:r>
                <a:rPr lang="zh-CN" sz="1200" dirty="0">
                  <a:solidFill>
                    <a:schemeClr val="dk1">
                      <a:alphaMod val="72000"/>
                    </a:schemeClr>
                  </a:solidFill>
                  <a:latin typeface="+mn-lt"/>
                  <a:ea typeface="+mn-ea"/>
                  <a:cs typeface="+mn-cs"/>
                </a:rPr>
                <a:t>代码位置：model/solar_model.py · agents/ · environment/macro_environment.py</a:t>
              </a:r>
            </a:p>
          </p:txBody>
        </p:sp>
        <p:sp>
          <p:nvSpPr>
            <p:cNvPr id="56" name="TextBox 56"/>
            <p:cNvSpPr txBox="1"/>
            <p:nvPr/>
          </p:nvSpPr>
          <p:spPr>
            <a:xfrm>
              <a:off x="10958932" y="6442710"/>
              <a:ext cx="553364" cy="234696"/>
            </a:xfrm>
            <a:prstGeom prst="rect">
              <a:avLst/>
            </a:prstGeom>
            <a:noFill/>
            <a:ln>
              <a:noFill/>
            </a:ln>
          </p:spPr>
          <p:txBody>
            <a:bodyPr wrap="none" lIns="0" tIns="0" rIns="0" bIns="0" anchor="t" anchorCtr="0">
              <a:spAutoFit/>
            </a:bodyPr>
            <a:lstStyle/>
            <a:p>
              <a:pPr algn="r"/>
              <a:r>
                <a:rPr lang="zh-CN" sz="1200" dirty="0">
                  <a:solidFill>
                    <a:schemeClr val="dk1">
                      <a:alphaMod val="72000"/>
                    </a:schemeClr>
                  </a:solidFill>
                  <a:latin typeface="+mn-lt"/>
                  <a:ea typeface="+mn-ea"/>
                  <a:cs typeface="+mn-cs"/>
                </a:rPr>
                <a:t>04 / 14</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669798" y="552450"/>
            <a:ext cx="10836402" cy="1076135"/>
            <a:chOff x="669798" y="552450"/>
            <a:chExt cx="10836402" cy="1076135"/>
          </a:xfrm>
        </p:grpSpPr>
        <p:sp>
          <p:nvSpPr>
            <p:cNvPr id="2" name="Rectangle 2"/>
            <p:cNvSpPr/>
            <p:nvPr/>
          </p:nvSpPr>
          <p:spPr>
            <a:xfrm>
              <a:off x="685800" y="552450"/>
              <a:ext cx="533400" cy="38100"/>
            </a:xfrm>
            <a:prstGeom prst="rect">
              <a:avLst/>
            </a:prstGeom>
            <a:solidFill>
              <a:schemeClr val="accent2"/>
            </a:solidFill>
            <a:ln>
              <a:noFill/>
            </a:ln>
          </p:spPr>
        </p:sp>
        <p:sp>
          <p:nvSpPr>
            <p:cNvPr id="3" name="TextBox 3"/>
            <p:cNvSpPr txBox="1"/>
            <p:nvPr/>
          </p:nvSpPr>
          <p:spPr>
            <a:xfrm>
              <a:off x="678942" y="768668"/>
              <a:ext cx="1780337" cy="264033"/>
            </a:xfrm>
            <a:prstGeom prst="rect">
              <a:avLst/>
            </a:prstGeom>
            <a:noFill/>
            <a:ln>
              <a:noFill/>
            </a:ln>
          </p:spPr>
          <p:txBody>
            <a:bodyPr wrap="none" lIns="0" tIns="0" rIns="0" bIns="0" anchor="t" anchorCtr="0">
              <a:spAutoFit/>
            </a:bodyPr>
            <a:lstStyle/>
            <a:p>
              <a:pPr algn="l"/>
              <a:r>
                <a:rPr lang="zh-CN" sz="1350" dirty="0">
                  <a:solidFill>
                    <a:schemeClr val="accent1">
                      <a:alphaMod val="78000"/>
                    </a:schemeClr>
                  </a:solidFill>
                  <a:latin typeface="+mn-lt"/>
                  <a:ea typeface="+mn-ea"/>
                  <a:cs typeface="+mn-cs"/>
                </a:rPr>
                <a:t>PART 1 · 项目与系统</a:t>
              </a:r>
            </a:p>
          </p:txBody>
        </p:sp>
        <p:sp>
          <p:nvSpPr>
            <p:cNvPr id="4" name="TextBox 4"/>
            <p:cNvSpPr txBox="1"/>
            <p:nvPr/>
          </p:nvSpPr>
          <p:spPr>
            <a:xfrm>
              <a:off x="669798" y="1012508"/>
              <a:ext cx="7579087"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每个 tick（= 1 个月）严格按五步执行</a:t>
              </a:r>
            </a:p>
          </p:txBody>
        </p:sp>
        <p:sp>
          <p:nvSpPr>
            <p:cNvPr id="5" name="Line 5"/>
            <p:cNvSpPr/>
            <p:nvPr/>
          </p:nvSpPr>
          <p:spPr>
            <a:xfrm>
              <a:off x="685800" y="1600200"/>
              <a:ext cx="10820400" cy="9525"/>
            </a:xfrm>
            <a:custGeom>
              <a:avLst/>
              <a:gdLst/>
              <a:ahLst/>
              <a:cxnLst/>
              <a:rect l="l" t="t" r="r" b="b"/>
              <a:pathLst>
                <a:path w="10820400" h="9525">
                  <a:moveTo>
                    <a:pt x="0" y="0"/>
                  </a:moveTo>
                  <a:lnTo>
                    <a:pt x="10820400" y="0"/>
                  </a:lnTo>
                </a:path>
              </a:pathLst>
            </a:custGeom>
            <a:noFill/>
            <a:ln w="9525">
              <a:solidFill>
                <a:schemeClr val="accent1">
                  <a:alpha val="22000"/>
                </a:schemeClr>
              </a:solidFill>
            </a:ln>
          </p:spPr>
        </p:sp>
      </p:grpSp>
      <p:grpSp>
        <p:nvGrpSpPr>
          <p:cNvPr id="31" name="Group 31"/>
          <p:cNvGrpSpPr/>
          <p:nvPr/>
        </p:nvGrpSpPr>
        <p:grpSpPr>
          <a:xfrm>
            <a:off x="669798" y="2114550"/>
            <a:ext cx="10703052" cy="2042351"/>
            <a:chOff x="669798" y="2114550"/>
            <a:chExt cx="10703052" cy="2042351"/>
          </a:xfrm>
        </p:grpSpPr>
        <p:sp>
          <p:nvSpPr>
            <p:cNvPr id="7" name="Line 7"/>
            <p:cNvSpPr/>
            <p:nvPr/>
          </p:nvSpPr>
          <p:spPr>
            <a:xfrm>
              <a:off x="685800" y="2114550"/>
              <a:ext cx="2000250" cy="9525"/>
            </a:xfrm>
            <a:custGeom>
              <a:avLst/>
              <a:gdLst/>
              <a:ahLst/>
              <a:cxnLst/>
              <a:rect l="l" t="t" r="r" b="b"/>
              <a:pathLst>
                <a:path w="2000250" h="9525">
                  <a:moveTo>
                    <a:pt x="0" y="0"/>
                  </a:moveTo>
                  <a:lnTo>
                    <a:pt x="2000250" y="0"/>
                  </a:lnTo>
                </a:path>
              </a:pathLst>
            </a:custGeom>
            <a:noFill/>
            <a:ln w="19050">
              <a:solidFill>
                <a:schemeClr val="accent2"/>
              </a:solidFill>
            </a:ln>
          </p:spPr>
        </p:sp>
        <p:sp>
          <p:nvSpPr>
            <p:cNvPr id="8" name="TextBox 8"/>
            <p:cNvSpPr txBox="1"/>
            <p:nvPr/>
          </p:nvSpPr>
          <p:spPr>
            <a:xfrm>
              <a:off x="669798" y="2384108"/>
              <a:ext cx="521785" cy="616077"/>
            </a:xfrm>
            <a:prstGeom prst="rect">
              <a:avLst/>
            </a:prstGeom>
            <a:noFill/>
            <a:ln>
              <a:noFill/>
            </a:ln>
          </p:spPr>
          <p:txBody>
            <a:bodyPr wrap="none" lIns="0" tIns="0" rIns="0" bIns="0" anchor="t" anchorCtr="0">
              <a:spAutoFit/>
            </a:bodyPr>
            <a:lstStyle/>
            <a:p>
              <a:pPr algn="l"/>
              <a:r>
                <a:rPr lang="zh-CN" sz="3150" b="1" dirty="0">
                  <a:solidFill>
                    <a:schemeClr val="accent2"/>
                  </a:solidFill>
                  <a:latin typeface="Consolas"/>
                  <a:ea typeface="Consolas"/>
                  <a:cs typeface="Consolas"/>
                </a:rPr>
                <a:t>01</a:t>
              </a:r>
            </a:p>
          </p:txBody>
        </p:sp>
        <p:sp>
          <p:nvSpPr>
            <p:cNvPr id="9" name="TextBox 9"/>
            <p:cNvSpPr txBox="1"/>
            <p:nvPr/>
          </p:nvSpPr>
          <p:spPr>
            <a:xfrm>
              <a:off x="676656" y="2987040"/>
              <a:ext cx="1036015"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更新宏观</a:t>
              </a:r>
            </a:p>
          </p:txBody>
        </p:sp>
        <p:sp>
          <p:nvSpPr>
            <p:cNvPr id="10" name="TextBox 10"/>
            <p:cNvSpPr txBox="1"/>
            <p:nvPr/>
          </p:nvSpPr>
          <p:spPr>
            <a:xfrm>
              <a:off x="678942" y="3397568"/>
              <a:ext cx="1453896" cy="75933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读取当月电价、</a:t>
              </a:r>
              <a:br/>
              <a:r>
                <a:rPr lang="zh-CN" sz="1350" dirty="0">
                  <a:solidFill>
                    <a:schemeClr val="dk1"/>
                  </a:solidFill>
                  <a:latin typeface="+mn-lt"/>
                  <a:ea typeface="+mn-ea"/>
                  <a:cs typeface="+mn-cs"/>
                </a:rPr>
                <a:t>FiT、媒体关注度、</a:t>
              </a:r>
              <a:br/>
              <a:r>
                <a:rPr lang="zh-CN" sz="1350" dirty="0">
                  <a:solidFill>
                    <a:schemeClr val="dk1"/>
                  </a:solidFill>
                  <a:latin typeface="+mn-lt"/>
                  <a:ea typeface="+mn-ea"/>
                  <a:cs typeface="+mn-cs"/>
                </a:rPr>
                <a:t>研发强度</a:t>
              </a:r>
            </a:p>
          </p:txBody>
        </p:sp>
        <p:sp>
          <p:nvSpPr>
            <p:cNvPr id="11" name="Line 11"/>
            <p:cNvSpPr/>
            <p:nvPr/>
          </p:nvSpPr>
          <p:spPr>
            <a:xfrm>
              <a:off x="2724150" y="2724150"/>
              <a:ext cx="95250" cy="1"/>
            </a:xfrm>
            <a:prstGeom prst="line">
              <a:avLst/>
            </a:prstGeom>
            <a:noFill/>
            <a:ln w="19050">
              <a:solidFill>
                <a:schemeClr val="accent2"/>
              </a:solidFill>
              <a:tailEnd type="triangle" w="lg" len="lg"/>
            </a:ln>
          </p:spPr>
        </p:sp>
        <p:sp>
          <p:nvSpPr>
            <p:cNvPr id="12" name="Line 12"/>
            <p:cNvSpPr/>
            <p:nvPr/>
          </p:nvSpPr>
          <p:spPr>
            <a:xfrm>
              <a:off x="2857500" y="2114550"/>
              <a:ext cx="2000250" cy="9525"/>
            </a:xfrm>
            <a:custGeom>
              <a:avLst/>
              <a:gdLst/>
              <a:ahLst/>
              <a:cxnLst/>
              <a:rect l="l" t="t" r="r" b="b"/>
              <a:pathLst>
                <a:path w="2000250" h="9525">
                  <a:moveTo>
                    <a:pt x="0" y="0"/>
                  </a:moveTo>
                  <a:lnTo>
                    <a:pt x="2000250" y="0"/>
                  </a:lnTo>
                </a:path>
              </a:pathLst>
            </a:custGeom>
            <a:noFill/>
            <a:ln w="19050">
              <a:solidFill>
                <a:schemeClr val="accent2"/>
              </a:solidFill>
            </a:ln>
          </p:spPr>
        </p:sp>
        <p:sp>
          <p:nvSpPr>
            <p:cNvPr id="13" name="TextBox 13"/>
            <p:cNvSpPr txBox="1"/>
            <p:nvPr/>
          </p:nvSpPr>
          <p:spPr>
            <a:xfrm>
              <a:off x="2841498" y="2384108"/>
              <a:ext cx="521785" cy="616077"/>
            </a:xfrm>
            <a:prstGeom prst="rect">
              <a:avLst/>
            </a:prstGeom>
            <a:noFill/>
            <a:ln>
              <a:noFill/>
            </a:ln>
          </p:spPr>
          <p:txBody>
            <a:bodyPr wrap="none" lIns="0" tIns="0" rIns="0" bIns="0" anchor="t" anchorCtr="0">
              <a:spAutoFit/>
            </a:bodyPr>
            <a:lstStyle/>
            <a:p>
              <a:pPr algn="l"/>
              <a:r>
                <a:rPr lang="zh-CN" sz="3150" b="1" dirty="0">
                  <a:solidFill>
                    <a:schemeClr val="accent2"/>
                  </a:solidFill>
                  <a:latin typeface="Consolas"/>
                  <a:ea typeface="Consolas"/>
                  <a:cs typeface="Consolas"/>
                </a:rPr>
                <a:t>02</a:t>
              </a:r>
            </a:p>
          </p:txBody>
        </p:sp>
        <p:sp>
          <p:nvSpPr>
            <p:cNvPr id="14" name="TextBox 14"/>
            <p:cNvSpPr txBox="1"/>
            <p:nvPr/>
          </p:nvSpPr>
          <p:spPr>
            <a:xfrm>
              <a:off x="2848356" y="2987040"/>
              <a:ext cx="1290447"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采用者决策</a:t>
              </a:r>
            </a:p>
          </p:txBody>
        </p:sp>
        <p:sp>
          <p:nvSpPr>
            <p:cNvPr id="15" name="TextBox 15"/>
            <p:cNvSpPr txBox="1"/>
            <p:nvPr/>
          </p:nvSpPr>
          <p:spPr>
            <a:xfrm>
              <a:off x="2850642" y="3397568"/>
              <a:ext cx="1385316" cy="75933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未安装者评估是否</a:t>
              </a:r>
              <a:br/>
              <a:r>
                <a:rPr lang="zh-CN" sz="1350" dirty="0">
                  <a:solidFill>
                    <a:schemeClr val="dk1"/>
                  </a:solidFill>
                  <a:latin typeface="+mn-lt"/>
                  <a:ea typeface="+mn-ea"/>
                  <a:cs typeface="+mn-cs"/>
                </a:rPr>
                <a:t>安装，新需求进入</a:t>
              </a:r>
              <a:br/>
              <a:r>
                <a:rPr lang="zh-CN" sz="1350" dirty="0">
                  <a:solidFill>
                    <a:schemeClr val="dk1"/>
                  </a:solidFill>
                  <a:latin typeface="+mn-lt"/>
                  <a:ea typeface="+mn-ea"/>
                  <a:cs typeface="+mn-cs"/>
                </a:rPr>
                <a:t>待安装队列</a:t>
              </a:r>
            </a:p>
          </p:txBody>
        </p:sp>
        <p:sp>
          <p:nvSpPr>
            <p:cNvPr id="16" name="Line 16"/>
            <p:cNvSpPr/>
            <p:nvPr/>
          </p:nvSpPr>
          <p:spPr>
            <a:xfrm>
              <a:off x="4895850" y="2724150"/>
              <a:ext cx="95250" cy="1"/>
            </a:xfrm>
            <a:prstGeom prst="line">
              <a:avLst/>
            </a:prstGeom>
            <a:noFill/>
            <a:ln w="19050">
              <a:solidFill>
                <a:schemeClr val="accent2"/>
              </a:solidFill>
              <a:tailEnd type="triangle" w="lg" len="lg"/>
            </a:ln>
          </p:spPr>
        </p:sp>
        <p:sp>
          <p:nvSpPr>
            <p:cNvPr id="17" name="Line 17"/>
            <p:cNvSpPr/>
            <p:nvPr/>
          </p:nvSpPr>
          <p:spPr>
            <a:xfrm>
              <a:off x="5029200" y="2114550"/>
              <a:ext cx="2000250" cy="9525"/>
            </a:xfrm>
            <a:custGeom>
              <a:avLst/>
              <a:gdLst/>
              <a:ahLst/>
              <a:cxnLst/>
              <a:rect l="l" t="t" r="r" b="b"/>
              <a:pathLst>
                <a:path w="2000250" h="9525">
                  <a:moveTo>
                    <a:pt x="0" y="0"/>
                  </a:moveTo>
                  <a:lnTo>
                    <a:pt x="2000250" y="0"/>
                  </a:lnTo>
                </a:path>
              </a:pathLst>
            </a:custGeom>
            <a:noFill/>
            <a:ln w="19050">
              <a:solidFill>
                <a:schemeClr val="accent2"/>
              </a:solidFill>
            </a:ln>
          </p:spPr>
        </p:sp>
        <p:sp>
          <p:nvSpPr>
            <p:cNvPr id="18" name="TextBox 18"/>
            <p:cNvSpPr txBox="1"/>
            <p:nvPr/>
          </p:nvSpPr>
          <p:spPr>
            <a:xfrm>
              <a:off x="5013198" y="2384108"/>
              <a:ext cx="521785" cy="616077"/>
            </a:xfrm>
            <a:prstGeom prst="rect">
              <a:avLst/>
            </a:prstGeom>
            <a:noFill/>
            <a:ln>
              <a:noFill/>
            </a:ln>
          </p:spPr>
          <p:txBody>
            <a:bodyPr wrap="none" lIns="0" tIns="0" rIns="0" bIns="0" anchor="t" anchorCtr="0">
              <a:spAutoFit/>
            </a:bodyPr>
            <a:lstStyle/>
            <a:p>
              <a:pPr algn="l"/>
              <a:r>
                <a:rPr lang="zh-CN" sz="3150" b="1" dirty="0">
                  <a:solidFill>
                    <a:schemeClr val="accent2"/>
                  </a:solidFill>
                  <a:latin typeface="Consolas"/>
                  <a:ea typeface="Consolas"/>
                  <a:cs typeface="Consolas"/>
                </a:rPr>
                <a:t>03</a:t>
              </a:r>
            </a:p>
          </p:txBody>
        </p:sp>
        <p:sp>
          <p:nvSpPr>
            <p:cNvPr id="19" name="TextBox 19"/>
            <p:cNvSpPr txBox="1"/>
            <p:nvPr/>
          </p:nvSpPr>
          <p:spPr>
            <a:xfrm>
              <a:off x="5020056" y="2987040"/>
              <a:ext cx="1290447"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安装商响应</a:t>
              </a:r>
            </a:p>
          </p:txBody>
        </p:sp>
        <p:sp>
          <p:nvSpPr>
            <p:cNvPr id="20" name="TextBox 20"/>
            <p:cNvSpPr txBox="1"/>
            <p:nvPr/>
          </p:nvSpPr>
          <p:spPr>
            <a:xfrm>
              <a:off x="5022342" y="3397568"/>
              <a:ext cx="1385316" cy="75933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按产能消化订单，</a:t>
              </a:r>
              <a:br/>
              <a:r>
                <a:rPr lang="zh-CN" sz="1350" dirty="0">
                  <a:solidFill>
                    <a:schemeClr val="dk1"/>
                  </a:solidFill>
                  <a:latin typeface="+mn-lt"/>
                  <a:ea typeface="+mn-ea"/>
                  <a:cs typeface="+mn-cs"/>
                </a:rPr>
                <a:t>调整用工与非组件</a:t>
              </a:r>
              <a:br/>
              <a:r>
                <a:rPr lang="zh-CN" sz="1350" dirty="0">
                  <a:solidFill>
                    <a:schemeClr val="dk1"/>
                  </a:solidFill>
                  <a:latin typeface="+mn-lt"/>
                  <a:ea typeface="+mn-ea"/>
                  <a:cs typeface="+mn-cs"/>
                </a:rPr>
                <a:t>成本报价</a:t>
              </a:r>
            </a:p>
          </p:txBody>
        </p:sp>
        <p:sp>
          <p:nvSpPr>
            <p:cNvPr id="21" name="Line 21"/>
            <p:cNvSpPr/>
            <p:nvPr/>
          </p:nvSpPr>
          <p:spPr>
            <a:xfrm>
              <a:off x="7067550" y="2724150"/>
              <a:ext cx="95250" cy="1"/>
            </a:xfrm>
            <a:prstGeom prst="line">
              <a:avLst/>
            </a:prstGeom>
            <a:noFill/>
            <a:ln w="19050">
              <a:solidFill>
                <a:schemeClr val="accent2"/>
              </a:solidFill>
              <a:tailEnd type="triangle" w="lg" len="lg"/>
            </a:ln>
          </p:spPr>
        </p:sp>
        <p:sp>
          <p:nvSpPr>
            <p:cNvPr id="22" name="Line 22"/>
            <p:cNvSpPr/>
            <p:nvPr/>
          </p:nvSpPr>
          <p:spPr>
            <a:xfrm>
              <a:off x="7200900" y="2114550"/>
              <a:ext cx="2000250" cy="9525"/>
            </a:xfrm>
            <a:custGeom>
              <a:avLst/>
              <a:gdLst/>
              <a:ahLst/>
              <a:cxnLst/>
              <a:rect l="l" t="t" r="r" b="b"/>
              <a:pathLst>
                <a:path w="2000250" h="9525">
                  <a:moveTo>
                    <a:pt x="0" y="0"/>
                  </a:moveTo>
                  <a:lnTo>
                    <a:pt x="2000250" y="0"/>
                  </a:lnTo>
                </a:path>
              </a:pathLst>
            </a:custGeom>
            <a:noFill/>
            <a:ln w="19050">
              <a:solidFill>
                <a:schemeClr val="accent2"/>
              </a:solidFill>
            </a:ln>
          </p:spPr>
        </p:sp>
        <p:sp>
          <p:nvSpPr>
            <p:cNvPr id="23" name="TextBox 23"/>
            <p:cNvSpPr txBox="1"/>
            <p:nvPr/>
          </p:nvSpPr>
          <p:spPr>
            <a:xfrm>
              <a:off x="7184898" y="2384108"/>
              <a:ext cx="521785" cy="616077"/>
            </a:xfrm>
            <a:prstGeom prst="rect">
              <a:avLst/>
            </a:prstGeom>
            <a:noFill/>
            <a:ln>
              <a:noFill/>
            </a:ln>
          </p:spPr>
          <p:txBody>
            <a:bodyPr wrap="none" lIns="0" tIns="0" rIns="0" bIns="0" anchor="t" anchorCtr="0">
              <a:spAutoFit/>
            </a:bodyPr>
            <a:lstStyle/>
            <a:p>
              <a:pPr algn="l"/>
              <a:r>
                <a:rPr lang="zh-CN" sz="3150" b="1" dirty="0">
                  <a:solidFill>
                    <a:schemeClr val="accent2"/>
                  </a:solidFill>
                  <a:latin typeface="Consolas"/>
                  <a:ea typeface="Consolas"/>
                  <a:cs typeface="Consolas"/>
                </a:rPr>
                <a:t>04</a:t>
              </a:r>
            </a:p>
          </p:txBody>
        </p:sp>
        <p:sp>
          <p:nvSpPr>
            <p:cNvPr id="24" name="TextBox 24"/>
            <p:cNvSpPr txBox="1"/>
            <p:nvPr/>
          </p:nvSpPr>
          <p:spPr>
            <a:xfrm>
              <a:off x="7191756" y="2987040"/>
              <a:ext cx="1290447"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制造商更新</a:t>
              </a:r>
            </a:p>
          </p:txBody>
        </p:sp>
        <p:sp>
          <p:nvSpPr>
            <p:cNvPr id="25" name="TextBox 25"/>
            <p:cNvSpPr txBox="1"/>
            <p:nvPr/>
          </p:nvSpPr>
          <p:spPr>
            <a:xfrm>
              <a:off x="7194042" y="3397568"/>
              <a:ext cx="1556766" cy="75933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结算累计产量、更新</a:t>
              </a:r>
              <a:br/>
              <a:r>
                <a:rPr lang="zh-CN" sz="1350" dirty="0">
                  <a:solidFill>
                    <a:schemeClr val="dk1"/>
                  </a:solidFill>
                  <a:latin typeface="+mn-lt"/>
                  <a:ea typeface="+mn-ea"/>
                  <a:cs typeface="+mn-cs"/>
                </a:rPr>
                <a:t>知识存量，按经验</a:t>
              </a:r>
              <a:br/>
              <a:r>
                <a:rPr lang="zh-CN" sz="1350" dirty="0">
                  <a:solidFill>
                    <a:schemeClr val="dk1"/>
                  </a:solidFill>
                  <a:latin typeface="+mn-lt"/>
                  <a:ea typeface="+mn-ea"/>
                  <a:cs typeface="+mn-cs"/>
                </a:rPr>
                <a:t>曲线更新成本</a:t>
              </a:r>
            </a:p>
          </p:txBody>
        </p:sp>
        <p:sp>
          <p:nvSpPr>
            <p:cNvPr id="26" name="Line 26"/>
            <p:cNvSpPr/>
            <p:nvPr/>
          </p:nvSpPr>
          <p:spPr>
            <a:xfrm>
              <a:off x="9239250" y="2724150"/>
              <a:ext cx="95250" cy="1"/>
            </a:xfrm>
            <a:prstGeom prst="line">
              <a:avLst/>
            </a:prstGeom>
            <a:noFill/>
            <a:ln w="19050">
              <a:solidFill>
                <a:schemeClr val="accent2"/>
              </a:solidFill>
              <a:tailEnd type="triangle" w="lg" len="lg"/>
            </a:ln>
          </p:spPr>
        </p:sp>
        <p:sp>
          <p:nvSpPr>
            <p:cNvPr id="27" name="Line 27"/>
            <p:cNvSpPr/>
            <p:nvPr/>
          </p:nvSpPr>
          <p:spPr>
            <a:xfrm>
              <a:off x="9372600" y="2114550"/>
              <a:ext cx="2000250" cy="9525"/>
            </a:xfrm>
            <a:custGeom>
              <a:avLst/>
              <a:gdLst/>
              <a:ahLst/>
              <a:cxnLst/>
              <a:rect l="l" t="t" r="r" b="b"/>
              <a:pathLst>
                <a:path w="2000250" h="9525">
                  <a:moveTo>
                    <a:pt x="0" y="0"/>
                  </a:moveTo>
                  <a:lnTo>
                    <a:pt x="2000250" y="0"/>
                  </a:lnTo>
                </a:path>
              </a:pathLst>
            </a:custGeom>
            <a:noFill/>
            <a:ln w="19050">
              <a:solidFill>
                <a:schemeClr val="accent2"/>
              </a:solidFill>
            </a:ln>
          </p:spPr>
        </p:sp>
        <p:sp>
          <p:nvSpPr>
            <p:cNvPr id="28" name="TextBox 28"/>
            <p:cNvSpPr txBox="1"/>
            <p:nvPr/>
          </p:nvSpPr>
          <p:spPr>
            <a:xfrm>
              <a:off x="9356598" y="2384108"/>
              <a:ext cx="521785" cy="616077"/>
            </a:xfrm>
            <a:prstGeom prst="rect">
              <a:avLst/>
            </a:prstGeom>
            <a:noFill/>
            <a:ln>
              <a:noFill/>
            </a:ln>
          </p:spPr>
          <p:txBody>
            <a:bodyPr wrap="none" lIns="0" tIns="0" rIns="0" bIns="0" anchor="t" anchorCtr="0">
              <a:spAutoFit/>
            </a:bodyPr>
            <a:lstStyle/>
            <a:p>
              <a:pPr algn="l"/>
              <a:r>
                <a:rPr lang="zh-CN" sz="3150" b="1" dirty="0">
                  <a:solidFill>
                    <a:schemeClr val="accent2"/>
                  </a:solidFill>
                  <a:latin typeface="Consolas"/>
                  <a:ea typeface="Consolas"/>
                  <a:cs typeface="Consolas"/>
                </a:rPr>
                <a:t>05</a:t>
              </a:r>
            </a:p>
          </p:txBody>
        </p:sp>
        <p:sp>
          <p:nvSpPr>
            <p:cNvPr id="29" name="TextBox 29"/>
            <p:cNvSpPr txBox="1"/>
            <p:nvPr/>
          </p:nvSpPr>
          <p:spPr>
            <a:xfrm>
              <a:off x="9363456" y="2987040"/>
              <a:ext cx="1036015"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时钟推进</a:t>
              </a:r>
            </a:p>
          </p:txBody>
        </p:sp>
        <p:sp>
          <p:nvSpPr>
            <p:cNvPr id="30" name="TextBox 30"/>
            <p:cNvSpPr txBox="1"/>
            <p:nvPr/>
          </p:nvSpPr>
          <p:spPr>
            <a:xfrm>
              <a:off x="9365742" y="3397568"/>
              <a:ext cx="1385316" cy="75933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记录装机量、就业</a:t>
              </a:r>
              <a:br/>
              <a:r>
                <a:rPr lang="zh-CN" sz="1350" dirty="0">
                  <a:solidFill>
                    <a:schemeClr val="dk1"/>
                  </a:solidFill>
                  <a:latin typeface="+mn-lt"/>
                  <a:ea typeface="+mn-ea"/>
                  <a:cs typeface="+mn-cs"/>
                </a:rPr>
                <a:t>与价格，进入下一</a:t>
              </a:r>
              <a:br/>
              <a:r>
                <a:rPr lang="zh-CN" sz="1350" dirty="0">
                  <a:solidFill>
                    <a:schemeClr val="dk1"/>
                  </a:solidFill>
                  <a:latin typeface="+mn-lt"/>
                  <a:ea typeface="+mn-ea"/>
                  <a:cs typeface="+mn-cs"/>
                </a:rPr>
                <a:t>个月</a:t>
              </a:r>
            </a:p>
          </p:txBody>
        </p:sp>
      </p:grpSp>
      <p:grpSp>
        <p:nvGrpSpPr>
          <p:cNvPr id="34" name="Group 34"/>
          <p:cNvGrpSpPr/>
          <p:nvPr/>
        </p:nvGrpSpPr>
        <p:grpSpPr>
          <a:xfrm>
            <a:off x="685800" y="5314950"/>
            <a:ext cx="8369808" cy="613601"/>
            <a:chOff x="685800" y="5314950"/>
            <a:chExt cx="8369808" cy="613601"/>
          </a:xfrm>
        </p:grpSpPr>
        <p:sp>
          <p:nvSpPr>
            <p:cNvPr id="32" name="Rectangle 32"/>
            <p:cNvSpPr/>
            <p:nvPr/>
          </p:nvSpPr>
          <p:spPr>
            <a:xfrm>
              <a:off x="685800" y="5314950"/>
              <a:ext cx="38100" cy="571500"/>
            </a:xfrm>
            <a:prstGeom prst="rect">
              <a:avLst/>
            </a:prstGeom>
            <a:solidFill>
              <a:schemeClr val="accent2"/>
            </a:solidFill>
            <a:ln>
              <a:noFill/>
            </a:ln>
          </p:spPr>
        </p:sp>
        <p:sp>
          <p:nvSpPr>
            <p:cNvPr id="33" name="TextBox 33"/>
            <p:cNvSpPr txBox="1"/>
            <p:nvPr/>
          </p:nvSpPr>
          <p:spPr>
            <a:xfrm>
              <a:off x="983742" y="5397818"/>
              <a:ext cx="8071866" cy="530733"/>
            </a:xfrm>
            <a:prstGeom prst="rect">
              <a:avLst/>
            </a:prstGeom>
            <a:noFill/>
            <a:ln>
              <a:noFill/>
            </a:ln>
          </p:spPr>
          <p:txBody>
            <a:bodyPr wrap="none" lIns="0" tIns="0" rIns="0" bIns="0" anchor="t" anchorCtr="0">
              <a:spAutoFit/>
            </a:bodyPr>
            <a:lstStyle/>
            <a:p>
              <a:pPr algn="l">
                <a:lnSpc>
                  <a:spcPts val="2100"/>
                </a:lnSpc>
              </a:pPr>
              <a:r>
                <a:rPr lang="zh-CN" sz="1350" dirty="0">
                  <a:solidFill>
                    <a:schemeClr val="accent1"/>
                  </a:solidFill>
                  <a:latin typeface="+mn-lt"/>
                  <a:ea typeface="+mn-ea"/>
                  <a:cs typeface="+mn-cs"/>
                </a:rPr>
                <a:t>顺序不可颠倒：宏观变量先更新，采用者当月决策、安装商当月响应，制造商在本月销量结算后更新成本。</a:t>
              </a:r>
              <a:br/>
              <a:r>
                <a:rPr lang="zh-CN" sz="1350" dirty="0">
                  <a:solidFill>
                    <a:schemeClr val="accent1"/>
                  </a:solidFill>
                  <a:latin typeface="+mn-lt"/>
                  <a:ea typeface="+mn-ea"/>
                  <a:cs typeface="+mn-cs"/>
                </a:rPr>
                <a:t>26 年 × 12 个月 = 312 个 tick，实现于 model/solar_model.py 的 step()，对应论文补充材料 §1.1.5。</a:t>
              </a:r>
            </a:p>
          </p:txBody>
        </p:sp>
      </p:grpSp>
      <p:grpSp>
        <p:nvGrpSpPr>
          <p:cNvPr id="38" name="Group 38"/>
          <p:cNvGrpSpPr/>
          <p:nvPr/>
        </p:nvGrpSpPr>
        <p:grpSpPr>
          <a:xfrm>
            <a:off x="679704" y="6286500"/>
            <a:ext cx="10832592" cy="390906"/>
            <a:chOff x="679704" y="6286500"/>
            <a:chExt cx="10832592" cy="390906"/>
          </a:xfrm>
        </p:grpSpPr>
        <p:sp>
          <p:nvSpPr>
            <p:cNvPr id="35" name="Line 35"/>
            <p:cNvSpPr/>
            <p:nvPr/>
          </p:nvSpPr>
          <p:spPr>
            <a:xfrm>
              <a:off x="685800" y="6286500"/>
              <a:ext cx="10820400" cy="9525"/>
            </a:xfrm>
            <a:custGeom>
              <a:avLst/>
              <a:gdLst/>
              <a:ahLst/>
              <a:cxnLst/>
              <a:rect l="l" t="t" r="r" b="b"/>
              <a:pathLst>
                <a:path w="10820400" h="9525">
                  <a:moveTo>
                    <a:pt x="0" y="0"/>
                  </a:moveTo>
                  <a:lnTo>
                    <a:pt x="10820400" y="0"/>
                  </a:lnTo>
                </a:path>
              </a:pathLst>
            </a:custGeom>
            <a:noFill/>
            <a:ln w="9525">
              <a:solidFill>
                <a:schemeClr val="accent1">
                  <a:alpha val="30000"/>
                </a:schemeClr>
              </a:solidFill>
            </a:ln>
          </p:spPr>
        </p:sp>
        <p:sp>
          <p:nvSpPr>
            <p:cNvPr id="36" name="TextBox 36"/>
            <p:cNvSpPr txBox="1"/>
            <p:nvPr/>
          </p:nvSpPr>
          <p:spPr>
            <a:xfrm>
              <a:off x="679704" y="6442710"/>
              <a:ext cx="2629205" cy="234696"/>
            </a:xfrm>
            <a:prstGeom prst="rect">
              <a:avLst/>
            </a:prstGeom>
            <a:noFill/>
            <a:ln>
              <a:noFill/>
            </a:ln>
          </p:spPr>
          <p:txBody>
            <a:bodyPr wrap="none" lIns="0" tIns="0" rIns="0" bIns="0" anchor="t" anchorCtr="0">
              <a:spAutoFit/>
            </a:bodyPr>
            <a:lstStyle/>
            <a:p>
              <a:pPr algn="l"/>
              <a:r>
                <a:rPr lang="zh-CN" sz="1200" dirty="0">
                  <a:solidFill>
                    <a:schemeClr val="dk1">
                      <a:alphaMod val="72000"/>
                    </a:schemeClr>
                  </a:solidFill>
                  <a:latin typeface="+mn-lt"/>
                  <a:ea typeface="+mn-ea"/>
                  <a:cs typeface="+mn-cs"/>
                </a:rPr>
                <a:t>仿真周期：1991–2016，共 312 个月</a:t>
              </a:r>
            </a:p>
          </p:txBody>
        </p:sp>
        <p:sp>
          <p:nvSpPr>
            <p:cNvPr id="37" name="TextBox 37"/>
            <p:cNvSpPr txBox="1"/>
            <p:nvPr/>
          </p:nvSpPr>
          <p:spPr>
            <a:xfrm>
              <a:off x="10958932" y="6442710"/>
              <a:ext cx="553364" cy="234696"/>
            </a:xfrm>
            <a:prstGeom prst="rect">
              <a:avLst/>
            </a:prstGeom>
            <a:noFill/>
            <a:ln>
              <a:noFill/>
            </a:ln>
          </p:spPr>
          <p:txBody>
            <a:bodyPr wrap="none" lIns="0" tIns="0" rIns="0" bIns="0" anchor="t" anchorCtr="0">
              <a:spAutoFit/>
            </a:bodyPr>
            <a:lstStyle/>
            <a:p>
              <a:pPr algn="r"/>
              <a:r>
                <a:rPr lang="zh-CN" sz="1200" dirty="0">
                  <a:solidFill>
                    <a:schemeClr val="dk1">
                      <a:alphaMod val="72000"/>
                    </a:schemeClr>
                  </a:solidFill>
                  <a:latin typeface="+mn-lt"/>
                  <a:ea typeface="+mn-ea"/>
                  <a:cs typeface="+mn-cs"/>
                </a:rPr>
                <a:t>05 / 14</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669798" y="552450"/>
            <a:ext cx="10836402" cy="1076135"/>
            <a:chOff x="669798" y="552450"/>
            <a:chExt cx="10836402" cy="1076135"/>
          </a:xfrm>
        </p:grpSpPr>
        <p:sp>
          <p:nvSpPr>
            <p:cNvPr id="2" name="Rectangle 2"/>
            <p:cNvSpPr/>
            <p:nvPr/>
          </p:nvSpPr>
          <p:spPr>
            <a:xfrm>
              <a:off x="685800" y="552450"/>
              <a:ext cx="533400" cy="38100"/>
            </a:xfrm>
            <a:prstGeom prst="rect">
              <a:avLst/>
            </a:prstGeom>
            <a:solidFill>
              <a:schemeClr val="accent2"/>
            </a:solidFill>
            <a:ln>
              <a:noFill/>
            </a:ln>
          </p:spPr>
        </p:sp>
        <p:sp>
          <p:nvSpPr>
            <p:cNvPr id="3" name="TextBox 3"/>
            <p:cNvSpPr txBox="1"/>
            <p:nvPr/>
          </p:nvSpPr>
          <p:spPr>
            <a:xfrm>
              <a:off x="678942" y="768668"/>
              <a:ext cx="2548433" cy="264033"/>
            </a:xfrm>
            <a:prstGeom prst="rect">
              <a:avLst/>
            </a:prstGeom>
            <a:noFill/>
            <a:ln>
              <a:noFill/>
            </a:ln>
          </p:spPr>
          <p:txBody>
            <a:bodyPr wrap="none" lIns="0" tIns="0" rIns="0" bIns="0" anchor="t" anchorCtr="0">
              <a:spAutoFit/>
            </a:bodyPr>
            <a:lstStyle/>
            <a:p>
              <a:pPr algn="l"/>
              <a:r>
                <a:rPr lang="zh-CN" sz="1350" dirty="0">
                  <a:solidFill>
                    <a:schemeClr val="accent1">
                      <a:alphaMod val="78000"/>
                    </a:schemeClr>
                  </a:solidFill>
                  <a:latin typeface="+mn-lt"/>
                  <a:ea typeface="+mn-ea"/>
                  <a:cs typeface="+mn-cs"/>
                </a:rPr>
                <a:t>PART 2 · 复现的三个核心机制</a:t>
              </a:r>
            </a:p>
          </p:txBody>
        </p:sp>
        <p:sp>
          <p:nvSpPr>
            <p:cNvPr id="4" name="TextBox 4"/>
            <p:cNvSpPr txBox="1"/>
            <p:nvPr/>
          </p:nvSpPr>
          <p:spPr>
            <a:xfrm>
              <a:off x="669798" y="1012508"/>
              <a:ext cx="6265583"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采用不是一次判断，而是两阶段</a:t>
              </a:r>
            </a:p>
          </p:txBody>
        </p:sp>
        <p:sp>
          <p:nvSpPr>
            <p:cNvPr id="5" name="Line 5"/>
            <p:cNvSpPr/>
            <p:nvPr/>
          </p:nvSpPr>
          <p:spPr>
            <a:xfrm>
              <a:off x="685800" y="1600200"/>
              <a:ext cx="10820400" cy="9525"/>
            </a:xfrm>
            <a:custGeom>
              <a:avLst/>
              <a:gdLst/>
              <a:ahLst/>
              <a:cxnLst/>
              <a:rect l="l" t="t" r="r" b="b"/>
              <a:pathLst>
                <a:path w="10820400" h="9525">
                  <a:moveTo>
                    <a:pt x="0" y="0"/>
                  </a:moveTo>
                  <a:lnTo>
                    <a:pt x="10820400" y="0"/>
                  </a:lnTo>
                </a:path>
              </a:pathLst>
            </a:custGeom>
            <a:noFill/>
            <a:ln w="9525">
              <a:solidFill>
                <a:schemeClr val="accent1">
                  <a:alpha val="22000"/>
                </a:schemeClr>
              </a:solidFill>
            </a:ln>
          </p:spPr>
        </p:sp>
      </p:grpSp>
      <p:grpSp>
        <p:nvGrpSpPr>
          <p:cNvPr id="13" name="Group 13"/>
          <p:cNvGrpSpPr/>
          <p:nvPr/>
        </p:nvGrpSpPr>
        <p:grpSpPr>
          <a:xfrm>
            <a:off x="673608" y="2025968"/>
            <a:ext cx="7983503" cy="1883283"/>
            <a:chOff x="673608" y="2025968"/>
            <a:chExt cx="7983503" cy="1883283"/>
          </a:xfrm>
        </p:grpSpPr>
        <p:sp>
          <p:nvSpPr>
            <p:cNvPr id="7" name="TextBox 7"/>
            <p:cNvSpPr txBox="1"/>
            <p:nvPr/>
          </p:nvSpPr>
          <p:spPr>
            <a:xfrm>
              <a:off x="678942" y="2025968"/>
              <a:ext cx="2495956"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阶段一 · 萌生念头（Eq. 2）</a:t>
              </a:r>
            </a:p>
          </p:txBody>
        </p:sp>
        <p:sp>
          <p:nvSpPr>
            <p:cNvPr id="8" name="TextBox 8"/>
            <p:cNvSpPr txBox="1"/>
            <p:nvPr/>
          </p:nvSpPr>
          <p:spPr>
            <a:xfrm>
              <a:off x="673608" y="2541270"/>
              <a:ext cx="7874325"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Consolas"/>
                  <a:ea typeface="Consolas"/>
                  <a:cs typeface="Consolas"/>
                </a:rPr>
                <a:t>0.19·PE + 0.17·IN + 0.52·AW + 0.12·IRR &gt; 0.5</a:t>
              </a:r>
            </a:p>
          </p:txBody>
        </p:sp>
        <p:sp>
          <p:nvSpPr>
            <p:cNvPr id="9" name="Line 9"/>
            <p:cNvSpPr/>
            <p:nvPr/>
          </p:nvSpPr>
          <p:spPr>
            <a:xfrm>
              <a:off x="685800" y="3143250"/>
              <a:ext cx="5981700" cy="9525"/>
            </a:xfrm>
            <a:custGeom>
              <a:avLst/>
              <a:gdLst/>
              <a:ahLst/>
              <a:cxnLst/>
              <a:rect l="l" t="t" r="r" b="b"/>
              <a:pathLst>
                <a:path w="5981700" h="9525">
                  <a:moveTo>
                    <a:pt x="0" y="0"/>
                  </a:moveTo>
                  <a:lnTo>
                    <a:pt x="5981700" y="0"/>
                  </a:lnTo>
                </a:path>
              </a:pathLst>
            </a:custGeom>
            <a:noFill/>
            <a:ln w="9525">
              <a:solidFill>
                <a:schemeClr val="accent1">
                  <a:alpha val="25000"/>
                </a:schemeClr>
              </a:solidFill>
            </a:ln>
          </p:spPr>
        </p:sp>
        <p:sp>
          <p:nvSpPr>
            <p:cNvPr id="10" name="Rectangle 10"/>
            <p:cNvSpPr/>
            <p:nvPr/>
          </p:nvSpPr>
          <p:spPr>
            <a:xfrm>
              <a:off x="3657600" y="3067050"/>
              <a:ext cx="28575" cy="152400"/>
            </a:xfrm>
            <a:prstGeom prst="rect">
              <a:avLst/>
            </a:prstGeom>
            <a:solidFill>
              <a:schemeClr val="accent2"/>
            </a:solidFill>
            <a:ln>
              <a:noFill/>
            </a:ln>
          </p:spPr>
        </p:sp>
        <p:sp>
          <p:nvSpPr>
            <p:cNvPr id="11" name="TextBox 11"/>
            <p:cNvSpPr txBox="1"/>
            <p:nvPr/>
          </p:nvSpPr>
          <p:spPr>
            <a:xfrm>
              <a:off x="3301336" y="3321368"/>
              <a:ext cx="731577" cy="264033"/>
            </a:xfrm>
            <a:prstGeom prst="rect">
              <a:avLst/>
            </a:prstGeom>
            <a:noFill/>
            <a:ln>
              <a:noFill/>
            </a:ln>
          </p:spPr>
          <p:txBody>
            <a:bodyPr wrap="none" lIns="0" tIns="0" rIns="0" bIns="0" anchor="t" anchorCtr="0">
              <a:spAutoFit/>
            </a:bodyPr>
            <a:lstStyle/>
            <a:p>
              <a:pPr algn="ctr"/>
              <a:r>
                <a:rPr lang="zh-CN" sz="1350" dirty="0">
                  <a:solidFill>
                    <a:schemeClr val="accent2"/>
                  </a:solidFill>
                  <a:latin typeface="+mn-lt"/>
                  <a:ea typeface="+mn-ea"/>
                  <a:cs typeface="+mn-cs"/>
                </a:rPr>
                <a:t>阈值 0.5</a:t>
              </a:r>
            </a:p>
          </p:txBody>
        </p:sp>
        <p:sp>
          <p:nvSpPr>
            <p:cNvPr id="12" name="TextBox 12"/>
            <p:cNvSpPr txBox="1"/>
            <p:nvPr/>
          </p:nvSpPr>
          <p:spPr>
            <a:xfrm>
              <a:off x="678942" y="3645218"/>
              <a:ext cx="7978169"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PE 1 km 邻居已装比例 · IN 当月信息量 · AW 环境意识 N(0.5, 0.2) · IRR 代表家庭内部收益率</a:t>
              </a:r>
            </a:p>
          </p:txBody>
        </p:sp>
      </p:grpSp>
      <p:grpSp>
        <p:nvGrpSpPr>
          <p:cNvPr id="21" name="Group 21"/>
          <p:cNvGrpSpPr/>
          <p:nvPr/>
        </p:nvGrpSpPr>
        <p:grpSpPr>
          <a:xfrm>
            <a:off x="676656" y="4216718"/>
            <a:ext cx="8036052" cy="1774888"/>
            <a:chOff x="676656" y="4216718"/>
            <a:chExt cx="8036052" cy="1774888"/>
          </a:xfrm>
        </p:grpSpPr>
        <p:sp>
          <p:nvSpPr>
            <p:cNvPr id="14" name="TextBox 14"/>
            <p:cNvSpPr txBox="1"/>
            <p:nvPr/>
          </p:nvSpPr>
          <p:spPr>
            <a:xfrm>
              <a:off x="678942" y="4216718"/>
              <a:ext cx="3408400"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阶段二 · 经济与环境评估（Eq. 3–10）</a:t>
              </a:r>
            </a:p>
          </p:txBody>
        </p:sp>
        <p:sp>
          <p:nvSpPr>
            <p:cNvPr id="15" name="Line 15"/>
            <p:cNvSpPr/>
            <p:nvPr/>
          </p:nvSpPr>
          <p:spPr>
            <a:xfrm>
              <a:off x="5867400" y="4591050"/>
              <a:ext cx="9525" cy="1047750"/>
            </a:xfrm>
            <a:custGeom>
              <a:avLst/>
              <a:gdLst/>
              <a:ahLst/>
              <a:cxnLst/>
              <a:rect l="l" t="t" r="r" b="b"/>
              <a:pathLst>
                <a:path w="9525" h="1047750">
                  <a:moveTo>
                    <a:pt x="0" y="0"/>
                  </a:moveTo>
                  <a:lnTo>
                    <a:pt x="0" y="1047750"/>
                  </a:lnTo>
                </a:path>
              </a:pathLst>
            </a:custGeom>
            <a:noFill/>
            <a:ln w="9525">
              <a:solidFill>
                <a:schemeClr val="accent1">
                  <a:alpha val="22000"/>
                </a:schemeClr>
              </a:solidFill>
            </a:ln>
          </p:spPr>
        </p:sp>
        <p:sp>
          <p:nvSpPr>
            <p:cNvPr id="16" name="TextBox 16"/>
            <p:cNvSpPr txBox="1"/>
            <p:nvPr/>
          </p:nvSpPr>
          <p:spPr>
            <a:xfrm>
              <a:off x="676656" y="4663440"/>
              <a:ext cx="1290447"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早期采用者</a:t>
              </a:r>
            </a:p>
          </p:txBody>
        </p:sp>
        <p:sp>
          <p:nvSpPr>
            <p:cNvPr id="17" name="TextBox 17"/>
            <p:cNvSpPr txBox="1"/>
            <p:nvPr/>
          </p:nvSpPr>
          <p:spPr>
            <a:xfrm>
              <a:off x="678942" y="5073968"/>
              <a:ext cx="2071116" cy="530733"/>
            </a:xfrm>
            <a:prstGeom prst="rect">
              <a:avLst/>
            </a:prstGeom>
            <a:noFill/>
            <a:ln>
              <a:noFill/>
            </a:ln>
          </p:spPr>
          <p:txBody>
            <a:bodyPr wrap="none" lIns="0" tIns="0" rIns="0" bIns="0" anchor="t" anchorCtr="0">
              <a:spAutoFit/>
            </a:bodyPr>
            <a:lstStyle/>
            <a:p>
              <a:pPr algn="l">
                <a:lnSpc>
                  <a:spcPts val="2100"/>
                </a:lnSpc>
              </a:pPr>
              <a:r>
                <a:rPr lang="zh-CN" sz="1350" dirty="0">
                  <a:solidFill>
                    <a:schemeClr val="dk1"/>
                  </a:solidFill>
                  <a:latin typeface="+mn-lt"/>
                  <a:ea typeface="+mn-ea"/>
                  <a:cs typeface="+mn-cs"/>
                </a:rPr>
                <a:t>AW &gt; 0.92 且为住宅用户，</a:t>
              </a:r>
              <a:br/>
              <a:r>
                <a:rPr lang="zh-CN" sz="1350" dirty="0">
                  <a:solidFill>
                    <a:schemeClr val="dk1"/>
                  </a:solidFill>
                  <a:latin typeface="+mn-lt"/>
                  <a:ea typeface="+mn-ea"/>
                  <a:cs typeface="+mn-cs"/>
                </a:rPr>
                <a:t>直接安装并跳过经济评估。</a:t>
              </a:r>
            </a:p>
          </p:txBody>
        </p:sp>
        <p:sp>
          <p:nvSpPr>
            <p:cNvPr id="18" name="TextBox 18"/>
            <p:cNvSpPr txBox="1"/>
            <p:nvPr/>
          </p:nvSpPr>
          <p:spPr>
            <a:xfrm>
              <a:off x="6124956" y="4663440"/>
              <a:ext cx="1036015"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其余主体</a:t>
              </a:r>
            </a:p>
          </p:txBody>
        </p:sp>
        <p:sp>
          <p:nvSpPr>
            <p:cNvPr id="19" name="TextBox 19"/>
            <p:cNvSpPr txBox="1"/>
            <p:nvPr/>
          </p:nvSpPr>
          <p:spPr>
            <a:xfrm>
              <a:off x="6127242" y="5073968"/>
              <a:ext cx="2585466" cy="530733"/>
            </a:xfrm>
            <a:prstGeom prst="rect">
              <a:avLst/>
            </a:prstGeom>
            <a:noFill/>
            <a:ln>
              <a:noFill/>
            </a:ln>
          </p:spPr>
          <p:txBody>
            <a:bodyPr wrap="none" lIns="0" tIns="0" rIns="0" bIns="0" anchor="t" anchorCtr="0">
              <a:spAutoFit/>
            </a:bodyPr>
            <a:lstStyle/>
            <a:p>
              <a:pPr algn="l">
                <a:lnSpc>
                  <a:spcPts val="2100"/>
                </a:lnSpc>
              </a:pPr>
              <a:r>
                <a:rPr lang="zh-CN" sz="1350" dirty="0">
                  <a:solidFill>
                    <a:schemeClr val="dk1"/>
                  </a:solidFill>
                  <a:latin typeface="+mn-lt"/>
                  <a:ea typeface="+mn-ea"/>
                  <a:cs typeface="+mn-cs"/>
                </a:rPr>
                <a:t>分别计算国内 / 国外组件 NPV，</a:t>
              </a:r>
              <a:br/>
              <a:r>
                <a:rPr lang="zh-CN" sz="1350" dirty="0">
                  <a:solidFill>
                    <a:schemeClr val="dk1"/>
                  </a:solidFill>
                  <a:latin typeface="+mn-lt"/>
                  <a:ea typeface="+mn-ea"/>
                  <a:cs typeface="+mn-cs"/>
                </a:rPr>
                <a:t>取非负且最大者，平局偏好国内。</a:t>
              </a:r>
            </a:p>
          </p:txBody>
        </p:sp>
        <p:sp>
          <p:nvSpPr>
            <p:cNvPr id="20" name="TextBox 20"/>
            <p:cNvSpPr txBox="1"/>
            <p:nvPr/>
          </p:nvSpPr>
          <p:spPr>
            <a:xfrm>
              <a:off x="679704" y="5756910"/>
              <a:ext cx="7240829" cy="234696"/>
            </a:xfrm>
            <a:prstGeom prst="rect">
              <a:avLst/>
            </a:prstGeom>
            <a:noFill/>
            <a:ln>
              <a:noFill/>
            </a:ln>
          </p:spPr>
          <p:txBody>
            <a:bodyPr wrap="none" lIns="0" tIns="0" rIns="0" bIns="0" anchor="t" anchorCtr="0">
              <a:spAutoFit/>
            </a:bodyPr>
            <a:lstStyle/>
            <a:p>
              <a:pPr algn="l"/>
              <a:r>
                <a:rPr lang="zh-CN" sz="1200" dirty="0">
                  <a:solidFill>
                    <a:schemeClr val="dk1">
                      <a:alphaMod val="85000"/>
                    </a:schemeClr>
                  </a:solidFill>
                  <a:latin typeface="+mn-lt"/>
                  <a:ea typeface="+mn-ea"/>
                  <a:cs typeface="+mn-cs"/>
                </a:rPr>
                <a:t>国外组件额外承受 1.1% 折现溢价 · 规模效应 SE = 1.1246 · S^−0.051 · NPV 折现 20 年现金流</a:t>
              </a:r>
            </a:p>
          </p:txBody>
        </p:sp>
      </p:grpSp>
      <p:grpSp>
        <p:nvGrpSpPr>
          <p:cNvPr id="25" name="Group 25"/>
          <p:cNvGrpSpPr/>
          <p:nvPr/>
        </p:nvGrpSpPr>
        <p:grpSpPr>
          <a:xfrm>
            <a:off x="679704" y="6286500"/>
            <a:ext cx="10832592" cy="390906"/>
            <a:chOff x="679704" y="6286500"/>
            <a:chExt cx="10832592" cy="390906"/>
          </a:xfrm>
        </p:grpSpPr>
        <p:sp>
          <p:nvSpPr>
            <p:cNvPr id="22" name="Line 22"/>
            <p:cNvSpPr/>
            <p:nvPr/>
          </p:nvSpPr>
          <p:spPr>
            <a:xfrm>
              <a:off x="685800" y="6286500"/>
              <a:ext cx="10820400" cy="9525"/>
            </a:xfrm>
            <a:custGeom>
              <a:avLst/>
              <a:gdLst/>
              <a:ahLst/>
              <a:cxnLst/>
              <a:rect l="l" t="t" r="r" b="b"/>
              <a:pathLst>
                <a:path w="10820400" h="9525">
                  <a:moveTo>
                    <a:pt x="0" y="0"/>
                  </a:moveTo>
                  <a:lnTo>
                    <a:pt x="10820400" y="0"/>
                  </a:lnTo>
                </a:path>
              </a:pathLst>
            </a:custGeom>
            <a:noFill/>
            <a:ln w="9525">
              <a:solidFill>
                <a:schemeClr val="accent1">
                  <a:alpha val="30000"/>
                </a:schemeClr>
              </a:solidFill>
            </a:ln>
          </p:spPr>
        </p:sp>
        <p:sp>
          <p:nvSpPr>
            <p:cNvPr id="23" name="TextBox 23"/>
            <p:cNvSpPr txBox="1"/>
            <p:nvPr/>
          </p:nvSpPr>
          <p:spPr>
            <a:xfrm>
              <a:off x="679704" y="6442710"/>
              <a:ext cx="4060909" cy="234696"/>
            </a:xfrm>
            <a:prstGeom prst="rect">
              <a:avLst/>
            </a:prstGeom>
            <a:noFill/>
            <a:ln>
              <a:noFill/>
            </a:ln>
          </p:spPr>
          <p:txBody>
            <a:bodyPr wrap="none" lIns="0" tIns="0" rIns="0" bIns="0" anchor="t" anchorCtr="0">
              <a:spAutoFit/>
            </a:bodyPr>
            <a:lstStyle/>
            <a:p>
              <a:pPr algn="l"/>
              <a:r>
                <a:rPr lang="zh-CN" sz="1200" dirty="0">
                  <a:solidFill>
                    <a:schemeClr val="dk1">
                      <a:alphaMod val="72000"/>
                    </a:schemeClr>
                  </a:solidFill>
                  <a:latin typeface="+mn-lt"/>
                  <a:ea typeface="+mn-ea"/>
                  <a:cs typeface="+mn-cs"/>
                </a:rPr>
                <a:t>权重取自 Table SI 11；实现于 submodels/adoption.py</a:t>
              </a:r>
            </a:p>
          </p:txBody>
        </p:sp>
        <p:sp>
          <p:nvSpPr>
            <p:cNvPr id="24" name="TextBox 24"/>
            <p:cNvSpPr txBox="1"/>
            <p:nvPr/>
          </p:nvSpPr>
          <p:spPr>
            <a:xfrm>
              <a:off x="10958932" y="6442710"/>
              <a:ext cx="553364" cy="234696"/>
            </a:xfrm>
            <a:prstGeom prst="rect">
              <a:avLst/>
            </a:prstGeom>
            <a:noFill/>
            <a:ln>
              <a:noFill/>
            </a:ln>
          </p:spPr>
          <p:txBody>
            <a:bodyPr wrap="none" lIns="0" tIns="0" rIns="0" bIns="0" anchor="t" anchorCtr="0">
              <a:spAutoFit/>
            </a:bodyPr>
            <a:lstStyle/>
            <a:p>
              <a:pPr algn="r"/>
              <a:r>
                <a:rPr lang="zh-CN" sz="1200" dirty="0">
                  <a:solidFill>
                    <a:schemeClr val="dk1">
                      <a:alphaMod val="72000"/>
                    </a:schemeClr>
                  </a:solidFill>
                  <a:latin typeface="+mn-lt"/>
                  <a:ea typeface="+mn-ea"/>
                  <a:cs typeface="+mn-cs"/>
                </a:rPr>
                <a:t>06 / 14</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669798" y="552450"/>
            <a:ext cx="10836402" cy="1076135"/>
            <a:chOff x="669798" y="552450"/>
            <a:chExt cx="10836402" cy="1076135"/>
          </a:xfrm>
        </p:grpSpPr>
        <p:sp>
          <p:nvSpPr>
            <p:cNvPr id="2" name="Rectangle 2"/>
            <p:cNvSpPr/>
            <p:nvPr/>
          </p:nvSpPr>
          <p:spPr>
            <a:xfrm>
              <a:off x="685800" y="552450"/>
              <a:ext cx="533400" cy="38100"/>
            </a:xfrm>
            <a:prstGeom prst="rect">
              <a:avLst/>
            </a:prstGeom>
            <a:solidFill>
              <a:schemeClr val="accent2"/>
            </a:solidFill>
            <a:ln>
              <a:noFill/>
            </a:ln>
          </p:spPr>
        </p:sp>
        <p:sp>
          <p:nvSpPr>
            <p:cNvPr id="3" name="TextBox 3"/>
            <p:cNvSpPr txBox="1"/>
            <p:nvPr/>
          </p:nvSpPr>
          <p:spPr>
            <a:xfrm>
              <a:off x="678942" y="768668"/>
              <a:ext cx="2548433" cy="264033"/>
            </a:xfrm>
            <a:prstGeom prst="rect">
              <a:avLst/>
            </a:prstGeom>
            <a:noFill/>
            <a:ln>
              <a:noFill/>
            </a:ln>
          </p:spPr>
          <p:txBody>
            <a:bodyPr wrap="none" lIns="0" tIns="0" rIns="0" bIns="0" anchor="t" anchorCtr="0">
              <a:spAutoFit/>
            </a:bodyPr>
            <a:lstStyle/>
            <a:p>
              <a:pPr algn="l"/>
              <a:r>
                <a:rPr lang="zh-CN" sz="1350" dirty="0">
                  <a:solidFill>
                    <a:schemeClr val="accent1">
                      <a:alphaMod val="78000"/>
                    </a:schemeClr>
                  </a:solidFill>
                  <a:latin typeface="+mn-lt"/>
                  <a:ea typeface="+mn-ea"/>
                  <a:cs typeface="+mn-cs"/>
                </a:rPr>
                <a:t>PART 2 · 复现的三个核心机制</a:t>
              </a:r>
            </a:p>
          </p:txBody>
        </p:sp>
        <p:sp>
          <p:nvSpPr>
            <p:cNvPr id="4" name="TextBox 4"/>
            <p:cNvSpPr txBox="1"/>
            <p:nvPr/>
          </p:nvSpPr>
          <p:spPr>
            <a:xfrm>
              <a:off x="669798" y="1012508"/>
              <a:ext cx="7601350"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组件成本由干中学与研究中学共同驱动</a:t>
              </a:r>
            </a:p>
          </p:txBody>
        </p:sp>
        <p:sp>
          <p:nvSpPr>
            <p:cNvPr id="5" name="Line 5"/>
            <p:cNvSpPr/>
            <p:nvPr/>
          </p:nvSpPr>
          <p:spPr>
            <a:xfrm>
              <a:off x="685800" y="1600200"/>
              <a:ext cx="10820400" cy="9525"/>
            </a:xfrm>
            <a:custGeom>
              <a:avLst/>
              <a:gdLst/>
              <a:ahLst/>
              <a:cxnLst/>
              <a:rect l="l" t="t" r="r" b="b"/>
              <a:pathLst>
                <a:path w="10820400" h="9525">
                  <a:moveTo>
                    <a:pt x="0" y="0"/>
                  </a:moveTo>
                  <a:lnTo>
                    <a:pt x="10820400" y="0"/>
                  </a:lnTo>
                </a:path>
              </a:pathLst>
            </a:custGeom>
            <a:noFill/>
            <a:ln w="9525">
              <a:solidFill>
                <a:schemeClr val="accent1">
                  <a:alpha val="22000"/>
                </a:schemeClr>
              </a:solidFill>
            </a:ln>
          </p:spPr>
        </p:sp>
      </p:grpSp>
      <p:grpSp>
        <p:nvGrpSpPr>
          <p:cNvPr id="16" name="Group 16"/>
          <p:cNvGrpSpPr/>
          <p:nvPr/>
        </p:nvGrpSpPr>
        <p:grpSpPr>
          <a:xfrm>
            <a:off x="673608" y="1996440"/>
            <a:ext cx="4546092" cy="3252216"/>
            <a:chOff x="673608" y="1996440"/>
            <a:chExt cx="4546092" cy="3252216"/>
          </a:xfrm>
        </p:grpSpPr>
        <p:grpSp>
          <p:nvGrpSpPr>
            <p:cNvPr id="9" name="Group 9"/>
            <p:cNvGrpSpPr/>
            <p:nvPr/>
          </p:nvGrpSpPr>
          <p:grpSpPr>
            <a:xfrm>
              <a:off x="721519" y="2045494"/>
              <a:ext cx="214313" cy="119062"/>
              <a:chOff x="721519" y="2045494"/>
              <a:chExt cx="214313" cy="119062"/>
            </a:xfrm>
          </p:grpSpPr>
          <p:sp>
            <p:nvSpPr>
              <p:cNvPr id="7" name="Freeform 7"/>
              <p:cNvSpPr/>
              <p:nvPr/>
            </p:nvSpPr>
            <p:spPr>
              <a:xfrm>
                <a:off x="721519" y="2045494"/>
                <a:ext cx="214312" cy="119062"/>
              </a:xfrm>
              <a:custGeom>
                <a:avLst/>
                <a:gdLst/>
                <a:ahLst/>
                <a:cxnLst/>
                <a:rect l="l" t="t" r="r" b="b"/>
                <a:pathLst>
                  <a:path w="214312" h="119062">
                    <a:moveTo>
                      <a:pt x="0" y="0"/>
                    </a:moveTo>
                    <a:lnTo>
                      <a:pt x="71438" y="71438"/>
                    </a:lnTo>
                    <a:lnTo>
                      <a:pt x="119062" y="23812"/>
                    </a:lnTo>
                    <a:lnTo>
                      <a:pt x="214312" y="119062"/>
                    </a:lnTo>
                  </a:path>
                </a:pathLst>
              </a:custGeom>
              <a:noFill/>
              <a:ln w="23812">
                <a:solidFill>
                  <a:schemeClr val="accent2"/>
                </a:solidFill>
              </a:ln>
            </p:spPr>
          </p:sp>
          <p:sp>
            <p:nvSpPr>
              <p:cNvPr id="8" name="Freeform 8"/>
              <p:cNvSpPr/>
              <p:nvPr/>
            </p:nvSpPr>
            <p:spPr>
              <a:xfrm>
                <a:off x="852488" y="2081212"/>
                <a:ext cx="83344" cy="83344"/>
              </a:xfrm>
              <a:custGeom>
                <a:avLst/>
                <a:gdLst/>
                <a:ahLst/>
                <a:cxnLst/>
                <a:rect l="l" t="t" r="r" b="b"/>
                <a:pathLst>
                  <a:path w="83344" h="83344">
                    <a:moveTo>
                      <a:pt x="83344" y="0"/>
                    </a:moveTo>
                    <a:lnTo>
                      <a:pt x="83344" y="83344"/>
                    </a:lnTo>
                    <a:lnTo>
                      <a:pt x="0" y="83344"/>
                    </a:lnTo>
                  </a:path>
                </a:pathLst>
              </a:custGeom>
              <a:noFill/>
              <a:ln w="23812">
                <a:solidFill>
                  <a:schemeClr val="accent2"/>
                </a:solidFill>
              </a:ln>
            </p:spPr>
          </p:sp>
        </p:grpSp>
        <p:sp>
          <p:nvSpPr>
            <p:cNvPr id="10" name="TextBox 10"/>
            <p:cNvSpPr txBox="1"/>
            <p:nvPr/>
          </p:nvSpPr>
          <p:spPr>
            <a:xfrm>
              <a:off x="1095756" y="1996440"/>
              <a:ext cx="3170962"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双因子经验曲线（Eq. 24）</a:t>
              </a:r>
            </a:p>
          </p:txBody>
        </p:sp>
        <p:sp>
          <p:nvSpPr>
            <p:cNvPr id="11" name="TextBox 11"/>
            <p:cNvSpPr txBox="1"/>
            <p:nvPr/>
          </p:nvSpPr>
          <p:spPr>
            <a:xfrm>
              <a:off x="673608" y="2617470"/>
              <a:ext cx="4443555" cy="469392"/>
            </a:xfrm>
            <a:prstGeom prst="rect">
              <a:avLst/>
            </a:prstGeom>
            <a:noFill/>
            <a:ln>
              <a:noFill/>
            </a:ln>
          </p:spPr>
          <p:txBody>
            <a:bodyPr wrap="none" lIns="0" tIns="0" rIns="0" bIns="0" anchor="t" anchorCtr="0">
              <a:spAutoFit/>
            </a:bodyPr>
            <a:lstStyle/>
            <a:p>
              <a:pPr algn="l"/>
              <a:r>
                <a:rPr lang="el-GR" sz="2400" b="1" dirty="0">
                  <a:solidFill>
                    <a:schemeClr val="accent1"/>
                  </a:solidFill>
                  <a:latin typeface="Consolas"/>
                  <a:ea typeface="Consolas"/>
                  <a:cs typeface="Consolas"/>
                </a:rPr>
                <a:t>MC = α · (CP / CP₀)^β_LBD</a:t>
              </a:r>
            </a:p>
          </p:txBody>
        </p:sp>
        <p:sp>
          <p:nvSpPr>
            <p:cNvPr id="12" name="TextBox 12"/>
            <p:cNvSpPr txBox="1"/>
            <p:nvPr/>
          </p:nvSpPr>
          <p:spPr>
            <a:xfrm>
              <a:off x="673608" y="3074670"/>
              <a:ext cx="3251587" cy="469392"/>
            </a:xfrm>
            <a:prstGeom prst="rect">
              <a:avLst/>
            </a:prstGeom>
            <a:noFill/>
            <a:ln>
              <a:noFill/>
            </a:ln>
          </p:spPr>
          <p:txBody>
            <a:bodyPr wrap="none" lIns="0" tIns="0" rIns="0" bIns="0" anchor="t" anchorCtr="0">
              <a:spAutoFit/>
            </a:bodyPr>
            <a:lstStyle/>
            <a:p>
              <a:pPr algn="l" marL="272034" indent="-272034">
                <a:buClr>
                  <a:schemeClr val="accent1"/>
                </a:buClr>
                <a:buSzTx/>
                <a:buFontTx/>
                <a:buChar char="•"/>
              </a:pPr>
              <a:r>
                <a:rPr lang="el-GR" sz="2400" b="1" dirty="0">
                  <a:solidFill>
                    <a:schemeClr val="accent1"/>
                  </a:solidFill>
                  <a:latin typeface="Consolas"/>
                  <a:ea typeface="Consolas"/>
                  <a:cs typeface="Consolas"/>
                </a:rPr>
                <a:t>(KS / KS₀)^β_LBR</a:t>
              </a:r>
            </a:p>
          </p:txBody>
        </p:sp>
        <p:sp>
          <p:nvSpPr>
            <p:cNvPr id="13" name="TextBox 13"/>
            <p:cNvSpPr txBox="1"/>
            <p:nvPr/>
          </p:nvSpPr>
          <p:spPr>
            <a:xfrm>
              <a:off x="678942" y="3645218"/>
              <a:ext cx="2902648" cy="530733"/>
            </a:xfrm>
            <a:prstGeom prst="rect">
              <a:avLst/>
            </a:prstGeom>
            <a:noFill/>
            <a:ln>
              <a:noFill/>
            </a:ln>
          </p:spPr>
          <p:txBody>
            <a:bodyPr wrap="none" lIns="0" tIns="0" rIns="0" bIns="0" anchor="t" anchorCtr="0">
              <a:spAutoFit/>
            </a:bodyPr>
            <a:lstStyle/>
            <a:p>
              <a:pPr algn="l">
                <a:lnSpc>
                  <a:spcPts val="2100"/>
                </a:lnSpc>
              </a:pPr>
              <a:r>
                <a:rPr lang="zh-CN" sz="1350" dirty="0">
                  <a:solidFill>
                    <a:schemeClr val="dk1"/>
                  </a:solidFill>
                  <a:latin typeface="+mn-lt"/>
                  <a:ea typeface="+mn-ea"/>
                  <a:cs typeface="+mn-cs"/>
                </a:rPr>
                <a:t>α 为截距，β 为 log-log 斜率；</a:t>
              </a:r>
              <a:br/>
              <a:r>
                <a:rPr lang="zh-CN" sz="1350" dirty="0">
                  <a:solidFill>
                    <a:schemeClr val="dk1"/>
                  </a:solidFill>
                  <a:latin typeface="+mn-lt"/>
                  <a:ea typeface="+mn-ea"/>
                  <a:cs typeface="+mn-cs"/>
                </a:rPr>
                <a:t>学习率与斜率换算 β = log₂(1 − LR)。</a:t>
              </a:r>
            </a:p>
          </p:txBody>
        </p:sp>
        <p:sp>
          <p:nvSpPr>
            <p:cNvPr id="14" name="Polyline 14"/>
            <p:cNvSpPr/>
            <p:nvPr/>
          </p:nvSpPr>
          <p:spPr>
            <a:xfrm>
              <a:off x="914400" y="4305300"/>
              <a:ext cx="4305300" cy="590550"/>
            </a:xfrm>
            <a:custGeom>
              <a:avLst/>
              <a:gdLst/>
              <a:ahLst/>
              <a:cxnLst/>
              <a:rect l="l" t="t" r="r" b="b"/>
              <a:pathLst>
                <a:path w="4305300" h="590550">
                  <a:moveTo>
                    <a:pt x="0" y="0"/>
                  </a:moveTo>
                  <a:lnTo>
                    <a:pt x="1181100" y="209550"/>
                  </a:lnTo>
                  <a:lnTo>
                    <a:pt x="2362200" y="400050"/>
                  </a:lnTo>
                  <a:lnTo>
                    <a:pt x="3543300" y="533400"/>
                  </a:lnTo>
                  <a:lnTo>
                    <a:pt x="4305300" y="590550"/>
                  </a:lnTo>
                </a:path>
              </a:pathLst>
            </a:custGeom>
            <a:noFill/>
            <a:ln w="19050">
              <a:solidFill>
                <a:schemeClr val="accent2"/>
              </a:solidFill>
            </a:ln>
          </p:spPr>
        </p:sp>
        <p:sp>
          <p:nvSpPr>
            <p:cNvPr id="15" name="TextBox 15"/>
            <p:cNvSpPr txBox="1"/>
            <p:nvPr/>
          </p:nvSpPr>
          <p:spPr>
            <a:xfrm>
              <a:off x="908304" y="5013960"/>
              <a:ext cx="2919984" cy="234696"/>
            </a:xfrm>
            <a:prstGeom prst="rect">
              <a:avLst/>
            </a:prstGeom>
            <a:noFill/>
            <a:ln>
              <a:noFill/>
            </a:ln>
          </p:spPr>
          <p:txBody>
            <a:bodyPr wrap="none" lIns="0" tIns="0" rIns="0" bIns="0" anchor="t" anchorCtr="0">
              <a:spAutoFit/>
            </a:bodyPr>
            <a:lstStyle/>
            <a:p>
              <a:pPr algn="l"/>
              <a:r>
                <a:rPr lang="zh-CN" sz="1200" dirty="0">
                  <a:solidFill>
                    <a:schemeClr val="dk1">
                      <a:alphaMod val="85000"/>
                    </a:schemeClr>
                  </a:solidFill>
                  <a:latin typeface="+mn-lt"/>
                  <a:ea typeface="+mn-ea"/>
                  <a:cs typeface="+mn-cs"/>
                </a:rPr>
                <a:t>成本随累计产量与知识存量下降（示意）</a:t>
              </a:r>
            </a:p>
          </p:txBody>
        </p:sp>
      </p:grpSp>
      <p:grpSp>
        <p:nvGrpSpPr>
          <p:cNvPr id="42" name="Group 42"/>
          <p:cNvGrpSpPr/>
          <p:nvPr/>
        </p:nvGrpSpPr>
        <p:grpSpPr>
          <a:xfrm>
            <a:off x="6317742" y="2254568"/>
            <a:ext cx="5188458" cy="2727388"/>
            <a:chOff x="6317742" y="2254568"/>
            <a:chExt cx="5188458" cy="2727388"/>
          </a:xfrm>
        </p:grpSpPr>
        <p:sp>
          <p:nvSpPr>
            <p:cNvPr id="17" name="TextBox 17"/>
            <p:cNvSpPr txBox="1"/>
            <p:nvPr/>
          </p:nvSpPr>
          <p:spPr>
            <a:xfrm>
              <a:off x="6317742" y="2254568"/>
              <a:ext cx="395364"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参数</a:t>
              </a:r>
            </a:p>
          </p:txBody>
        </p:sp>
        <p:sp>
          <p:nvSpPr>
            <p:cNvPr id="18" name="TextBox 18"/>
            <p:cNvSpPr txBox="1"/>
            <p:nvPr/>
          </p:nvSpPr>
          <p:spPr>
            <a:xfrm>
              <a:off x="8565642" y="2254568"/>
              <a:ext cx="395364"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国内</a:t>
              </a:r>
            </a:p>
          </p:txBody>
        </p:sp>
        <p:sp>
          <p:nvSpPr>
            <p:cNvPr id="19" name="TextBox 19"/>
            <p:cNvSpPr txBox="1"/>
            <p:nvPr/>
          </p:nvSpPr>
          <p:spPr>
            <a:xfrm>
              <a:off x="9632442" y="2254568"/>
              <a:ext cx="395364"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国外</a:t>
              </a:r>
            </a:p>
          </p:txBody>
        </p:sp>
        <p:sp>
          <p:nvSpPr>
            <p:cNvPr id="20" name="TextBox 20"/>
            <p:cNvSpPr txBox="1"/>
            <p:nvPr/>
          </p:nvSpPr>
          <p:spPr>
            <a:xfrm>
              <a:off x="10699242" y="2254568"/>
              <a:ext cx="586188"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非组件</a:t>
              </a:r>
            </a:p>
          </p:txBody>
        </p:sp>
        <p:sp>
          <p:nvSpPr>
            <p:cNvPr id="21" name="Line 21"/>
            <p:cNvSpPr/>
            <p:nvPr/>
          </p:nvSpPr>
          <p:spPr>
            <a:xfrm>
              <a:off x="6324600" y="2533650"/>
              <a:ext cx="5181600" cy="9525"/>
            </a:xfrm>
            <a:custGeom>
              <a:avLst/>
              <a:gdLst/>
              <a:ahLst/>
              <a:cxnLst/>
              <a:rect l="l" t="t" r="r" b="b"/>
              <a:pathLst>
                <a:path w="5181600" h="9525">
                  <a:moveTo>
                    <a:pt x="0" y="0"/>
                  </a:moveTo>
                  <a:lnTo>
                    <a:pt x="5181600" y="0"/>
                  </a:lnTo>
                </a:path>
              </a:pathLst>
            </a:custGeom>
            <a:noFill/>
            <a:ln w="9525">
              <a:solidFill>
                <a:schemeClr val="accent1">
                  <a:alpha val="35000"/>
                </a:schemeClr>
              </a:solidFill>
            </a:ln>
          </p:spPr>
        </p:sp>
        <p:sp>
          <p:nvSpPr>
            <p:cNvPr id="22" name="TextBox 22"/>
            <p:cNvSpPr txBox="1"/>
            <p:nvPr/>
          </p:nvSpPr>
          <p:spPr>
            <a:xfrm>
              <a:off x="6317742" y="2749868"/>
              <a:ext cx="126581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截距 α（€/W）</a:t>
              </a:r>
            </a:p>
          </p:txBody>
        </p:sp>
        <p:sp>
          <p:nvSpPr>
            <p:cNvPr id="23" name="TextBox 23"/>
            <p:cNvSpPr txBox="1"/>
            <p:nvPr/>
          </p:nvSpPr>
          <p:spPr>
            <a:xfrm>
              <a:off x="8565642" y="2749868"/>
              <a:ext cx="513493" cy="264033"/>
            </a:xfrm>
            <a:prstGeom prst="rect">
              <a:avLst/>
            </a:prstGeom>
            <a:noFill/>
            <a:ln>
              <a:noFill/>
            </a:ln>
          </p:spPr>
          <p:txBody>
            <a:bodyPr wrap="none" lIns="0" tIns="0" rIns="0" bIns="0" anchor="t" anchorCtr="0">
              <a:spAutoFit/>
            </a:bodyPr>
            <a:lstStyle/>
            <a:p>
              <a:pPr algn="l"/>
              <a:r>
                <a:rPr lang="zh-CN" sz="1350" dirty="0">
                  <a:solidFill>
                    <a:schemeClr val="accent1"/>
                  </a:solidFill>
                  <a:latin typeface="Consolas"/>
                  <a:ea typeface="Consolas"/>
                  <a:cs typeface="Consolas"/>
                </a:rPr>
                <a:t>2.882</a:t>
              </a:r>
            </a:p>
          </p:txBody>
        </p:sp>
        <p:sp>
          <p:nvSpPr>
            <p:cNvPr id="24" name="TextBox 24"/>
            <p:cNvSpPr txBox="1"/>
            <p:nvPr/>
          </p:nvSpPr>
          <p:spPr>
            <a:xfrm>
              <a:off x="9632442" y="2749868"/>
              <a:ext cx="513493" cy="264033"/>
            </a:xfrm>
            <a:prstGeom prst="rect">
              <a:avLst/>
            </a:prstGeom>
            <a:noFill/>
            <a:ln>
              <a:noFill/>
            </a:ln>
          </p:spPr>
          <p:txBody>
            <a:bodyPr wrap="none" lIns="0" tIns="0" rIns="0" bIns="0" anchor="t" anchorCtr="0">
              <a:spAutoFit/>
            </a:bodyPr>
            <a:lstStyle/>
            <a:p>
              <a:pPr algn="l"/>
              <a:r>
                <a:rPr lang="zh-CN" sz="1350" dirty="0">
                  <a:solidFill>
                    <a:schemeClr val="accent1"/>
                  </a:solidFill>
                  <a:latin typeface="Consolas"/>
                  <a:ea typeface="Consolas"/>
                  <a:cs typeface="Consolas"/>
                </a:rPr>
                <a:t>2.448</a:t>
              </a:r>
            </a:p>
          </p:txBody>
        </p:sp>
        <p:sp>
          <p:nvSpPr>
            <p:cNvPr id="25" name="TextBox 25"/>
            <p:cNvSpPr txBox="1"/>
            <p:nvPr/>
          </p:nvSpPr>
          <p:spPr>
            <a:xfrm>
              <a:off x="10699242" y="2749868"/>
              <a:ext cx="513493" cy="264033"/>
            </a:xfrm>
            <a:prstGeom prst="rect">
              <a:avLst/>
            </a:prstGeom>
            <a:noFill/>
            <a:ln>
              <a:noFill/>
            </a:ln>
          </p:spPr>
          <p:txBody>
            <a:bodyPr wrap="none" lIns="0" tIns="0" rIns="0" bIns="0" anchor="t" anchorCtr="0">
              <a:spAutoFit/>
            </a:bodyPr>
            <a:lstStyle/>
            <a:p>
              <a:pPr algn="l"/>
              <a:r>
                <a:rPr lang="zh-CN" sz="1350" dirty="0">
                  <a:solidFill>
                    <a:schemeClr val="accent1"/>
                  </a:solidFill>
                  <a:latin typeface="Consolas"/>
                  <a:ea typeface="Consolas"/>
                  <a:cs typeface="Consolas"/>
                </a:rPr>
                <a:t>3.354</a:t>
              </a:r>
            </a:p>
          </p:txBody>
        </p:sp>
        <p:sp>
          <p:nvSpPr>
            <p:cNvPr id="26" name="Line 26"/>
            <p:cNvSpPr/>
            <p:nvPr/>
          </p:nvSpPr>
          <p:spPr>
            <a:xfrm>
              <a:off x="6324600" y="3067050"/>
              <a:ext cx="5181600" cy="9525"/>
            </a:xfrm>
            <a:custGeom>
              <a:avLst/>
              <a:gdLst/>
              <a:ahLst/>
              <a:cxnLst/>
              <a:rect l="l" t="t" r="r" b="b"/>
              <a:pathLst>
                <a:path w="5181600" h="9525">
                  <a:moveTo>
                    <a:pt x="0" y="0"/>
                  </a:moveTo>
                  <a:lnTo>
                    <a:pt x="5181600" y="0"/>
                  </a:lnTo>
                </a:path>
              </a:pathLst>
            </a:custGeom>
            <a:noFill/>
            <a:ln w="9525">
              <a:solidFill>
                <a:schemeClr val="accent1">
                  <a:alpha val="15000"/>
                </a:schemeClr>
              </a:solidFill>
            </a:ln>
          </p:spPr>
        </p:sp>
        <p:sp>
          <p:nvSpPr>
            <p:cNvPr id="27" name="TextBox 27"/>
            <p:cNvSpPr txBox="1"/>
            <p:nvPr/>
          </p:nvSpPr>
          <p:spPr>
            <a:xfrm>
              <a:off x="6317742" y="3283268"/>
              <a:ext cx="713403"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β 干中学</a:t>
              </a:r>
            </a:p>
          </p:txBody>
        </p:sp>
        <p:sp>
          <p:nvSpPr>
            <p:cNvPr id="28" name="TextBox 28"/>
            <p:cNvSpPr txBox="1"/>
            <p:nvPr/>
          </p:nvSpPr>
          <p:spPr>
            <a:xfrm>
              <a:off x="8565642" y="3283268"/>
              <a:ext cx="613448" cy="264033"/>
            </a:xfrm>
            <a:prstGeom prst="rect">
              <a:avLst/>
            </a:prstGeom>
            <a:noFill/>
            <a:ln>
              <a:noFill/>
            </a:ln>
          </p:spPr>
          <p:txBody>
            <a:bodyPr wrap="none" lIns="0" tIns="0" rIns="0" bIns="0" anchor="t" anchorCtr="0">
              <a:spAutoFit/>
            </a:bodyPr>
            <a:lstStyle/>
            <a:p>
              <a:pPr algn="l"/>
              <a:r>
                <a:rPr lang="zh-CN" sz="1350" dirty="0">
                  <a:solidFill>
                    <a:schemeClr val="accent1"/>
                  </a:solidFill>
                  <a:latin typeface="Consolas"/>
                  <a:ea typeface="Consolas"/>
                  <a:cs typeface="Consolas"/>
                </a:rPr>
                <a:t>−0.074</a:t>
              </a:r>
            </a:p>
          </p:txBody>
        </p:sp>
        <p:sp>
          <p:nvSpPr>
            <p:cNvPr id="29" name="TextBox 29"/>
            <p:cNvSpPr txBox="1"/>
            <p:nvPr/>
          </p:nvSpPr>
          <p:spPr>
            <a:xfrm>
              <a:off x="9632442" y="3283268"/>
              <a:ext cx="613448" cy="264033"/>
            </a:xfrm>
            <a:prstGeom prst="rect">
              <a:avLst/>
            </a:prstGeom>
            <a:noFill/>
            <a:ln>
              <a:noFill/>
            </a:ln>
          </p:spPr>
          <p:txBody>
            <a:bodyPr wrap="none" lIns="0" tIns="0" rIns="0" bIns="0" anchor="t" anchorCtr="0">
              <a:spAutoFit/>
            </a:bodyPr>
            <a:lstStyle/>
            <a:p>
              <a:pPr algn="l"/>
              <a:r>
                <a:rPr lang="zh-CN" sz="1350" dirty="0">
                  <a:solidFill>
                    <a:schemeClr val="accent1"/>
                  </a:solidFill>
                  <a:latin typeface="Consolas"/>
                  <a:ea typeface="Consolas"/>
                  <a:cs typeface="Consolas"/>
                </a:rPr>
                <a:t>−0.448</a:t>
              </a:r>
            </a:p>
          </p:txBody>
        </p:sp>
        <p:sp>
          <p:nvSpPr>
            <p:cNvPr id="30" name="TextBox 30"/>
            <p:cNvSpPr txBox="1"/>
            <p:nvPr/>
          </p:nvSpPr>
          <p:spPr>
            <a:xfrm>
              <a:off x="10699242" y="3283268"/>
              <a:ext cx="613448" cy="264033"/>
            </a:xfrm>
            <a:prstGeom prst="rect">
              <a:avLst/>
            </a:prstGeom>
            <a:noFill/>
            <a:ln>
              <a:noFill/>
            </a:ln>
          </p:spPr>
          <p:txBody>
            <a:bodyPr wrap="none" lIns="0" tIns="0" rIns="0" bIns="0" anchor="t" anchorCtr="0">
              <a:spAutoFit/>
            </a:bodyPr>
            <a:lstStyle/>
            <a:p>
              <a:pPr algn="l"/>
              <a:r>
                <a:rPr lang="zh-CN" sz="1350" dirty="0">
                  <a:solidFill>
                    <a:schemeClr val="accent1"/>
                  </a:solidFill>
                  <a:latin typeface="Consolas"/>
                  <a:ea typeface="Consolas"/>
                  <a:cs typeface="Consolas"/>
                </a:rPr>
                <a:t>−0.155</a:t>
              </a:r>
            </a:p>
          </p:txBody>
        </p:sp>
        <p:sp>
          <p:nvSpPr>
            <p:cNvPr id="31" name="Line 31"/>
            <p:cNvSpPr/>
            <p:nvPr/>
          </p:nvSpPr>
          <p:spPr>
            <a:xfrm>
              <a:off x="6324600" y="3600450"/>
              <a:ext cx="5181600" cy="9525"/>
            </a:xfrm>
            <a:custGeom>
              <a:avLst/>
              <a:gdLst/>
              <a:ahLst/>
              <a:cxnLst/>
              <a:rect l="l" t="t" r="r" b="b"/>
              <a:pathLst>
                <a:path w="5181600" h="9525">
                  <a:moveTo>
                    <a:pt x="0" y="0"/>
                  </a:moveTo>
                  <a:lnTo>
                    <a:pt x="5181600" y="0"/>
                  </a:lnTo>
                </a:path>
              </a:pathLst>
            </a:custGeom>
            <a:noFill/>
            <a:ln w="9525">
              <a:solidFill>
                <a:schemeClr val="accent1">
                  <a:alpha val="15000"/>
                </a:schemeClr>
              </a:solidFill>
            </a:ln>
          </p:spPr>
        </p:sp>
        <p:sp>
          <p:nvSpPr>
            <p:cNvPr id="32" name="TextBox 32"/>
            <p:cNvSpPr txBox="1"/>
            <p:nvPr/>
          </p:nvSpPr>
          <p:spPr>
            <a:xfrm>
              <a:off x="6317742" y="3816668"/>
              <a:ext cx="89514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β 研究中学</a:t>
              </a:r>
            </a:p>
          </p:txBody>
        </p:sp>
        <p:sp>
          <p:nvSpPr>
            <p:cNvPr id="33" name="TextBox 33"/>
            <p:cNvSpPr txBox="1"/>
            <p:nvPr/>
          </p:nvSpPr>
          <p:spPr>
            <a:xfrm>
              <a:off x="8565642" y="3816668"/>
              <a:ext cx="613448" cy="264033"/>
            </a:xfrm>
            <a:prstGeom prst="rect">
              <a:avLst/>
            </a:prstGeom>
            <a:noFill/>
            <a:ln>
              <a:noFill/>
            </a:ln>
          </p:spPr>
          <p:txBody>
            <a:bodyPr wrap="none" lIns="0" tIns="0" rIns="0" bIns="0" anchor="t" anchorCtr="0">
              <a:spAutoFit/>
            </a:bodyPr>
            <a:lstStyle/>
            <a:p>
              <a:pPr algn="l"/>
              <a:r>
                <a:rPr lang="zh-CN" sz="1350" dirty="0">
                  <a:solidFill>
                    <a:schemeClr val="accent1"/>
                  </a:solidFill>
                  <a:latin typeface="Consolas"/>
                  <a:ea typeface="Consolas"/>
                  <a:cs typeface="Consolas"/>
                </a:rPr>
                <a:t>−0.814</a:t>
              </a:r>
            </a:p>
          </p:txBody>
        </p:sp>
        <p:sp>
          <p:nvSpPr>
            <p:cNvPr id="34" name="TextBox 34"/>
            <p:cNvSpPr txBox="1"/>
            <p:nvPr/>
          </p:nvSpPr>
          <p:spPr>
            <a:xfrm>
              <a:off x="9632442" y="3816668"/>
              <a:ext cx="613448" cy="264033"/>
            </a:xfrm>
            <a:prstGeom prst="rect">
              <a:avLst/>
            </a:prstGeom>
            <a:noFill/>
            <a:ln>
              <a:noFill/>
            </a:ln>
          </p:spPr>
          <p:txBody>
            <a:bodyPr wrap="none" lIns="0" tIns="0" rIns="0" bIns="0" anchor="t" anchorCtr="0">
              <a:spAutoFit/>
            </a:bodyPr>
            <a:lstStyle/>
            <a:p>
              <a:pPr algn="l"/>
              <a:r>
                <a:rPr lang="zh-CN" sz="1350" dirty="0">
                  <a:solidFill>
                    <a:schemeClr val="accent1"/>
                  </a:solidFill>
                  <a:latin typeface="Consolas"/>
                  <a:ea typeface="Consolas"/>
                  <a:cs typeface="Consolas"/>
                </a:rPr>
                <a:t>−0.074</a:t>
              </a:r>
            </a:p>
          </p:txBody>
        </p:sp>
        <p:sp>
          <p:nvSpPr>
            <p:cNvPr id="35" name="TextBox 35"/>
            <p:cNvSpPr txBox="1"/>
            <p:nvPr/>
          </p:nvSpPr>
          <p:spPr>
            <a:xfrm>
              <a:off x="10699242" y="3816668"/>
              <a:ext cx="113671" cy="264033"/>
            </a:xfrm>
            <a:prstGeom prst="rect">
              <a:avLst/>
            </a:prstGeom>
            <a:noFill/>
            <a:ln>
              <a:noFill/>
            </a:ln>
          </p:spPr>
          <p:txBody>
            <a:bodyPr wrap="none" lIns="0" tIns="0" rIns="0" bIns="0" anchor="t" anchorCtr="0">
              <a:spAutoFit/>
            </a:bodyPr>
            <a:lstStyle/>
            <a:p>
              <a:pPr algn="l"/>
              <a:r>
                <a:rPr lang="zh-CN" sz="1350" dirty="0">
                  <a:solidFill>
                    <a:schemeClr val="accent1"/>
                  </a:solidFill>
                  <a:latin typeface="Consolas"/>
                  <a:ea typeface="Consolas"/>
                  <a:cs typeface="Consolas"/>
                </a:rPr>
                <a:t>—</a:t>
              </a:r>
            </a:p>
          </p:txBody>
        </p:sp>
        <p:sp>
          <p:nvSpPr>
            <p:cNvPr id="36" name="Line 36"/>
            <p:cNvSpPr/>
            <p:nvPr/>
          </p:nvSpPr>
          <p:spPr>
            <a:xfrm>
              <a:off x="6324600" y="4133850"/>
              <a:ext cx="5181600" cy="9525"/>
            </a:xfrm>
            <a:custGeom>
              <a:avLst/>
              <a:gdLst/>
              <a:ahLst/>
              <a:cxnLst/>
              <a:rect l="l" t="t" r="r" b="b"/>
              <a:pathLst>
                <a:path w="5181600" h="9525">
                  <a:moveTo>
                    <a:pt x="0" y="0"/>
                  </a:moveTo>
                  <a:lnTo>
                    <a:pt x="5181600" y="0"/>
                  </a:lnTo>
                </a:path>
              </a:pathLst>
            </a:custGeom>
            <a:noFill/>
            <a:ln w="9525">
              <a:solidFill>
                <a:schemeClr val="accent1">
                  <a:alpha val="15000"/>
                </a:schemeClr>
              </a:solidFill>
            </a:ln>
          </p:spPr>
        </p:sp>
        <p:sp>
          <p:nvSpPr>
            <p:cNvPr id="37" name="TextBox 37"/>
            <p:cNvSpPr txBox="1"/>
            <p:nvPr/>
          </p:nvSpPr>
          <p:spPr>
            <a:xfrm>
              <a:off x="6317742" y="4350068"/>
              <a:ext cx="922401"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对应学习率</a:t>
              </a:r>
            </a:p>
          </p:txBody>
        </p:sp>
        <p:sp>
          <p:nvSpPr>
            <p:cNvPr id="38" name="TextBox 38"/>
            <p:cNvSpPr txBox="1"/>
            <p:nvPr/>
          </p:nvSpPr>
          <p:spPr>
            <a:xfrm>
              <a:off x="8565642" y="4350068"/>
              <a:ext cx="449885" cy="264033"/>
            </a:xfrm>
            <a:prstGeom prst="rect">
              <a:avLst/>
            </a:prstGeom>
            <a:noFill/>
            <a:ln>
              <a:noFill/>
            </a:ln>
          </p:spPr>
          <p:txBody>
            <a:bodyPr wrap="none" lIns="0" tIns="0" rIns="0" bIns="0" anchor="t" anchorCtr="0">
              <a:spAutoFit/>
            </a:bodyPr>
            <a:lstStyle/>
            <a:p>
              <a:pPr algn="l"/>
              <a:r>
                <a:rPr lang="zh-CN" sz="1350" dirty="0">
                  <a:solidFill>
                    <a:schemeClr val="accent1"/>
                  </a:solidFill>
                  <a:latin typeface="Consolas"/>
                  <a:ea typeface="Consolas"/>
                  <a:cs typeface="Consolas"/>
                </a:rPr>
                <a:t>5.0%</a:t>
              </a:r>
            </a:p>
          </p:txBody>
        </p:sp>
        <p:sp>
          <p:nvSpPr>
            <p:cNvPr id="39" name="TextBox 39"/>
            <p:cNvSpPr txBox="1"/>
            <p:nvPr/>
          </p:nvSpPr>
          <p:spPr>
            <a:xfrm>
              <a:off x="9632442" y="4350068"/>
              <a:ext cx="549840" cy="264033"/>
            </a:xfrm>
            <a:prstGeom prst="rect">
              <a:avLst/>
            </a:prstGeom>
            <a:noFill/>
            <a:ln>
              <a:noFill/>
            </a:ln>
          </p:spPr>
          <p:txBody>
            <a:bodyPr wrap="none" lIns="0" tIns="0" rIns="0" bIns="0" anchor="t" anchorCtr="0">
              <a:spAutoFit/>
            </a:bodyPr>
            <a:lstStyle/>
            <a:p>
              <a:pPr algn="l"/>
              <a:r>
                <a:rPr lang="zh-CN" sz="1350" dirty="0">
                  <a:solidFill>
                    <a:schemeClr val="accent1"/>
                  </a:solidFill>
                  <a:latin typeface="Consolas"/>
                  <a:ea typeface="Consolas"/>
                  <a:cs typeface="Consolas"/>
                </a:rPr>
                <a:t>26.7%</a:t>
              </a:r>
            </a:p>
          </p:txBody>
        </p:sp>
        <p:sp>
          <p:nvSpPr>
            <p:cNvPr id="40" name="TextBox 40"/>
            <p:cNvSpPr txBox="1"/>
            <p:nvPr/>
          </p:nvSpPr>
          <p:spPr>
            <a:xfrm>
              <a:off x="10699242" y="4350068"/>
              <a:ext cx="549840" cy="264033"/>
            </a:xfrm>
            <a:prstGeom prst="rect">
              <a:avLst/>
            </a:prstGeom>
            <a:noFill/>
            <a:ln>
              <a:noFill/>
            </a:ln>
          </p:spPr>
          <p:txBody>
            <a:bodyPr wrap="none" lIns="0" tIns="0" rIns="0" bIns="0" anchor="t" anchorCtr="0">
              <a:spAutoFit/>
            </a:bodyPr>
            <a:lstStyle/>
            <a:p>
              <a:pPr algn="l"/>
              <a:r>
                <a:rPr lang="zh-CN" sz="1350" dirty="0">
                  <a:solidFill>
                    <a:schemeClr val="accent1"/>
                  </a:solidFill>
                  <a:latin typeface="Consolas"/>
                  <a:ea typeface="Consolas"/>
                  <a:cs typeface="Consolas"/>
                </a:rPr>
                <a:t>10.2%</a:t>
              </a:r>
            </a:p>
          </p:txBody>
        </p:sp>
        <p:sp>
          <p:nvSpPr>
            <p:cNvPr id="41" name="TextBox 41"/>
            <p:cNvSpPr txBox="1"/>
            <p:nvPr/>
          </p:nvSpPr>
          <p:spPr>
            <a:xfrm>
              <a:off x="6318504" y="4747260"/>
              <a:ext cx="3097682" cy="234696"/>
            </a:xfrm>
            <a:prstGeom prst="rect">
              <a:avLst/>
            </a:prstGeom>
            <a:noFill/>
            <a:ln>
              <a:noFill/>
            </a:ln>
          </p:spPr>
          <p:txBody>
            <a:bodyPr wrap="none" lIns="0" tIns="0" rIns="0" bIns="0" anchor="t" anchorCtr="0">
              <a:spAutoFit/>
            </a:bodyPr>
            <a:lstStyle/>
            <a:p>
              <a:pPr algn="l"/>
              <a:r>
                <a:rPr lang="zh-CN" sz="1200" dirty="0">
                  <a:solidFill>
                    <a:schemeClr val="dk1">
                      <a:alphaMod val="85000"/>
                    </a:schemeClr>
                  </a:solidFill>
                  <a:latin typeface="+mn-lt"/>
                  <a:ea typeface="+mn-ea"/>
                  <a:cs typeface="+mn-cs"/>
                </a:rPr>
                <a:t>研究中学学习率：国内 43.1% / 国外 5.0%</a:t>
              </a:r>
            </a:p>
          </p:txBody>
        </p:sp>
      </p:grpSp>
      <p:grpSp>
        <p:nvGrpSpPr>
          <p:cNvPr id="44" name="Group 44"/>
          <p:cNvGrpSpPr/>
          <p:nvPr/>
        </p:nvGrpSpPr>
        <p:grpSpPr>
          <a:xfrm>
            <a:off x="678942" y="5607368"/>
            <a:ext cx="7705477" cy="264033"/>
            <a:chOff x="678942" y="5607368"/>
            <a:chExt cx="7705477" cy="264033"/>
          </a:xfrm>
        </p:grpSpPr>
        <p:sp>
          <p:nvSpPr>
            <p:cNvPr id="43" name="TextBox 43"/>
            <p:cNvSpPr txBox="1"/>
            <p:nvPr/>
          </p:nvSpPr>
          <p:spPr>
            <a:xfrm>
              <a:off x="678942" y="5607368"/>
              <a:ext cx="7705477" cy="264033"/>
            </a:xfrm>
            <a:prstGeom prst="rect">
              <a:avLst/>
            </a:prstGeom>
            <a:noFill/>
            <a:ln>
              <a:noFill/>
            </a:ln>
          </p:spPr>
          <p:txBody>
            <a:bodyPr wrap="none" lIns="0" tIns="0" rIns="0" bIns="0" anchor="t" anchorCtr="0">
              <a:spAutoFit/>
            </a:bodyPr>
            <a:lstStyle/>
            <a:p>
              <a:pPr algn="l"/>
              <a:r>
                <a:rPr lang="zh-CN" sz="1350" dirty="0">
                  <a:solidFill>
                    <a:schemeClr val="accent1"/>
                  </a:solidFill>
                  <a:latin typeface="+mn-lt"/>
                  <a:ea typeface="+mn-ea"/>
                  <a:cs typeface="+mn-cs"/>
                </a:rPr>
                <a:t>知识存量按永续盘存更新：KSₜ = (1 − δ) · KSₜ₋₁ + R&amp;Dₜ，δ ≈ 0.874% / 月（≈ 10% / 年）</a:t>
              </a:r>
            </a:p>
          </p:txBody>
        </p:sp>
      </p:grpSp>
      <p:grpSp>
        <p:nvGrpSpPr>
          <p:cNvPr id="48" name="Group 48"/>
          <p:cNvGrpSpPr/>
          <p:nvPr/>
        </p:nvGrpSpPr>
        <p:grpSpPr>
          <a:xfrm>
            <a:off x="679704" y="6286500"/>
            <a:ext cx="10832592" cy="390906"/>
            <a:chOff x="679704" y="6286500"/>
            <a:chExt cx="10832592" cy="390906"/>
          </a:xfrm>
        </p:grpSpPr>
        <p:sp>
          <p:nvSpPr>
            <p:cNvPr id="45" name="Line 45"/>
            <p:cNvSpPr/>
            <p:nvPr/>
          </p:nvSpPr>
          <p:spPr>
            <a:xfrm>
              <a:off x="685800" y="6286500"/>
              <a:ext cx="10820400" cy="9525"/>
            </a:xfrm>
            <a:custGeom>
              <a:avLst/>
              <a:gdLst/>
              <a:ahLst/>
              <a:cxnLst/>
              <a:rect l="l" t="t" r="r" b="b"/>
              <a:pathLst>
                <a:path w="10820400" h="9525">
                  <a:moveTo>
                    <a:pt x="0" y="0"/>
                  </a:moveTo>
                  <a:lnTo>
                    <a:pt x="10820400" y="0"/>
                  </a:lnTo>
                </a:path>
              </a:pathLst>
            </a:custGeom>
            <a:noFill/>
            <a:ln w="9525">
              <a:solidFill>
                <a:schemeClr val="accent1">
                  <a:alpha val="30000"/>
                </a:schemeClr>
              </a:solidFill>
            </a:ln>
          </p:spPr>
        </p:sp>
        <p:sp>
          <p:nvSpPr>
            <p:cNvPr id="46" name="TextBox 46"/>
            <p:cNvSpPr txBox="1"/>
            <p:nvPr/>
          </p:nvSpPr>
          <p:spPr>
            <a:xfrm>
              <a:off x="679704" y="6442710"/>
              <a:ext cx="5094538" cy="234696"/>
            </a:xfrm>
            <a:prstGeom prst="rect">
              <a:avLst/>
            </a:prstGeom>
            <a:noFill/>
            <a:ln>
              <a:noFill/>
            </a:ln>
          </p:spPr>
          <p:txBody>
            <a:bodyPr wrap="none" lIns="0" tIns="0" rIns="0" bIns="0" anchor="t" anchorCtr="0">
              <a:spAutoFit/>
            </a:bodyPr>
            <a:lstStyle/>
            <a:p>
              <a:pPr algn="l"/>
              <a:r>
                <a:rPr lang="zh-CN" sz="1200" dirty="0">
                  <a:solidFill>
                    <a:schemeClr val="dk1">
                      <a:alphaMod val="72000"/>
                    </a:schemeClr>
                  </a:solidFill>
                  <a:latin typeface="+mn-lt"/>
                  <a:ea typeface="+mn-ea"/>
                  <a:cs typeface="+mn-cs"/>
                </a:rPr>
                <a:t>参数对齐论文 Table SI 53；实现于 submodels/experience_curve.py</a:t>
              </a:r>
            </a:p>
          </p:txBody>
        </p:sp>
        <p:sp>
          <p:nvSpPr>
            <p:cNvPr id="47" name="TextBox 47"/>
            <p:cNvSpPr txBox="1"/>
            <p:nvPr/>
          </p:nvSpPr>
          <p:spPr>
            <a:xfrm>
              <a:off x="10958932" y="6442710"/>
              <a:ext cx="553364" cy="234696"/>
            </a:xfrm>
            <a:prstGeom prst="rect">
              <a:avLst/>
            </a:prstGeom>
            <a:noFill/>
            <a:ln>
              <a:noFill/>
            </a:ln>
          </p:spPr>
          <p:txBody>
            <a:bodyPr wrap="none" lIns="0" tIns="0" rIns="0" bIns="0" anchor="t" anchorCtr="0">
              <a:spAutoFit/>
            </a:bodyPr>
            <a:lstStyle/>
            <a:p>
              <a:pPr algn="r"/>
              <a:r>
                <a:rPr lang="zh-CN" sz="1200" dirty="0">
                  <a:solidFill>
                    <a:schemeClr val="dk1">
                      <a:alphaMod val="72000"/>
                    </a:schemeClr>
                  </a:solidFill>
                  <a:latin typeface="+mn-lt"/>
                  <a:ea typeface="+mn-ea"/>
                  <a:cs typeface="+mn-cs"/>
                </a:rPr>
                <a:t>07 / 14</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669798" y="552450"/>
            <a:ext cx="10836402" cy="1076135"/>
            <a:chOff x="669798" y="552450"/>
            <a:chExt cx="10836402" cy="1076135"/>
          </a:xfrm>
        </p:grpSpPr>
        <p:sp>
          <p:nvSpPr>
            <p:cNvPr id="2" name="Rectangle 2"/>
            <p:cNvSpPr/>
            <p:nvPr/>
          </p:nvSpPr>
          <p:spPr>
            <a:xfrm>
              <a:off x="685800" y="552450"/>
              <a:ext cx="533400" cy="38100"/>
            </a:xfrm>
            <a:prstGeom prst="rect">
              <a:avLst/>
            </a:prstGeom>
            <a:solidFill>
              <a:schemeClr val="accent2"/>
            </a:solidFill>
            <a:ln>
              <a:noFill/>
            </a:ln>
          </p:spPr>
        </p:sp>
        <p:sp>
          <p:nvSpPr>
            <p:cNvPr id="3" name="TextBox 3"/>
            <p:cNvSpPr txBox="1"/>
            <p:nvPr/>
          </p:nvSpPr>
          <p:spPr>
            <a:xfrm>
              <a:off x="678942" y="768668"/>
              <a:ext cx="2548433" cy="264033"/>
            </a:xfrm>
            <a:prstGeom prst="rect">
              <a:avLst/>
            </a:prstGeom>
            <a:noFill/>
            <a:ln>
              <a:noFill/>
            </a:ln>
          </p:spPr>
          <p:txBody>
            <a:bodyPr wrap="none" lIns="0" tIns="0" rIns="0" bIns="0" anchor="t" anchorCtr="0">
              <a:spAutoFit/>
            </a:bodyPr>
            <a:lstStyle/>
            <a:p>
              <a:pPr algn="l"/>
              <a:r>
                <a:rPr lang="zh-CN" sz="1350" dirty="0">
                  <a:solidFill>
                    <a:schemeClr val="accent1">
                      <a:alphaMod val="78000"/>
                    </a:schemeClr>
                  </a:solidFill>
                  <a:latin typeface="+mn-lt"/>
                  <a:ea typeface="+mn-ea"/>
                  <a:cs typeface="+mn-cs"/>
                </a:rPr>
                <a:t>PART 2 · 复现的三个核心机制</a:t>
              </a:r>
            </a:p>
          </p:txBody>
        </p:sp>
        <p:sp>
          <p:nvSpPr>
            <p:cNvPr id="4" name="TextBox 4"/>
            <p:cNvSpPr txBox="1"/>
            <p:nvPr/>
          </p:nvSpPr>
          <p:spPr>
            <a:xfrm>
              <a:off x="669798" y="1012508"/>
              <a:ext cx="6265583"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安装商既是缓冲器，也是降温阀</a:t>
              </a:r>
            </a:p>
          </p:txBody>
        </p:sp>
        <p:sp>
          <p:nvSpPr>
            <p:cNvPr id="5" name="Line 5"/>
            <p:cNvSpPr/>
            <p:nvPr/>
          </p:nvSpPr>
          <p:spPr>
            <a:xfrm>
              <a:off x="685800" y="1600200"/>
              <a:ext cx="10820400" cy="9525"/>
            </a:xfrm>
            <a:custGeom>
              <a:avLst/>
              <a:gdLst/>
              <a:ahLst/>
              <a:cxnLst/>
              <a:rect l="l" t="t" r="r" b="b"/>
              <a:pathLst>
                <a:path w="10820400" h="9525">
                  <a:moveTo>
                    <a:pt x="0" y="0"/>
                  </a:moveTo>
                  <a:lnTo>
                    <a:pt x="10820400" y="0"/>
                  </a:lnTo>
                </a:path>
              </a:pathLst>
            </a:custGeom>
            <a:noFill/>
            <a:ln w="9525">
              <a:solidFill>
                <a:schemeClr val="accent1">
                  <a:alpha val="22000"/>
                </a:schemeClr>
              </a:solidFill>
            </a:ln>
          </p:spPr>
        </p:sp>
      </p:grpSp>
      <p:grpSp>
        <p:nvGrpSpPr>
          <p:cNvPr id="23" name="Group 23"/>
          <p:cNvGrpSpPr/>
          <p:nvPr/>
        </p:nvGrpSpPr>
        <p:grpSpPr>
          <a:xfrm>
            <a:off x="678942" y="2025968"/>
            <a:ext cx="4423105" cy="3603688"/>
            <a:chOff x="678942" y="2025968"/>
            <a:chExt cx="4423105" cy="3603688"/>
          </a:xfrm>
        </p:grpSpPr>
        <p:sp>
          <p:nvSpPr>
            <p:cNvPr id="7" name="TextBox 7"/>
            <p:cNvSpPr txBox="1"/>
            <p:nvPr/>
          </p:nvSpPr>
          <p:spPr>
            <a:xfrm>
              <a:off x="678942" y="2025968"/>
              <a:ext cx="777011"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mn-lt"/>
                  <a:ea typeface="+mn-ea"/>
                  <a:cs typeface="+mn-cs"/>
                </a:rPr>
                <a:t>反馈回路</a:t>
              </a:r>
            </a:p>
          </p:txBody>
        </p:sp>
        <p:sp>
          <p:nvSpPr>
            <p:cNvPr id="8" name="Rectangle 8"/>
            <p:cNvSpPr/>
            <p:nvPr/>
          </p:nvSpPr>
          <p:spPr>
            <a:xfrm>
              <a:off x="952500" y="2381250"/>
              <a:ext cx="2667000" cy="609600"/>
            </a:xfrm>
            <a:prstGeom prst="rect">
              <a:avLst/>
            </a:prstGeom>
            <a:solidFill>
              <a:srgbClr val="FFFFFF"/>
            </a:solidFill>
            <a:ln w="9525">
              <a:solidFill>
                <a:schemeClr val="accent5"/>
              </a:solidFill>
            </a:ln>
          </p:spPr>
        </p:sp>
        <p:sp>
          <p:nvSpPr>
            <p:cNvPr id="9" name="TextBox 9"/>
            <p:cNvSpPr txBox="1"/>
            <p:nvPr/>
          </p:nvSpPr>
          <p:spPr>
            <a:xfrm>
              <a:off x="1171956" y="2567940"/>
              <a:ext cx="1036015"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订单积压</a:t>
              </a:r>
            </a:p>
          </p:txBody>
        </p:sp>
        <p:sp>
          <p:nvSpPr>
            <p:cNvPr id="10" name="Line 10"/>
            <p:cNvSpPr/>
            <p:nvPr/>
          </p:nvSpPr>
          <p:spPr>
            <a:xfrm>
              <a:off x="2286000" y="3009900"/>
              <a:ext cx="1" cy="457200"/>
            </a:xfrm>
            <a:prstGeom prst="line">
              <a:avLst/>
            </a:prstGeom>
            <a:noFill/>
            <a:ln w="19050">
              <a:solidFill>
                <a:schemeClr val="accent3"/>
              </a:solidFill>
              <a:tailEnd type="triangle" w="lg" len="lg"/>
            </a:ln>
          </p:spPr>
        </p:sp>
        <p:sp>
          <p:nvSpPr>
            <p:cNvPr id="11" name="TextBox 11"/>
            <p:cNvSpPr txBox="1"/>
            <p:nvPr/>
          </p:nvSpPr>
          <p:spPr>
            <a:xfrm>
              <a:off x="2432304" y="3166110"/>
              <a:ext cx="1328776" cy="234696"/>
            </a:xfrm>
            <a:prstGeom prst="rect">
              <a:avLst/>
            </a:prstGeom>
            <a:noFill/>
            <a:ln>
              <a:noFill/>
            </a:ln>
          </p:spPr>
          <p:txBody>
            <a:bodyPr wrap="none" lIns="0" tIns="0" rIns="0" bIns="0" anchor="t" anchorCtr="0">
              <a:spAutoFit/>
            </a:bodyPr>
            <a:lstStyle/>
            <a:p>
              <a:pPr algn="l"/>
              <a:r>
                <a:rPr lang="zh-CN" sz="1200" dirty="0">
                  <a:solidFill>
                    <a:schemeClr val="dk1">
                      <a:alphaMod val="85000"/>
                    </a:schemeClr>
                  </a:solidFill>
                  <a:latin typeface="+mn-lt"/>
                  <a:ea typeface="+mn-ea"/>
                  <a:cs typeface="+mn-cs"/>
                </a:rPr>
                <a:t>积压超阈值 → 招人</a:t>
              </a:r>
            </a:p>
          </p:txBody>
        </p:sp>
        <p:sp>
          <p:nvSpPr>
            <p:cNvPr id="12" name="Rectangle 12"/>
            <p:cNvSpPr/>
            <p:nvPr/>
          </p:nvSpPr>
          <p:spPr>
            <a:xfrm>
              <a:off x="952500" y="3524250"/>
              <a:ext cx="2667000" cy="609600"/>
            </a:xfrm>
            <a:prstGeom prst="rect">
              <a:avLst/>
            </a:prstGeom>
            <a:solidFill>
              <a:srgbClr val="FFFFFF"/>
            </a:solidFill>
            <a:ln w="9525">
              <a:solidFill>
                <a:schemeClr val="accent5"/>
              </a:solidFill>
            </a:ln>
          </p:spPr>
        </p:sp>
        <p:sp>
          <p:nvSpPr>
            <p:cNvPr id="13" name="TextBox 13"/>
            <p:cNvSpPr txBox="1"/>
            <p:nvPr/>
          </p:nvSpPr>
          <p:spPr>
            <a:xfrm>
              <a:off x="1171956" y="3710940"/>
              <a:ext cx="1036015"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用工规模</a:t>
              </a:r>
            </a:p>
          </p:txBody>
        </p:sp>
        <p:sp>
          <p:nvSpPr>
            <p:cNvPr id="14" name="Line 14"/>
            <p:cNvSpPr/>
            <p:nvPr/>
          </p:nvSpPr>
          <p:spPr>
            <a:xfrm>
              <a:off x="2286000" y="4152900"/>
              <a:ext cx="1" cy="457200"/>
            </a:xfrm>
            <a:prstGeom prst="line">
              <a:avLst/>
            </a:prstGeom>
            <a:noFill/>
            <a:ln w="19050">
              <a:solidFill>
                <a:schemeClr val="accent3"/>
              </a:solidFill>
              <a:tailEnd type="triangle" w="lg" len="lg"/>
            </a:ln>
          </p:spPr>
        </p:sp>
        <p:sp>
          <p:nvSpPr>
            <p:cNvPr id="15" name="TextBox 15"/>
            <p:cNvSpPr txBox="1"/>
            <p:nvPr/>
          </p:nvSpPr>
          <p:spPr>
            <a:xfrm>
              <a:off x="2432304" y="4309110"/>
              <a:ext cx="1490320" cy="234696"/>
            </a:xfrm>
            <a:prstGeom prst="rect">
              <a:avLst/>
            </a:prstGeom>
            <a:noFill/>
            <a:ln>
              <a:noFill/>
            </a:ln>
          </p:spPr>
          <p:txBody>
            <a:bodyPr wrap="none" lIns="0" tIns="0" rIns="0" bIns="0" anchor="t" anchorCtr="0">
              <a:spAutoFit/>
            </a:bodyPr>
            <a:lstStyle/>
            <a:p>
              <a:pPr algn="l"/>
              <a:r>
                <a:rPr lang="zh-CN" sz="1200" dirty="0">
                  <a:solidFill>
                    <a:schemeClr val="dk1">
                      <a:alphaMod val="85000"/>
                    </a:schemeClr>
                  </a:solidFill>
                  <a:latin typeface="+mn-lt"/>
                  <a:ea typeface="+mn-ea"/>
                  <a:cs typeface="+mn-cs"/>
                </a:rPr>
                <a:t>人手不足 → 报价上调</a:t>
              </a:r>
            </a:p>
          </p:txBody>
        </p:sp>
        <p:sp>
          <p:nvSpPr>
            <p:cNvPr id="16" name="Rectangle 16"/>
            <p:cNvSpPr/>
            <p:nvPr/>
          </p:nvSpPr>
          <p:spPr>
            <a:xfrm>
              <a:off x="952500" y="4667250"/>
              <a:ext cx="2667000" cy="609600"/>
            </a:xfrm>
            <a:prstGeom prst="rect">
              <a:avLst/>
            </a:prstGeom>
            <a:solidFill>
              <a:srgbClr val="FFFFFF"/>
            </a:solidFill>
            <a:ln w="9525">
              <a:solidFill>
                <a:schemeClr val="accent5"/>
              </a:solidFill>
            </a:ln>
          </p:spPr>
        </p:sp>
        <p:sp>
          <p:nvSpPr>
            <p:cNvPr id="17" name="TextBox 17"/>
            <p:cNvSpPr txBox="1"/>
            <p:nvPr/>
          </p:nvSpPr>
          <p:spPr>
            <a:xfrm>
              <a:off x="1171956" y="4853940"/>
              <a:ext cx="1133947"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BOS 报价</a:t>
              </a:r>
            </a:p>
          </p:txBody>
        </p:sp>
        <p:sp>
          <p:nvSpPr>
            <p:cNvPr id="18" name="Line 18"/>
            <p:cNvSpPr/>
            <p:nvPr/>
          </p:nvSpPr>
          <p:spPr>
            <a:xfrm>
              <a:off x="3619500" y="4972050"/>
              <a:ext cx="609600" cy="9525"/>
            </a:xfrm>
            <a:custGeom>
              <a:avLst/>
              <a:gdLst/>
              <a:ahLst/>
              <a:cxnLst/>
              <a:rect l="l" t="t" r="r" b="b"/>
              <a:pathLst>
                <a:path w="609600" h="9525">
                  <a:moveTo>
                    <a:pt x="0" y="0"/>
                  </a:moveTo>
                  <a:lnTo>
                    <a:pt x="609600" y="0"/>
                  </a:lnTo>
                </a:path>
              </a:pathLst>
            </a:custGeom>
            <a:noFill/>
            <a:ln w="19050">
              <a:solidFill>
                <a:schemeClr val="accent3"/>
              </a:solidFill>
            </a:ln>
          </p:spPr>
        </p:sp>
        <p:sp>
          <p:nvSpPr>
            <p:cNvPr id="19" name="Line 19"/>
            <p:cNvSpPr/>
            <p:nvPr/>
          </p:nvSpPr>
          <p:spPr>
            <a:xfrm>
              <a:off x="4229100" y="2686050"/>
              <a:ext cx="9525" cy="2286000"/>
            </a:xfrm>
            <a:custGeom>
              <a:avLst/>
              <a:gdLst/>
              <a:ahLst/>
              <a:cxnLst/>
              <a:rect l="l" t="t" r="r" b="b"/>
              <a:pathLst>
                <a:path w="9525" h="2286000">
                  <a:moveTo>
                    <a:pt x="0" y="2286000"/>
                  </a:moveTo>
                  <a:lnTo>
                    <a:pt x="0" y="0"/>
                  </a:lnTo>
                </a:path>
              </a:pathLst>
            </a:custGeom>
            <a:noFill/>
            <a:ln w="19050">
              <a:solidFill>
                <a:schemeClr val="accent3"/>
              </a:solidFill>
            </a:ln>
          </p:spPr>
        </p:sp>
        <p:sp>
          <p:nvSpPr>
            <p:cNvPr id="20" name="Line 20"/>
            <p:cNvSpPr/>
            <p:nvPr/>
          </p:nvSpPr>
          <p:spPr>
            <a:xfrm flipH="1">
              <a:off x="3638550" y="2686050"/>
              <a:ext cx="590550" cy="1"/>
            </a:xfrm>
            <a:prstGeom prst="line">
              <a:avLst/>
            </a:prstGeom>
            <a:noFill/>
            <a:ln w="19050">
              <a:solidFill>
                <a:schemeClr val="accent3"/>
              </a:solidFill>
              <a:tailEnd type="triangle" w="lg" len="lg"/>
            </a:ln>
          </p:spPr>
        </p:sp>
        <p:sp>
          <p:nvSpPr>
            <p:cNvPr id="21" name="TextBox 21"/>
            <p:cNvSpPr txBox="1"/>
            <p:nvPr/>
          </p:nvSpPr>
          <p:spPr>
            <a:xfrm>
              <a:off x="4337304" y="3718560"/>
              <a:ext cx="658368" cy="234696"/>
            </a:xfrm>
            <a:prstGeom prst="rect">
              <a:avLst/>
            </a:prstGeom>
            <a:noFill/>
            <a:ln>
              <a:noFill/>
            </a:ln>
          </p:spPr>
          <p:txBody>
            <a:bodyPr wrap="none" lIns="0" tIns="0" rIns="0" bIns="0" anchor="t" anchorCtr="0">
              <a:spAutoFit/>
            </a:bodyPr>
            <a:lstStyle/>
            <a:p>
              <a:pPr algn="l"/>
              <a:r>
                <a:rPr lang="zh-CN" sz="1200" dirty="0">
                  <a:solidFill>
                    <a:schemeClr val="dk1">
                      <a:alphaMod val="85000"/>
                    </a:schemeClr>
                  </a:solidFill>
                  <a:latin typeface="+mn-lt"/>
                  <a:ea typeface="+mn-ea"/>
                  <a:cs typeface="+mn-cs"/>
                </a:rPr>
                <a:t>安装放缓</a:t>
              </a:r>
            </a:p>
          </p:txBody>
        </p:sp>
        <p:sp>
          <p:nvSpPr>
            <p:cNvPr id="22" name="TextBox 22"/>
            <p:cNvSpPr txBox="1"/>
            <p:nvPr/>
          </p:nvSpPr>
          <p:spPr>
            <a:xfrm>
              <a:off x="679704" y="5394960"/>
              <a:ext cx="4422343" cy="234696"/>
            </a:xfrm>
            <a:prstGeom prst="rect">
              <a:avLst/>
            </a:prstGeom>
            <a:noFill/>
            <a:ln>
              <a:noFill/>
            </a:ln>
          </p:spPr>
          <p:txBody>
            <a:bodyPr wrap="none" lIns="0" tIns="0" rIns="0" bIns="0" anchor="t" anchorCtr="0">
              <a:spAutoFit/>
            </a:bodyPr>
            <a:lstStyle/>
            <a:p>
              <a:pPr algn="l"/>
              <a:r>
                <a:rPr lang="zh-CN" sz="1200" dirty="0">
                  <a:solidFill>
                    <a:schemeClr val="dk1">
                      <a:alphaMod val="85000"/>
                    </a:schemeClr>
                  </a:solidFill>
                  <a:latin typeface="+mn-lt"/>
                  <a:ea typeface="+mn-ea"/>
                  <a:cs typeface="+mn-cs"/>
                </a:rPr>
                <a:t>回路：需求过热 → 用工与报价上升 → 安装放缓，形成自我降温</a:t>
              </a:r>
            </a:p>
          </p:txBody>
        </p:sp>
      </p:grpSp>
      <p:grpSp>
        <p:nvGrpSpPr>
          <p:cNvPr id="34" name="Group 34"/>
          <p:cNvGrpSpPr/>
          <p:nvPr/>
        </p:nvGrpSpPr>
        <p:grpSpPr>
          <a:xfrm>
            <a:off x="6848856" y="2186940"/>
            <a:ext cx="3780815" cy="3551111"/>
            <a:chOff x="6848856" y="2186940"/>
            <a:chExt cx="3780815" cy="3551111"/>
          </a:xfrm>
        </p:grpSpPr>
        <p:sp>
          <p:nvSpPr>
            <p:cNvPr id="24" name="TextBox 24"/>
            <p:cNvSpPr txBox="1"/>
            <p:nvPr/>
          </p:nvSpPr>
          <p:spPr>
            <a:xfrm>
              <a:off x="6848856" y="2186940"/>
              <a:ext cx="298163" cy="352044"/>
            </a:xfrm>
            <a:prstGeom prst="rect">
              <a:avLst/>
            </a:prstGeom>
            <a:noFill/>
            <a:ln>
              <a:noFill/>
            </a:ln>
          </p:spPr>
          <p:txBody>
            <a:bodyPr wrap="none" lIns="0" tIns="0" rIns="0" bIns="0" anchor="t" anchorCtr="0">
              <a:spAutoFit/>
            </a:bodyPr>
            <a:lstStyle/>
            <a:p>
              <a:pPr algn="l"/>
              <a:r>
                <a:rPr lang="zh-CN" sz="1800" b="1" dirty="0">
                  <a:solidFill>
                    <a:schemeClr val="accent2"/>
                  </a:solidFill>
                  <a:latin typeface="Consolas"/>
                  <a:ea typeface="Consolas"/>
                  <a:cs typeface="Consolas"/>
                </a:rPr>
                <a:t>01</a:t>
              </a:r>
            </a:p>
          </p:txBody>
        </p:sp>
        <p:sp>
          <p:nvSpPr>
            <p:cNvPr id="25" name="TextBox 25"/>
            <p:cNvSpPr txBox="1"/>
            <p:nvPr/>
          </p:nvSpPr>
          <p:spPr>
            <a:xfrm>
              <a:off x="7306056" y="2186940"/>
              <a:ext cx="1036015"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订单队列</a:t>
              </a:r>
            </a:p>
          </p:txBody>
        </p:sp>
        <p:sp>
          <p:nvSpPr>
            <p:cNvPr id="26" name="TextBox 26"/>
            <p:cNvSpPr txBox="1"/>
            <p:nvPr/>
          </p:nvSpPr>
          <p:spPr>
            <a:xfrm>
              <a:off x="7308342" y="2540318"/>
              <a:ext cx="2242566" cy="530733"/>
            </a:xfrm>
            <a:prstGeom prst="rect">
              <a:avLst/>
            </a:prstGeom>
            <a:noFill/>
            <a:ln>
              <a:noFill/>
            </a:ln>
          </p:spPr>
          <p:txBody>
            <a:bodyPr wrap="none" lIns="0" tIns="0" rIns="0" bIns="0" anchor="t" anchorCtr="0">
              <a:spAutoFit/>
            </a:bodyPr>
            <a:lstStyle/>
            <a:p>
              <a:pPr algn="l">
                <a:lnSpc>
                  <a:spcPts val="2100"/>
                </a:lnSpc>
              </a:pPr>
              <a:r>
                <a:rPr lang="zh-CN" sz="1350" dirty="0">
                  <a:solidFill>
                    <a:schemeClr val="dk1"/>
                  </a:solidFill>
                  <a:latin typeface="+mn-lt"/>
                  <a:ea typeface="+mn-ea"/>
                  <a:cs typeface="+mn-cs"/>
                </a:rPr>
                <a:t>采用决策先进入待安装队列，</a:t>
              </a:r>
              <a:br/>
              <a:r>
                <a:rPr lang="zh-CN" sz="1350" dirty="0">
                  <a:solidFill>
                    <a:schemeClr val="dk1"/>
                  </a:solidFill>
                  <a:latin typeface="+mn-lt"/>
                  <a:ea typeface="+mn-ea"/>
                  <a:cs typeface="+mn-cs"/>
                </a:rPr>
                <a:t>再按安装商产能逐月消化。</a:t>
              </a:r>
            </a:p>
          </p:txBody>
        </p:sp>
        <p:sp>
          <p:nvSpPr>
            <p:cNvPr id="27" name="TextBox 27"/>
            <p:cNvSpPr txBox="1"/>
            <p:nvPr/>
          </p:nvSpPr>
          <p:spPr>
            <a:xfrm>
              <a:off x="7308342" y="3092768"/>
              <a:ext cx="3321329" cy="264033"/>
            </a:xfrm>
            <a:prstGeom prst="rect">
              <a:avLst/>
            </a:prstGeom>
            <a:noFill/>
            <a:ln>
              <a:noFill/>
            </a:ln>
          </p:spPr>
          <p:txBody>
            <a:bodyPr wrap="none" lIns="0" tIns="0" rIns="0" bIns="0" anchor="t" anchorCtr="0">
              <a:spAutoFit/>
            </a:bodyPr>
            <a:lstStyle/>
            <a:p>
              <a:pPr algn="l"/>
              <a:r>
                <a:rPr lang="zh-CN" sz="1350" dirty="0">
                  <a:solidFill>
                    <a:schemeClr val="dk1">
                      <a:alphaMod val="85000"/>
                    </a:schemeClr>
                  </a:solidFill>
                  <a:latin typeface="+mn-lt"/>
                  <a:ea typeface="+mn-ea"/>
                  <a:cs typeface="+mn-cs"/>
                </a:rPr>
                <a:t>因此"决定装"与"实际装"之间存在时滞。</a:t>
              </a:r>
            </a:p>
          </p:txBody>
        </p:sp>
        <p:sp>
          <p:nvSpPr>
            <p:cNvPr id="28" name="TextBox 28"/>
            <p:cNvSpPr txBox="1"/>
            <p:nvPr/>
          </p:nvSpPr>
          <p:spPr>
            <a:xfrm>
              <a:off x="6848856" y="3615690"/>
              <a:ext cx="298163" cy="352044"/>
            </a:xfrm>
            <a:prstGeom prst="rect">
              <a:avLst/>
            </a:prstGeom>
            <a:noFill/>
            <a:ln>
              <a:noFill/>
            </a:ln>
          </p:spPr>
          <p:txBody>
            <a:bodyPr wrap="none" lIns="0" tIns="0" rIns="0" bIns="0" anchor="t" anchorCtr="0">
              <a:spAutoFit/>
            </a:bodyPr>
            <a:lstStyle/>
            <a:p>
              <a:pPr algn="l"/>
              <a:r>
                <a:rPr lang="zh-CN" sz="1800" b="1" dirty="0">
                  <a:solidFill>
                    <a:schemeClr val="accent2"/>
                  </a:solidFill>
                  <a:latin typeface="Consolas"/>
                  <a:ea typeface="Consolas"/>
                  <a:cs typeface="Consolas"/>
                </a:rPr>
                <a:t>02</a:t>
              </a:r>
            </a:p>
          </p:txBody>
        </p:sp>
        <p:sp>
          <p:nvSpPr>
            <p:cNvPr id="29" name="TextBox 29"/>
            <p:cNvSpPr txBox="1"/>
            <p:nvPr/>
          </p:nvSpPr>
          <p:spPr>
            <a:xfrm>
              <a:off x="7306056" y="3615690"/>
              <a:ext cx="1036015"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用工调整</a:t>
              </a:r>
            </a:p>
          </p:txBody>
        </p:sp>
        <p:sp>
          <p:nvSpPr>
            <p:cNvPr id="30" name="TextBox 30"/>
            <p:cNvSpPr txBox="1"/>
            <p:nvPr/>
          </p:nvSpPr>
          <p:spPr>
            <a:xfrm>
              <a:off x="7308342" y="3969068"/>
              <a:ext cx="2585466" cy="530733"/>
            </a:xfrm>
            <a:prstGeom prst="rect">
              <a:avLst/>
            </a:prstGeom>
            <a:noFill/>
            <a:ln>
              <a:noFill/>
            </a:ln>
          </p:spPr>
          <p:txBody>
            <a:bodyPr wrap="none" lIns="0" tIns="0" rIns="0" bIns="0" anchor="t" anchorCtr="0">
              <a:spAutoFit/>
            </a:bodyPr>
            <a:lstStyle/>
            <a:p>
              <a:pPr algn="l">
                <a:lnSpc>
                  <a:spcPts val="2100"/>
                </a:lnSpc>
              </a:pPr>
              <a:r>
                <a:rPr lang="zh-CN" sz="1350" dirty="0">
                  <a:solidFill>
                    <a:schemeClr val="dk1"/>
                  </a:solidFill>
                  <a:latin typeface="+mn-lt"/>
                  <a:ea typeface="+mn-ea"/>
                  <a:cs typeface="+mn-cs"/>
                </a:rPr>
                <a:t>积压高于阈值就招人，</a:t>
              </a:r>
              <a:br/>
              <a:r>
                <a:rPr lang="zh-CN" sz="1350" dirty="0">
                  <a:solidFill>
                    <a:schemeClr val="dk1"/>
                  </a:solidFill>
                  <a:latin typeface="+mn-lt"/>
                  <a:ea typeface="+mn-ea"/>
                  <a:cs typeface="+mn-cs"/>
                </a:rPr>
                <a:t>低于阈值就裁员，并设就业下限。</a:t>
              </a:r>
            </a:p>
          </p:txBody>
        </p:sp>
        <p:sp>
          <p:nvSpPr>
            <p:cNvPr id="31" name="TextBox 31"/>
            <p:cNvSpPr txBox="1"/>
            <p:nvPr/>
          </p:nvSpPr>
          <p:spPr>
            <a:xfrm>
              <a:off x="6848856" y="4853940"/>
              <a:ext cx="298163" cy="352044"/>
            </a:xfrm>
            <a:prstGeom prst="rect">
              <a:avLst/>
            </a:prstGeom>
            <a:noFill/>
            <a:ln>
              <a:noFill/>
            </a:ln>
          </p:spPr>
          <p:txBody>
            <a:bodyPr wrap="none" lIns="0" tIns="0" rIns="0" bIns="0" anchor="t" anchorCtr="0">
              <a:spAutoFit/>
            </a:bodyPr>
            <a:lstStyle/>
            <a:p>
              <a:pPr algn="l"/>
              <a:r>
                <a:rPr lang="zh-CN" sz="1800" b="1" dirty="0">
                  <a:solidFill>
                    <a:schemeClr val="accent2"/>
                  </a:solidFill>
                  <a:latin typeface="Consolas"/>
                  <a:ea typeface="Consolas"/>
                  <a:cs typeface="Consolas"/>
                </a:rPr>
                <a:t>03</a:t>
              </a:r>
            </a:p>
          </p:txBody>
        </p:sp>
        <p:sp>
          <p:nvSpPr>
            <p:cNvPr id="32" name="TextBox 32"/>
            <p:cNvSpPr txBox="1"/>
            <p:nvPr/>
          </p:nvSpPr>
          <p:spPr>
            <a:xfrm>
              <a:off x="7306056" y="4853940"/>
              <a:ext cx="1036015"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报价机制</a:t>
              </a:r>
            </a:p>
          </p:txBody>
        </p:sp>
        <p:sp>
          <p:nvSpPr>
            <p:cNvPr id="33" name="TextBox 33"/>
            <p:cNvSpPr txBox="1"/>
            <p:nvPr/>
          </p:nvSpPr>
          <p:spPr>
            <a:xfrm>
              <a:off x="7308342" y="5207318"/>
              <a:ext cx="2611184" cy="530733"/>
            </a:xfrm>
            <a:prstGeom prst="rect">
              <a:avLst/>
            </a:prstGeom>
            <a:noFill/>
            <a:ln>
              <a:noFill/>
            </a:ln>
          </p:spPr>
          <p:txBody>
            <a:bodyPr wrap="none" lIns="0" tIns="0" rIns="0" bIns="0" anchor="t" anchorCtr="0">
              <a:spAutoFit/>
            </a:bodyPr>
            <a:lstStyle/>
            <a:p>
              <a:pPr algn="l">
                <a:lnSpc>
                  <a:spcPts val="2100"/>
                </a:lnSpc>
              </a:pPr>
              <a:r>
                <a:rPr lang="zh-CN" sz="1350" dirty="0">
                  <a:solidFill>
                    <a:schemeClr val="dk1"/>
                  </a:solidFill>
                  <a:latin typeface="+mn-lt"/>
                  <a:ea typeface="+mn-ea"/>
                  <a:cs typeface="+mn-cs"/>
                </a:rPr>
                <a:t>非组件成本随积压 / 人手比上升，</a:t>
              </a:r>
              <a:br/>
              <a:r>
                <a:rPr lang="zh-CN" sz="1350" dirty="0">
                  <a:solidFill>
                    <a:schemeClr val="dk1"/>
                  </a:solidFill>
                  <a:latin typeface="+mn-lt"/>
                  <a:ea typeface="+mn-ea"/>
                  <a:cs typeface="+mn-cs"/>
                </a:rPr>
                <a:t>供不应求时安装商提价。</a:t>
              </a:r>
            </a:p>
          </p:txBody>
        </p:sp>
      </p:grpSp>
      <p:grpSp>
        <p:nvGrpSpPr>
          <p:cNvPr id="38" name="Group 38"/>
          <p:cNvGrpSpPr/>
          <p:nvPr/>
        </p:nvGrpSpPr>
        <p:grpSpPr>
          <a:xfrm>
            <a:off x="679704" y="6286500"/>
            <a:ext cx="10832592" cy="390906"/>
            <a:chOff x="679704" y="6286500"/>
            <a:chExt cx="10832592" cy="390906"/>
          </a:xfrm>
        </p:grpSpPr>
        <p:sp>
          <p:nvSpPr>
            <p:cNvPr id="35" name="Line 35"/>
            <p:cNvSpPr/>
            <p:nvPr/>
          </p:nvSpPr>
          <p:spPr>
            <a:xfrm>
              <a:off x="685800" y="6286500"/>
              <a:ext cx="10820400" cy="9525"/>
            </a:xfrm>
            <a:custGeom>
              <a:avLst/>
              <a:gdLst/>
              <a:ahLst/>
              <a:cxnLst/>
              <a:rect l="l" t="t" r="r" b="b"/>
              <a:pathLst>
                <a:path w="10820400" h="9525">
                  <a:moveTo>
                    <a:pt x="0" y="0"/>
                  </a:moveTo>
                  <a:lnTo>
                    <a:pt x="10820400" y="0"/>
                  </a:lnTo>
                </a:path>
              </a:pathLst>
            </a:custGeom>
            <a:noFill/>
            <a:ln w="9525">
              <a:solidFill>
                <a:schemeClr val="accent1">
                  <a:alpha val="30000"/>
                </a:schemeClr>
              </a:solidFill>
            </a:ln>
          </p:spPr>
        </p:sp>
        <p:sp>
          <p:nvSpPr>
            <p:cNvPr id="36" name="TextBox 36"/>
            <p:cNvSpPr txBox="1"/>
            <p:nvPr/>
          </p:nvSpPr>
          <p:spPr>
            <a:xfrm>
              <a:off x="679704" y="6442710"/>
              <a:ext cx="7200900" cy="234696"/>
            </a:xfrm>
            <a:prstGeom prst="rect">
              <a:avLst/>
            </a:prstGeom>
            <a:noFill/>
            <a:ln>
              <a:noFill/>
            </a:ln>
          </p:spPr>
          <p:txBody>
            <a:bodyPr wrap="none" lIns="0" tIns="0" rIns="0" bIns="0" anchor="t" anchorCtr="0">
              <a:spAutoFit/>
            </a:bodyPr>
            <a:lstStyle/>
            <a:p>
              <a:pPr algn="l"/>
              <a:r>
                <a:rPr lang="zh-CN" sz="1200" dirty="0">
                  <a:solidFill>
                    <a:schemeClr val="dk1">
                      <a:alphaMod val="72000"/>
                    </a:schemeClr>
                  </a:solidFill>
                  <a:latin typeface="+mn-lt"/>
                  <a:ea typeface="+mn-ea"/>
                  <a:cs typeface="+mn-cs"/>
                </a:rPr>
                <a:t>非组件成本走单因子经验曲线 β = −0.155（学习率 10.2%）；实现于 submodels/labor_market.py</a:t>
              </a:r>
            </a:p>
          </p:txBody>
        </p:sp>
        <p:sp>
          <p:nvSpPr>
            <p:cNvPr id="37" name="TextBox 37"/>
            <p:cNvSpPr txBox="1"/>
            <p:nvPr/>
          </p:nvSpPr>
          <p:spPr>
            <a:xfrm>
              <a:off x="10958932" y="6442710"/>
              <a:ext cx="553364" cy="234696"/>
            </a:xfrm>
            <a:prstGeom prst="rect">
              <a:avLst/>
            </a:prstGeom>
            <a:noFill/>
            <a:ln>
              <a:noFill/>
            </a:ln>
          </p:spPr>
          <p:txBody>
            <a:bodyPr wrap="none" lIns="0" tIns="0" rIns="0" bIns="0" anchor="t" anchorCtr="0">
              <a:spAutoFit/>
            </a:bodyPr>
            <a:lstStyle/>
            <a:p>
              <a:pPr algn="r"/>
              <a:r>
                <a:rPr lang="zh-CN" sz="1200" dirty="0">
                  <a:solidFill>
                    <a:schemeClr val="dk1">
                      <a:alphaMod val="72000"/>
                    </a:schemeClr>
                  </a:solidFill>
                  <a:latin typeface="+mn-lt"/>
                  <a:ea typeface="+mn-ea"/>
                  <a:cs typeface="+mn-cs"/>
                </a:rPr>
                <a:t>08 / 14</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669798" y="552450"/>
            <a:ext cx="10836402" cy="1076135"/>
            <a:chOff x="669798" y="552450"/>
            <a:chExt cx="10836402" cy="1076135"/>
          </a:xfrm>
        </p:grpSpPr>
        <p:sp>
          <p:nvSpPr>
            <p:cNvPr id="2" name="Rectangle 2"/>
            <p:cNvSpPr/>
            <p:nvPr/>
          </p:nvSpPr>
          <p:spPr>
            <a:xfrm>
              <a:off x="685800" y="552450"/>
              <a:ext cx="533400" cy="38100"/>
            </a:xfrm>
            <a:prstGeom prst="rect">
              <a:avLst/>
            </a:prstGeom>
            <a:solidFill>
              <a:schemeClr val="accent2"/>
            </a:solidFill>
            <a:ln>
              <a:noFill/>
            </a:ln>
          </p:spPr>
        </p:sp>
        <p:sp>
          <p:nvSpPr>
            <p:cNvPr id="3" name="TextBox 3"/>
            <p:cNvSpPr txBox="1"/>
            <p:nvPr/>
          </p:nvSpPr>
          <p:spPr>
            <a:xfrm>
              <a:off x="678942" y="768668"/>
              <a:ext cx="1617116" cy="264033"/>
            </a:xfrm>
            <a:prstGeom prst="rect">
              <a:avLst/>
            </a:prstGeom>
            <a:noFill/>
            <a:ln>
              <a:noFill/>
            </a:ln>
          </p:spPr>
          <p:txBody>
            <a:bodyPr wrap="none" lIns="0" tIns="0" rIns="0" bIns="0" anchor="t" anchorCtr="0">
              <a:spAutoFit/>
            </a:bodyPr>
            <a:lstStyle/>
            <a:p>
              <a:pPr algn="l"/>
              <a:r>
                <a:rPr lang="zh-CN" sz="1350" dirty="0">
                  <a:solidFill>
                    <a:schemeClr val="accent1">
                      <a:alphaMod val="78000"/>
                    </a:schemeClr>
                  </a:solidFill>
                  <a:latin typeface="+mn-lt"/>
                  <a:ea typeface="+mn-ea"/>
                  <a:cs typeface="+mn-cs"/>
                </a:rPr>
                <a:t>PART 3 · LLM 增强</a:t>
              </a:r>
            </a:p>
          </p:txBody>
        </p:sp>
        <p:sp>
          <p:nvSpPr>
            <p:cNvPr id="4" name="TextBox 4"/>
            <p:cNvSpPr txBox="1"/>
            <p:nvPr/>
          </p:nvSpPr>
          <p:spPr>
            <a:xfrm>
              <a:off x="669798" y="1012508"/>
              <a:ext cx="9511749"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LLM 只接管两类主体的决策，始终有公式兜底</a:t>
              </a:r>
            </a:p>
          </p:txBody>
        </p:sp>
        <p:sp>
          <p:nvSpPr>
            <p:cNvPr id="5" name="Line 5"/>
            <p:cNvSpPr/>
            <p:nvPr/>
          </p:nvSpPr>
          <p:spPr>
            <a:xfrm>
              <a:off x="685800" y="1600200"/>
              <a:ext cx="10820400" cy="9525"/>
            </a:xfrm>
            <a:custGeom>
              <a:avLst/>
              <a:gdLst/>
              <a:ahLst/>
              <a:cxnLst/>
              <a:rect l="l" t="t" r="r" b="b"/>
              <a:pathLst>
                <a:path w="10820400" h="9525">
                  <a:moveTo>
                    <a:pt x="0" y="0"/>
                  </a:moveTo>
                  <a:lnTo>
                    <a:pt x="10820400" y="0"/>
                  </a:lnTo>
                </a:path>
              </a:pathLst>
            </a:custGeom>
            <a:noFill/>
            <a:ln w="9525">
              <a:solidFill>
                <a:schemeClr val="accent1">
                  <a:alpha val="22000"/>
                </a:schemeClr>
              </a:solidFill>
            </a:ln>
          </p:spPr>
        </p:sp>
      </p:grpSp>
      <p:grpSp>
        <p:nvGrpSpPr>
          <p:cNvPr id="21" name="Group 21"/>
          <p:cNvGrpSpPr/>
          <p:nvPr/>
        </p:nvGrpSpPr>
        <p:grpSpPr>
          <a:xfrm>
            <a:off x="685800" y="1905000"/>
            <a:ext cx="5257800" cy="2590800"/>
            <a:chOff x="685800" y="1905000"/>
            <a:chExt cx="5257800" cy="2590800"/>
          </a:xfrm>
        </p:grpSpPr>
        <p:sp>
          <p:nvSpPr>
            <p:cNvPr id="7" name="Rectangle 7"/>
            <p:cNvSpPr/>
            <p:nvPr/>
          </p:nvSpPr>
          <p:spPr>
            <a:xfrm>
              <a:off x="685800" y="1905000"/>
              <a:ext cx="5257800" cy="2590800"/>
            </a:xfrm>
            <a:prstGeom prst="rect">
              <a:avLst/>
            </a:prstGeom>
            <a:solidFill>
              <a:srgbClr val="FFFFFF"/>
            </a:solidFill>
            <a:ln w="9525">
              <a:solidFill>
                <a:schemeClr val="accent5"/>
              </a:solidFill>
            </a:ln>
          </p:spPr>
        </p:sp>
        <p:grpSp>
          <p:nvGrpSpPr>
            <p:cNvPr id="17" name="Group 17"/>
            <p:cNvGrpSpPr/>
            <p:nvPr/>
          </p:nvGrpSpPr>
          <p:grpSpPr>
            <a:xfrm>
              <a:off x="1050131" y="2195512"/>
              <a:ext cx="166688" cy="226219"/>
              <a:chOff x="1050131" y="2195512"/>
              <a:chExt cx="166688" cy="226219"/>
            </a:xfrm>
          </p:grpSpPr>
          <p:sp>
            <p:nvSpPr>
              <p:cNvPr id="8" name="Freeform 8"/>
              <p:cNvSpPr/>
              <p:nvPr/>
            </p:nvSpPr>
            <p:spPr>
              <a:xfrm>
                <a:off x="1062038" y="2219325"/>
                <a:ext cx="142875" cy="95250"/>
              </a:xfrm>
              <a:custGeom>
                <a:avLst/>
                <a:gdLst/>
                <a:ahLst/>
                <a:cxnLst/>
                <a:rect l="l" t="t" r="r" b="b"/>
                <a:pathLst>
                  <a:path w="142875" h="95250">
                    <a:moveTo>
                      <a:pt x="0" y="23812"/>
                    </a:moveTo>
                    <a:cubicBezTo>
                      <a:pt x="0" y="10661"/>
                      <a:pt x="10661" y="0"/>
                      <a:pt x="23812" y="0"/>
                    </a:cubicBezTo>
                    <a:lnTo>
                      <a:pt x="119062" y="0"/>
                    </a:lnTo>
                    <a:cubicBezTo>
                      <a:pt x="132214" y="0"/>
                      <a:pt x="142875" y="10661"/>
                      <a:pt x="142875" y="23812"/>
                    </a:cubicBezTo>
                    <a:lnTo>
                      <a:pt x="142875" y="71438"/>
                    </a:lnTo>
                    <a:cubicBezTo>
                      <a:pt x="142875" y="84589"/>
                      <a:pt x="132214" y="95250"/>
                      <a:pt x="119062" y="95250"/>
                    </a:cubicBezTo>
                    <a:lnTo>
                      <a:pt x="23812" y="95250"/>
                    </a:lnTo>
                    <a:cubicBezTo>
                      <a:pt x="10661" y="95250"/>
                      <a:pt x="0" y="84589"/>
                      <a:pt x="0" y="71438"/>
                    </a:cubicBezTo>
                    <a:lnTo>
                      <a:pt x="0" y="23812"/>
                    </a:lnTo>
                  </a:path>
                </a:pathLst>
              </a:custGeom>
              <a:noFill/>
              <a:ln w="23812">
                <a:solidFill>
                  <a:schemeClr val="accent2"/>
                </a:solidFill>
              </a:ln>
            </p:spPr>
          </p:sp>
          <p:sp>
            <p:nvSpPr>
              <p:cNvPr id="9" name="Freeform 9"/>
              <p:cNvSpPr/>
              <p:nvPr/>
            </p:nvSpPr>
            <p:spPr>
              <a:xfrm>
                <a:off x="1133475" y="2195512"/>
                <a:ext cx="9525" cy="23812"/>
              </a:xfrm>
              <a:custGeom>
                <a:avLst/>
                <a:gdLst/>
                <a:ahLst/>
                <a:cxnLst/>
                <a:rect l="l" t="t" r="r" b="b"/>
                <a:pathLst>
                  <a:path w="9525" h="23812">
                    <a:moveTo>
                      <a:pt x="0" y="0"/>
                    </a:moveTo>
                    <a:lnTo>
                      <a:pt x="0" y="23812"/>
                    </a:lnTo>
                  </a:path>
                </a:pathLst>
              </a:custGeom>
              <a:noFill/>
              <a:ln w="23812">
                <a:solidFill>
                  <a:schemeClr val="accent2"/>
                </a:solidFill>
              </a:ln>
            </p:spPr>
          </p:sp>
          <p:sp>
            <p:nvSpPr>
              <p:cNvPr id="10" name="Freeform 10"/>
              <p:cNvSpPr/>
              <p:nvPr/>
            </p:nvSpPr>
            <p:spPr>
              <a:xfrm>
                <a:off x="1097756" y="2314575"/>
                <a:ext cx="9525" cy="107156"/>
              </a:xfrm>
              <a:custGeom>
                <a:avLst/>
                <a:gdLst/>
                <a:ahLst/>
                <a:cxnLst/>
                <a:rect l="l" t="t" r="r" b="b"/>
                <a:pathLst>
                  <a:path w="9525" h="107156">
                    <a:moveTo>
                      <a:pt x="0" y="0"/>
                    </a:moveTo>
                    <a:lnTo>
                      <a:pt x="0" y="107156"/>
                    </a:lnTo>
                  </a:path>
                </a:pathLst>
              </a:custGeom>
              <a:noFill/>
              <a:ln w="23812">
                <a:solidFill>
                  <a:schemeClr val="accent2"/>
                </a:solidFill>
              </a:ln>
            </p:spPr>
          </p:sp>
          <p:sp>
            <p:nvSpPr>
              <p:cNvPr id="11" name="Freeform 11"/>
              <p:cNvSpPr/>
              <p:nvPr/>
            </p:nvSpPr>
            <p:spPr>
              <a:xfrm>
                <a:off x="1169194" y="2314575"/>
                <a:ext cx="9525" cy="107156"/>
              </a:xfrm>
              <a:custGeom>
                <a:avLst/>
                <a:gdLst/>
                <a:ahLst/>
                <a:cxnLst/>
                <a:rect l="l" t="t" r="r" b="b"/>
                <a:pathLst>
                  <a:path w="9525" h="107156">
                    <a:moveTo>
                      <a:pt x="0" y="0"/>
                    </a:moveTo>
                    <a:lnTo>
                      <a:pt x="0" y="107156"/>
                    </a:lnTo>
                  </a:path>
                </a:pathLst>
              </a:custGeom>
              <a:noFill/>
              <a:ln w="23812">
                <a:solidFill>
                  <a:schemeClr val="accent2"/>
                </a:solidFill>
              </a:ln>
            </p:spPr>
          </p:sp>
          <p:sp>
            <p:nvSpPr>
              <p:cNvPr id="12" name="Freeform 12"/>
              <p:cNvSpPr/>
              <p:nvPr/>
            </p:nvSpPr>
            <p:spPr>
              <a:xfrm>
                <a:off x="1050131" y="2338388"/>
                <a:ext cx="47625" cy="23812"/>
              </a:xfrm>
              <a:custGeom>
                <a:avLst/>
                <a:gdLst/>
                <a:ahLst/>
                <a:cxnLst/>
                <a:rect l="l" t="t" r="r" b="b"/>
                <a:pathLst>
                  <a:path w="47625" h="23812">
                    <a:moveTo>
                      <a:pt x="0" y="23812"/>
                    </a:moveTo>
                    <a:lnTo>
                      <a:pt x="47625" y="0"/>
                    </a:lnTo>
                  </a:path>
                </a:pathLst>
              </a:custGeom>
              <a:noFill/>
              <a:ln w="23812">
                <a:solidFill>
                  <a:schemeClr val="accent2"/>
                </a:solidFill>
              </a:ln>
            </p:spPr>
          </p:sp>
          <p:sp>
            <p:nvSpPr>
              <p:cNvPr id="13" name="Freeform 13"/>
              <p:cNvSpPr/>
              <p:nvPr/>
            </p:nvSpPr>
            <p:spPr>
              <a:xfrm>
                <a:off x="1169194" y="2338388"/>
                <a:ext cx="47625" cy="23812"/>
              </a:xfrm>
              <a:custGeom>
                <a:avLst/>
                <a:gdLst/>
                <a:ahLst/>
                <a:cxnLst/>
                <a:rect l="l" t="t" r="r" b="b"/>
                <a:pathLst>
                  <a:path w="47625" h="23812">
                    <a:moveTo>
                      <a:pt x="0" y="0"/>
                    </a:moveTo>
                    <a:lnTo>
                      <a:pt x="47625" y="23812"/>
                    </a:lnTo>
                  </a:path>
                </a:pathLst>
              </a:custGeom>
              <a:noFill/>
              <a:ln w="23812">
                <a:solidFill>
                  <a:schemeClr val="accent2"/>
                </a:solidFill>
              </a:ln>
            </p:spPr>
          </p:sp>
          <p:sp>
            <p:nvSpPr>
              <p:cNvPr id="14" name="Freeform 14"/>
              <p:cNvSpPr/>
              <p:nvPr/>
            </p:nvSpPr>
            <p:spPr>
              <a:xfrm>
                <a:off x="1097756" y="2386012"/>
                <a:ext cx="71438" cy="9525"/>
              </a:xfrm>
              <a:custGeom>
                <a:avLst/>
                <a:gdLst/>
                <a:ahLst/>
                <a:cxnLst/>
                <a:rect l="l" t="t" r="r" b="b"/>
                <a:pathLst>
                  <a:path w="71438" h="9525">
                    <a:moveTo>
                      <a:pt x="0" y="0"/>
                    </a:moveTo>
                    <a:lnTo>
                      <a:pt x="71438" y="0"/>
                    </a:lnTo>
                  </a:path>
                </a:pathLst>
              </a:custGeom>
              <a:noFill/>
              <a:ln w="23812">
                <a:solidFill>
                  <a:schemeClr val="accent2"/>
                </a:solidFill>
              </a:ln>
            </p:spPr>
          </p:sp>
          <p:sp>
            <p:nvSpPr>
              <p:cNvPr id="15" name="Freeform 15"/>
              <p:cNvSpPr/>
              <p:nvPr/>
            </p:nvSpPr>
            <p:spPr>
              <a:xfrm>
                <a:off x="1109662" y="2266950"/>
                <a:ext cx="9525" cy="9525"/>
              </a:xfrm>
              <a:custGeom>
                <a:avLst/>
                <a:gdLst/>
                <a:ahLst/>
                <a:cxnLst/>
                <a:rect l="l" t="t" r="r" b="b"/>
                <a:pathLst>
                  <a:path w="9525" h="9525">
                    <a:moveTo>
                      <a:pt x="0" y="0"/>
                    </a:moveTo>
                    <a:lnTo>
                      <a:pt x="0" y="119"/>
                    </a:lnTo>
                  </a:path>
                </a:pathLst>
              </a:custGeom>
              <a:noFill/>
              <a:ln w="23812">
                <a:solidFill>
                  <a:schemeClr val="accent2"/>
                </a:solidFill>
              </a:ln>
            </p:spPr>
          </p:sp>
          <p:sp>
            <p:nvSpPr>
              <p:cNvPr id="16" name="Freeform 16"/>
              <p:cNvSpPr/>
              <p:nvPr/>
            </p:nvSpPr>
            <p:spPr>
              <a:xfrm>
                <a:off x="1157288" y="2266950"/>
                <a:ext cx="9525" cy="9525"/>
              </a:xfrm>
              <a:custGeom>
                <a:avLst/>
                <a:gdLst/>
                <a:ahLst/>
                <a:cxnLst/>
                <a:rect l="l" t="t" r="r" b="b"/>
                <a:pathLst>
                  <a:path w="9525" h="9525">
                    <a:moveTo>
                      <a:pt x="0" y="0"/>
                    </a:moveTo>
                    <a:lnTo>
                      <a:pt x="0" y="119"/>
                    </a:lnTo>
                  </a:path>
                </a:pathLst>
              </a:custGeom>
              <a:noFill/>
              <a:ln w="23812">
                <a:solidFill>
                  <a:schemeClr val="accent2"/>
                </a:solidFill>
              </a:ln>
            </p:spPr>
          </p:sp>
        </p:grpSp>
        <p:sp>
          <p:nvSpPr>
            <p:cNvPr id="18" name="TextBox 18"/>
            <p:cNvSpPr txBox="1"/>
            <p:nvPr/>
          </p:nvSpPr>
          <p:spPr>
            <a:xfrm>
              <a:off x="1400556" y="2205990"/>
              <a:ext cx="2130072"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制造商 · 每月 2 次</a:t>
              </a:r>
            </a:p>
          </p:txBody>
        </p:sp>
        <p:sp>
          <p:nvSpPr>
            <p:cNvPr id="19" name="TextBox 19"/>
            <p:cNvSpPr txBox="1"/>
            <p:nvPr/>
          </p:nvSpPr>
          <p:spPr>
            <a:xfrm>
              <a:off x="983742" y="2749868"/>
              <a:ext cx="3399854" cy="835533"/>
            </a:xfrm>
            <a:prstGeom prst="rect">
              <a:avLst/>
            </a:prstGeom>
            <a:noFill/>
            <a:ln>
              <a:noFill/>
            </a:ln>
          </p:spPr>
          <p:txBody>
            <a:bodyPr wrap="none" lIns="0" tIns="0" rIns="0" bIns="0" anchor="t" anchorCtr="0">
              <a:spAutoFit/>
            </a:bodyPr>
            <a:lstStyle/>
            <a:p>
              <a:pPr algn="l">
                <a:lnSpc>
                  <a:spcPts val="2250"/>
                </a:lnSpc>
              </a:pPr>
              <a:r>
                <a:rPr lang="zh-CN" sz="1350" dirty="0">
                  <a:solidFill>
                    <a:schemeClr val="dk1"/>
                  </a:solidFill>
                  <a:latin typeface="+mn-lt"/>
                  <a:ea typeface="+mn-ea"/>
                  <a:cs typeface="+mn-cs"/>
                </a:rPr>
                <a:t>输出产能动作 expand / maintain / reduce</a:t>
              </a:r>
              <a:br/>
              <a:r>
                <a:rPr lang="zh-CN" sz="1350" dirty="0">
                  <a:solidFill>
                    <a:schemeClr val="dk1"/>
                  </a:solidFill>
                  <a:latin typeface="+mn-lt"/>
                  <a:ea typeface="+mn-ea"/>
                  <a:cs typeface="+mn-cs"/>
                </a:rPr>
                <a:t>给出变动幅度（0–0.5），并选择研发方向：</a:t>
              </a:r>
              <a:br/>
              <a:r>
                <a:rPr lang="zh-CN" sz="1350" dirty="0">
                  <a:solidFill>
                    <a:schemeClr val="dk1"/>
                  </a:solidFill>
                  <a:latin typeface="+mn-lt"/>
                  <a:ea typeface="+mn-ea"/>
                  <a:cs typeface="+mn-cs"/>
                </a:rPr>
                <a:t>效率、降本或无</a:t>
              </a:r>
            </a:p>
          </p:txBody>
        </p:sp>
        <p:sp>
          <p:nvSpPr>
            <p:cNvPr id="20" name="TextBox 20"/>
            <p:cNvSpPr txBox="1"/>
            <p:nvPr/>
          </p:nvSpPr>
          <p:spPr>
            <a:xfrm>
              <a:off x="983742" y="3930968"/>
              <a:ext cx="2896326" cy="264033"/>
            </a:xfrm>
            <a:prstGeom prst="rect">
              <a:avLst/>
            </a:prstGeom>
            <a:noFill/>
            <a:ln>
              <a:noFill/>
            </a:ln>
          </p:spPr>
          <p:txBody>
            <a:bodyPr wrap="none" lIns="0" tIns="0" rIns="0" bIns="0" anchor="t" anchorCtr="0">
              <a:spAutoFit/>
            </a:bodyPr>
            <a:lstStyle/>
            <a:p>
              <a:pPr algn="l"/>
              <a:r>
                <a:rPr lang="zh-CN" sz="1350" dirty="0">
                  <a:solidFill>
                    <a:schemeClr val="dk1">
                      <a:alphaMod val="85000"/>
                    </a:schemeClr>
                  </a:solidFill>
                  <a:latin typeface="+mn-lt"/>
                  <a:ea typeface="+mn-ea"/>
                  <a:cs typeface="+mn-cs"/>
                </a:rPr>
                <a:t>输出经 Pydantic 校验后才允许执行</a:t>
              </a:r>
            </a:p>
          </p:txBody>
        </p:sp>
      </p:grpSp>
      <p:grpSp>
        <p:nvGrpSpPr>
          <p:cNvPr id="31" name="Group 31"/>
          <p:cNvGrpSpPr/>
          <p:nvPr/>
        </p:nvGrpSpPr>
        <p:grpSpPr>
          <a:xfrm>
            <a:off x="6705600" y="1905000"/>
            <a:ext cx="4800600" cy="2590800"/>
            <a:chOff x="6705600" y="1905000"/>
            <a:chExt cx="4800600" cy="2590800"/>
          </a:xfrm>
        </p:grpSpPr>
        <p:sp>
          <p:nvSpPr>
            <p:cNvPr id="22" name="Rectangle 22"/>
            <p:cNvSpPr/>
            <p:nvPr/>
          </p:nvSpPr>
          <p:spPr>
            <a:xfrm>
              <a:off x="6705600" y="1905000"/>
              <a:ext cx="4800600" cy="2590800"/>
            </a:xfrm>
            <a:prstGeom prst="rect">
              <a:avLst/>
            </a:prstGeom>
            <a:solidFill>
              <a:srgbClr val="FFFFFF"/>
            </a:solidFill>
            <a:ln w="9525">
              <a:solidFill>
                <a:schemeClr val="accent5"/>
              </a:solidFill>
            </a:ln>
          </p:spPr>
        </p:sp>
        <p:grpSp>
          <p:nvGrpSpPr>
            <p:cNvPr id="27" name="Group 27"/>
            <p:cNvGrpSpPr/>
            <p:nvPr/>
          </p:nvGrpSpPr>
          <p:grpSpPr>
            <a:xfrm>
              <a:off x="7046119" y="2207419"/>
              <a:ext cx="214312" cy="214313"/>
              <a:chOff x="7046119" y="2207419"/>
              <a:chExt cx="214312" cy="214313"/>
            </a:xfrm>
          </p:grpSpPr>
          <p:sp>
            <p:nvSpPr>
              <p:cNvPr id="23" name="Freeform 23"/>
              <p:cNvSpPr/>
              <p:nvPr/>
            </p:nvSpPr>
            <p:spPr>
              <a:xfrm>
                <a:off x="7069931" y="2207419"/>
                <a:ext cx="95250" cy="95250"/>
              </a:xfrm>
              <a:custGeom>
                <a:avLst/>
                <a:gdLst/>
                <a:ahLst/>
                <a:cxnLst/>
                <a:rect l="l" t="t" r="r" b="b"/>
                <a:pathLst>
                  <a:path w="95250" h="95250">
                    <a:moveTo>
                      <a:pt x="0" y="47625"/>
                    </a:moveTo>
                    <a:cubicBezTo>
                      <a:pt x="0" y="73928"/>
                      <a:pt x="21322" y="95250"/>
                      <a:pt x="47625" y="95250"/>
                    </a:cubicBezTo>
                    <a:cubicBezTo>
                      <a:pt x="73928" y="95250"/>
                      <a:pt x="95250" y="73928"/>
                      <a:pt x="95250" y="47625"/>
                    </a:cubicBezTo>
                    <a:cubicBezTo>
                      <a:pt x="95250" y="21322"/>
                      <a:pt x="73928" y="0"/>
                      <a:pt x="47625" y="0"/>
                    </a:cubicBezTo>
                    <a:cubicBezTo>
                      <a:pt x="21322" y="0"/>
                      <a:pt x="0" y="21322"/>
                      <a:pt x="0" y="47625"/>
                    </a:cubicBezTo>
                  </a:path>
                </a:pathLst>
              </a:custGeom>
              <a:noFill/>
              <a:ln w="23812">
                <a:solidFill>
                  <a:schemeClr val="accent3"/>
                </a:solidFill>
              </a:ln>
            </p:spPr>
          </p:sp>
          <p:sp>
            <p:nvSpPr>
              <p:cNvPr id="24" name="Freeform 24"/>
              <p:cNvSpPr/>
              <p:nvPr/>
            </p:nvSpPr>
            <p:spPr>
              <a:xfrm>
                <a:off x="7046119" y="2350294"/>
                <a:ext cx="142875" cy="71438"/>
              </a:xfrm>
              <a:custGeom>
                <a:avLst/>
                <a:gdLst/>
                <a:ahLst/>
                <a:cxnLst/>
                <a:rect l="l" t="t" r="r" b="b"/>
                <a:pathLst>
                  <a:path w="142875" h="71438">
                    <a:moveTo>
                      <a:pt x="0" y="71438"/>
                    </a:moveTo>
                    <a:lnTo>
                      <a:pt x="0" y="47625"/>
                    </a:lnTo>
                    <a:cubicBezTo>
                      <a:pt x="0" y="21322"/>
                      <a:pt x="21322" y="0"/>
                      <a:pt x="47625" y="0"/>
                    </a:cubicBezTo>
                    <a:lnTo>
                      <a:pt x="95250" y="0"/>
                    </a:lnTo>
                    <a:cubicBezTo>
                      <a:pt x="121553" y="0"/>
                      <a:pt x="142875" y="21322"/>
                      <a:pt x="142875" y="47625"/>
                    </a:cubicBezTo>
                    <a:lnTo>
                      <a:pt x="142875" y="71438"/>
                    </a:lnTo>
                  </a:path>
                </a:pathLst>
              </a:custGeom>
              <a:noFill/>
              <a:ln w="23812">
                <a:solidFill>
                  <a:schemeClr val="accent3"/>
                </a:solidFill>
              </a:ln>
            </p:spPr>
          </p:sp>
          <p:sp>
            <p:nvSpPr>
              <p:cNvPr id="25" name="Freeform 25"/>
              <p:cNvSpPr/>
              <p:nvPr/>
            </p:nvSpPr>
            <p:spPr>
              <a:xfrm>
                <a:off x="7200900" y="2208967"/>
                <a:ext cx="35812" cy="92273"/>
              </a:xfrm>
              <a:custGeom>
                <a:avLst/>
                <a:gdLst/>
                <a:ahLst/>
                <a:cxnLst/>
                <a:rect l="l" t="t" r="r" b="b"/>
                <a:pathLst>
                  <a:path w="35812" h="92273">
                    <a:moveTo>
                      <a:pt x="0" y="0"/>
                    </a:moveTo>
                    <a:cubicBezTo>
                      <a:pt x="21073" y="5396"/>
                      <a:pt x="35812" y="24384"/>
                      <a:pt x="35812" y="46137"/>
                    </a:cubicBezTo>
                    <a:cubicBezTo>
                      <a:pt x="35812" y="67890"/>
                      <a:pt x="21073" y="86878"/>
                      <a:pt x="0" y="92273"/>
                    </a:cubicBezTo>
                  </a:path>
                </a:pathLst>
              </a:custGeom>
              <a:noFill/>
              <a:ln w="23812">
                <a:solidFill>
                  <a:schemeClr val="accent3"/>
                </a:solidFill>
              </a:ln>
            </p:spPr>
          </p:sp>
          <p:sp>
            <p:nvSpPr>
              <p:cNvPr id="26" name="Freeform 26"/>
              <p:cNvSpPr/>
              <p:nvPr/>
            </p:nvSpPr>
            <p:spPr>
              <a:xfrm>
                <a:off x="7224712" y="2352080"/>
                <a:ext cx="35719" cy="69652"/>
              </a:xfrm>
              <a:custGeom>
                <a:avLst/>
                <a:gdLst/>
                <a:ahLst/>
                <a:cxnLst/>
                <a:rect l="l" t="t" r="r" b="b"/>
                <a:pathLst>
                  <a:path w="35719" h="69652">
                    <a:moveTo>
                      <a:pt x="35719" y="69652"/>
                    </a:moveTo>
                    <a:lnTo>
                      <a:pt x="35719" y="45839"/>
                    </a:lnTo>
                    <a:cubicBezTo>
                      <a:pt x="35594" y="24224"/>
                      <a:pt x="20929" y="5403"/>
                      <a:pt x="0" y="0"/>
                    </a:cubicBezTo>
                  </a:path>
                </a:pathLst>
              </a:custGeom>
              <a:noFill/>
              <a:ln w="23812">
                <a:solidFill>
                  <a:schemeClr val="accent3"/>
                </a:solidFill>
              </a:ln>
            </p:spPr>
          </p:sp>
        </p:grpSp>
        <p:sp>
          <p:nvSpPr>
            <p:cNvPr id="28" name="TextBox 28"/>
            <p:cNvSpPr txBox="1"/>
            <p:nvPr/>
          </p:nvSpPr>
          <p:spPr>
            <a:xfrm>
              <a:off x="7420356" y="2205990"/>
              <a:ext cx="2498998"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采用者 · 每月抽样 5%</a:t>
              </a:r>
            </a:p>
          </p:txBody>
        </p:sp>
        <p:sp>
          <p:nvSpPr>
            <p:cNvPr id="29" name="TextBox 29"/>
            <p:cNvSpPr txBox="1"/>
            <p:nvPr/>
          </p:nvSpPr>
          <p:spPr>
            <a:xfrm>
              <a:off x="7003542" y="2749868"/>
              <a:ext cx="3442716" cy="835533"/>
            </a:xfrm>
            <a:prstGeom prst="rect">
              <a:avLst/>
            </a:prstGeom>
            <a:noFill/>
            <a:ln>
              <a:noFill/>
            </a:ln>
          </p:spPr>
          <p:txBody>
            <a:bodyPr wrap="none" lIns="0" tIns="0" rIns="0" bIns="0" anchor="t" anchorCtr="0">
              <a:spAutoFit/>
            </a:bodyPr>
            <a:lstStyle/>
            <a:p>
              <a:pPr algn="l">
                <a:lnSpc>
                  <a:spcPts val="2250"/>
                </a:lnSpc>
              </a:pPr>
              <a:r>
                <a:rPr lang="zh-CN" sz="1350" dirty="0">
                  <a:solidFill>
                    <a:schemeClr val="dk1"/>
                  </a:solidFill>
                  <a:latin typeface="+mn-lt"/>
                  <a:ea typeface="+mn-ea"/>
                  <a:cs typeface="+mn-cs"/>
                </a:rPr>
                <a:t>从未决策者中随机抽取，评估本月是否安装；</a:t>
              </a:r>
              <a:br/>
              <a:r>
                <a:rPr lang="zh-CN" sz="1350" dirty="0">
                  <a:solidFill>
                    <a:schemeClr val="dk1"/>
                  </a:solidFill>
                  <a:latin typeface="+mn-lt"/>
                  <a:ea typeface="+mn-ea"/>
                  <a:cs typeface="+mn-cs"/>
                </a:rPr>
                <a:t>输出是否安装、置信度与主因</a:t>
              </a:r>
              <a:br/>
              <a:r>
                <a:rPr lang="zh-CN" sz="1350" dirty="0">
                  <a:solidFill>
                    <a:schemeClr val="dk1"/>
                  </a:solidFill>
                  <a:latin typeface="+mn-lt"/>
                  <a:ea typeface="+mn-ea"/>
                  <a:cs typeface="+mn-cs"/>
                </a:rPr>
                <a:t>（经济 / 环保 / 社会 / 政策）。</a:t>
              </a:r>
            </a:p>
          </p:txBody>
        </p:sp>
        <p:sp>
          <p:nvSpPr>
            <p:cNvPr id="30" name="TextBox 30"/>
            <p:cNvSpPr txBox="1"/>
            <p:nvPr/>
          </p:nvSpPr>
          <p:spPr>
            <a:xfrm>
              <a:off x="7003542" y="3930968"/>
              <a:ext cx="3466719" cy="264033"/>
            </a:xfrm>
            <a:prstGeom prst="rect">
              <a:avLst/>
            </a:prstGeom>
            <a:noFill/>
            <a:ln>
              <a:noFill/>
            </a:ln>
          </p:spPr>
          <p:txBody>
            <a:bodyPr wrap="none" lIns="0" tIns="0" rIns="0" bIns="0" anchor="t" anchorCtr="0">
              <a:spAutoFit/>
            </a:bodyPr>
            <a:lstStyle/>
            <a:p>
              <a:pPr algn="l"/>
              <a:r>
                <a:rPr lang="zh-CN" sz="1350" dirty="0">
                  <a:solidFill>
                    <a:schemeClr val="dk1">
                      <a:alphaMod val="85000"/>
                    </a:schemeClr>
                  </a:solidFill>
                  <a:latin typeface="+mn-lt"/>
                  <a:ea typeface="+mn-ea"/>
                  <a:cs typeface="+mn-cs"/>
                </a:rPr>
                <a:t>未抽中的主体走两阶段公式，两条路径并存</a:t>
              </a:r>
            </a:p>
          </p:txBody>
        </p:sp>
      </p:grpSp>
      <p:grpSp>
        <p:nvGrpSpPr>
          <p:cNvPr id="34" name="Group 34"/>
          <p:cNvGrpSpPr/>
          <p:nvPr/>
        </p:nvGrpSpPr>
        <p:grpSpPr>
          <a:xfrm>
            <a:off x="678942" y="4864418"/>
            <a:ext cx="7831836" cy="797433"/>
            <a:chOff x="678942" y="4864418"/>
            <a:chExt cx="7831836" cy="797433"/>
          </a:xfrm>
        </p:grpSpPr>
        <p:sp>
          <p:nvSpPr>
            <p:cNvPr id="32" name="TextBox 32"/>
            <p:cNvSpPr txBox="1"/>
            <p:nvPr/>
          </p:nvSpPr>
          <p:spPr>
            <a:xfrm>
              <a:off x="678942" y="4864418"/>
              <a:ext cx="777011"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共同能力</a:t>
              </a:r>
            </a:p>
          </p:txBody>
        </p:sp>
        <p:sp>
          <p:nvSpPr>
            <p:cNvPr id="33" name="TextBox 33"/>
            <p:cNvSpPr txBox="1"/>
            <p:nvPr/>
          </p:nvSpPr>
          <p:spPr>
            <a:xfrm>
              <a:off x="678942" y="5150168"/>
              <a:ext cx="7831836"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滚动 6 轮对话记忆 · function calling 工具（市场行情 / 邻居采用率 / 静态回收期 / 自身产能与库存）</a:t>
              </a:r>
              <a:br/>
              <a:r>
                <a:rPr lang="zh-CN" sz="1350" dirty="0">
                  <a:solidFill>
                    <a:schemeClr val="dk1"/>
                  </a:solidFill>
                  <a:latin typeface="+mn-lt"/>
                  <a:ea typeface="+mn-ea"/>
                  <a:cs typeface="+mn-cs"/>
                </a:rPr>
                <a:t>asyncio 并发调用 · 最多 3 轮工具循环 · 失败自动回退公式</a:t>
              </a:r>
            </a:p>
          </p:txBody>
        </p:sp>
      </p:grpSp>
      <p:grpSp>
        <p:nvGrpSpPr>
          <p:cNvPr id="37" name="Group 37"/>
          <p:cNvGrpSpPr/>
          <p:nvPr/>
        </p:nvGrpSpPr>
        <p:grpSpPr>
          <a:xfrm>
            <a:off x="685800" y="5772150"/>
            <a:ext cx="8597494" cy="327851"/>
            <a:chOff x="685800" y="5772150"/>
            <a:chExt cx="8597494" cy="327851"/>
          </a:xfrm>
        </p:grpSpPr>
        <p:sp>
          <p:nvSpPr>
            <p:cNvPr id="35" name="Rectangle 35"/>
            <p:cNvSpPr/>
            <p:nvPr/>
          </p:nvSpPr>
          <p:spPr>
            <a:xfrm>
              <a:off x="685800" y="5772150"/>
              <a:ext cx="38100" cy="304800"/>
            </a:xfrm>
            <a:prstGeom prst="rect">
              <a:avLst/>
            </a:prstGeom>
            <a:solidFill>
              <a:schemeClr val="accent3"/>
            </a:solidFill>
            <a:ln>
              <a:noFill/>
            </a:ln>
          </p:spPr>
        </p:sp>
        <p:sp>
          <p:nvSpPr>
            <p:cNvPr id="36" name="TextBox 36"/>
            <p:cNvSpPr txBox="1"/>
            <p:nvPr/>
          </p:nvSpPr>
          <p:spPr>
            <a:xfrm>
              <a:off x="983742" y="5835968"/>
              <a:ext cx="8299552" cy="264033"/>
            </a:xfrm>
            <a:prstGeom prst="rect">
              <a:avLst/>
            </a:prstGeom>
            <a:noFill/>
            <a:ln>
              <a:noFill/>
            </a:ln>
          </p:spPr>
          <p:txBody>
            <a:bodyPr wrap="none" lIns="0" tIns="0" rIns="0" bIns="0" anchor="t" anchorCtr="0">
              <a:spAutoFit/>
            </a:bodyPr>
            <a:lstStyle/>
            <a:p>
              <a:pPr algn="l"/>
              <a:r>
                <a:rPr lang="zh-CN" sz="1350" dirty="0">
                  <a:solidFill>
                    <a:schemeClr val="accent1"/>
                  </a:solidFill>
                  <a:latin typeface="+mn-lt"/>
                  <a:ea typeface="+mn-ea"/>
                  <a:cs typeface="+mn-cs"/>
                </a:rPr>
                <a:t>回退链：网络错误 / 返回非 JSON / 校验失败 → 制造商退回经验曲线公式，采用者退回两阶段公式</a:t>
              </a:r>
            </a:p>
          </p:txBody>
        </p:sp>
      </p:grpSp>
      <p:grpSp>
        <p:nvGrpSpPr>
          <p:cNvPr id="41" name="Group 41"/>
          <p:cNvGrpSpPr/>
          <p:nvPr/>
        </p:nvGrpSpPr>
        <p:grpSpPr>
          <a:xfrm>
            <a:off x="679704" y="6286500"/>
            <a:ext cx="10832592" cy="390906"/>
            <a:chOff x="679704" y="6286500"/>
            <a:chExt cx="10832592" cy="390906"/>
          </a:xfrm>
        </p:grpSpPr>
        <p:sp>
          <p:nvSpPr>
            <p:cNvPr id="38" name="Line 38"/>
            <p:cNvSpPr/>
            <p:nvPr/>
          </p:nvSpPr>
          <p:spPr>
            <a:xfrm>
              <a:off x="685800" y="6286500"/>
              <a:ext cx="10820400" cy="9525"/>
            </a:xfrm>
            <a:custGeom>
              <a:avLst/>
              <a:gdLst/>
              <a:ahLst/>
              <a:cxnLst/>
              <a:rect l="l" t="t" r="r" b="b"/>
              <a:pathLst>
                <a:path w="10820400" h="9525">
                  <a:moveTo>
                    <a:pt x="0" y="0"/>
                  </a:moveTo>
                  <a:lnTo>
                    <a:pt x="10820400" y="0"/>
                  </a:lnTo>
                </a:path>
              </a:pathLst>
            </a:custGeom>
            <a:noFill/>
            <a:ln w="9525">
              <a:solidFill>
                <a:schemeClr val="accent1">
                  <a:alpha val="30000"/>
                </a:schemeClr>
              </a:solidFill>
            </a:ln>
          </p:spPr>
        </p:sp>
        <p:sp>
          <p:nvSpPr>
            <p:cNvPr id="39" name="TextBox 39"/>
            <p:cNvSpPr txBox="1"/>
            <p:nvPr/>
          </p:nvSpPr>
          <p:spPr>
            <a:xfrm>
              <a:off x="679704" y="6442710"/>
              <a:ext cx="8776041" cy="234696"/>
            </a:xfrm>
            <a:prstGeom prst="rect">
              <a:avLst/>
            </a:prstGeom>
            <a:noFill/>
            <a:ln>
              <a:noFill/>
            </a:ln>
          </p:spPr>
          <p:txBody>
            <a:bodyPr wrap="none" lIns="0" tIns="0" rIns="0" bIns="0" anchor="t" anchorCtr="0">
              <a:spAutoFit/>
            </a:bodyPr>
            <a:lstStyle/>
            <a:p>
              <a:pPr algn="l"/>
              <a:r>
                <a:rPr lang="zh-CN" sz="1200" dirty="0">
                  <a:solidFill>
                    <a:schemeClr val="dk1">
                      <a:alphaMod val="72000"/>
                    </a:schemeClr>
                  </a:solidFill>
                  <a:latin typeface="+mn-lt"/>
                  <a:ea typeface="+mn-ea"/>
                  <a:cs typeface="+mn-cs"/>
                </a:rPr>
                <a:t>提供方：DeepSeek（deepseek-chat，OpenAI 兼容端点）· 实现于 agents/agent_framework.py 与 agents/tools.py</a:t>
              </a:r>
            </a:p>
          </p:txBody>
        </p:sp>
        <p:sp>
          <p:nvSpPr>
            <p:cNvPr id="40" name="TextBox 40"/>
            <p:cNvSpPr txBox="1"/>
            <p:nvPr/>
          </p:nvSpPr>
          <p:spPr>
            <a:xfrm>
              <a:off x="10958932" y="6442710"/>
              <a:ext cx="553364" cy="234696"/>
            </a:xfrm>
            <a:prstGeom prst="rect">
              <a:avLst/>
            </a:prstGeom>
            <a:noFill/>
            <a:ln>
              <a:noFill/>
            </a:ln>
          </p:spPr>
          <p:txBody>
            <a:bodyPr wrap="none" lIns="0" tIns="0" rIns="0" bIns="0" anchor="t" anchorCtr="0">
              <a:spAutoFit/>
            </a:bodyPr>
            <a:lstStyle/>
            <a:p>
              <a:pPr algn="r"/>
              <a:r>
                <a:rPr lang="zh-CN" sz="1200" dirty="0">
                  <a:solidFill>
                    <a:schemeClr val="dk1">
                      <a:alphaMod val="72000"/>
                    </a:schemeClr>
                  </a:solidFill>
                  <a:latin typeface="+mn-lt"/>
                  <a:ea typeface="+mn-ea"/>
                  <a:cs typeface="+mn-cs"/>
                </a:rPr>
                <a:t>09 / 14</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669798" y="552450"/>
            <a:ext cx="10836402" cy="1076135"/>
            <a:chOff x="669798" y="552450"/>
            <a:chExt cx="10836402" cy="1076135"/>
          </a:xfrm>
        </p:grpSpPr>
        <p:sp>
          <p:nvSpPr>
            <p:cNvPr id="2" name="Rectangle 2"/>
            <p:cNvSpPr/>
            <p:nvPr/>
          </p:nvSpPr>
          <p:spPr>
            <a:xfrm>
              <a:off x="685800" y="552450"/>
              <a:ext cx="533400" cy="38100"/>
            </a:xfrm>
            <a:prstGeom prst="rect">
              <a:avLst/>
            </a:prstGeom>
            <a:solidFill>
              <a:schemeClr val="accent2"/>
            </a:solidFill>
            <a:ln>
              <a:noFill/>
            </a:ln>
          </p:spPr>
        </p:sp>
        <p:sp>
          <p:nvSpPr>
            <p:cNvPr id="3" name="TextBox 3"/>
            <p:cNvSpPr txBox="1"/>
            <p:nvPr/>
          </p:nvSpPr>
          <p:spPr>
            <a:xfrm>
              <a:off x="678942" y="768668"/>
              <a:ext cx="1780337" cy="264033"/>
            </a:xfrm>
            <a:prstGeom prst="rect">
              <a:avLst/>
            </a:prstGeom>
            <a:noFill/>
            <a:ln>
              <a:noFill/>
            </a:ln>
          </p:spPr>
          <p:txBody>
            <a:bodyPr wrap="none" lIns="0" tIns="0" rIns="0" bIns="0" anchor="t" anchorCtr="0">
              <a:spAutoFit/>
            </a:bodyPr>
            <a:lstStyle/>
            <a:p>
              <a:pPr algn="l"/>
              <a:r>
                <a:rPr lang="zh-CN" sz="1350" dirty="0">
                  <a:solidFill>
                    <a:schemeClr val="accent1">
                      <a:alphaMod val="78000"/>
                    </a:schemeClr>
                  </a:solidFill>
                  <a:latin typeface="+mn-lt"/>
                  <a:ea typeface="+mn-ea"/>
                  <a:cs typeface="+mn-cs"/>
                </a:rPr>
                <a:t>PART 4 · 结果与验证</a:t>
              </a:r>
            </a:p>
          </p:txBody>
        </p:sp>
        <p:sp>
          <p:nvSpPr>
            <p:cNvPr id="4" name="TextBox 4"/>
            <p:cNvSpPr txBox="1"/>
            <p:nvPr/>
          </p:nvSpPr>
          <p:spPr>
            <a:xfrm>
              <a:off x="669798" y="1012508"/>
              <a:ext cx="6844415"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政策点燃 → 成本下降 → 退坡后饱和</a:t>
              </a:r>
            </a:p>
          </p:txBody>
        </p:sp>
        <p:sp>
          <p:nvSpPr>
            <p:cNvPr id="5" name="Line 5"/>
            <p:cNvSpPr/>
            <p:nvPr/>
          </p:nvSpPr>
          <p:spPr>
            <a:xfrm>
              <a:off x="685800" y="1600200"/>
              <a:ext cx="10820400" cy="9525"/>
            </a:xfrm>
            <a:custGeom>
              <a:avLst/>
              <a:gdLst/>
              <a:ahLst/>
              <a:cxnLst/>
              <a:rect l="l" t="t" r="r" b="b"/>
              <a:pathLst>
                <a:path w="10820400" h="9525">
                  <a:moveTo>
                    <a:pt x="0" y="0"/>
                  </a:moveTo>
                  <a:lnTo>
                    <a:pt x="10820400" y="0"/>
                  </a:lnTo>
                </a:path>
              </a:pathLst>
            </a:custGeom>
            <a:noFill/>
            <a:ln w="9525">
              <a:solidFill>
                <a:schemeClr val="accent1">
                  <a:alpha val="22000"/>
                </a:schemeClr>
              </a:solidFill>
            </a:ln>
          </p:spPr>
        </p:sp>
      </p:grpSp>
      <p:grpSp>
        <p:nvGrpSpPr>
          <p:cNvPr id="9" name="Group 9"/>
          <p:cNvGrpSpPr/>
          <p:nvPr/>
        </p:nvGrpSpPr>
        <p:grpSpPr>
          <a:xfrm>
            <a:off x="941642" y="1905000"/>
            <a:ext cx="6149721" cy="4124706"/>
            <a:chOff x="941642" y="1905000"/>
            <a:chExt cx="6149721" cy="4124706"/>
          </a:xfrm>
        </p:grpSpPr>
        <p:pic>
          <p:nvPicPr>
            <p:cNvPr id="7" name="Image 7"/>
            <p:cNvPicPr>
              <a:picLocks noChangeAspect="1"/>
            </p:cNvPicPr>
            <p:nvPr/>
          </p:nvPicPr>
          <p:blipFill>
            <a:blip r:embed="rId2"/>
            <a:stretch>
              <a:fillRect/>
            </a:stretch>
          </p:blipFill>
          <p:spPr>
            <a:xfrm>
              <a:off x="947738" y="1905000"/>
              <a:ext cx="6143625" cy="4095750"/>
            </a:xfrm>
            <a:prstGeom prst="rect">
              <a:avLst/>
            </a:prstGeom>
          </p:spPr>
        </p:pic>
        <p:sp>
          <p:nvSpPr>
            <p:cNvPr id="8" name="TextBox 8"/>
            <p:cNvSpPr txBox="1"/>
            <p:nvPr/>
          </p:nvSpPr>
          <p:spPr>
            <a:xfrm>
              <a:off x="941642" y="5795010"/>
              <a:ext cx="4608119" cy="234696"/>
            </a:xfrm>
            <a:prstGeom prst="rect">
              <a:avLst/>
            </a:prstGeom>
            <a:noFill/>
            <a:ln>
              <a:noFill/>
            </a:ln>
          </p:spPr>
          <p:txBody>
            <a:bodyPr wrap="none" lIns="0" tIns="0" rIns="0" bIns="0" anchor="t" anchorCtr="0">
              <a:spAutoFit/>
            </a:bodyPr>
            <a:lstStyle/>
            <a:p>
              <a:pPr algn="l"/>
              <a:r>
                <a:rPr lang="zh-CN" sz="1200" dirty="0">
                  <a:solidFill>
                    <a:schemeClr val="dk1">
                      <a:alphaMod val="72000"/>
                    </a:schemeClr>
                  </a:solidFill>
                  <a:latin typeface="+mn-lt"/>
                  <a:ea typeface="+mn-ea"/>
                  <a:cs typeface="+mn-cs"/>
                </a:rPr>
                <a:t>四个面板：累计装机 / 组件成本 / 累计采用者 / 政策与价格信号</a:t>
              </a:r>
            </a:p>
          </p:txBody>
        </p:sp>
      </p:grpSp>
      <p:grpSp>
        <p:nvGrpSpPr>
          <p:cNvPr id="23" name="Group 23"/>
          <p:cNvGrpSpPr/>
          <p:nvPr/>
        </p:nvGrpSpPr>
        <p:grpSpPr>
          <a:xfrm>
            <a:off x="7536942" y="2140268"/>
            <a:ext cx="3253168" cy="3927538"/>
            <a:chOff x="7536942" y="2140268"/>
            <a:chExt cx="3253168" cy="3927538"/>
          </a:xfrm>
        </p:grpSpPr>
        <p:sp>
          <p:nvSpPr>
            <p:cNvPr id="10" name="TextBox 10"/>
            <p:cNvSpPr txBox="1"/>
            <p:nvPr/>
          </p:nvSpPr>
          <p:spPr>
            <a:xfrm>
              <a:off x="7536942" y="2140268"/>
              <a:ext cx="223622"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Consolas"/>
                  <a:ea typeface="Consolas"/>
                  <a:cs typeface="Consolas"/>
                </a:rPr>
                <a:t>01</a:t>
              </a:r>
            </a:p>
          </p:txBody>
        </p:sp>
        <p:sp>
          <p:nvSpPr>
            <p:cNvPr id="11" name="TextBox 11"/>
            <p:cNvSpPr txBox="1"/>
            <p:nvPr/>
          </p:nvSpPr>
          <p:spPr>
            <a:xfrm>
              <a:off x="7956042" y="2140268"/>
              <a:ext cx="1455336"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累计装机呈 S 形</a:t>
              </a:r>
            </a:p>
          </p:txBody>
        </p:sp>
        <p:sp>
          <p:nvSpPr>
            <p:cNvPr id="12" name="TextBox 12"/>
            <p:cNvSpPr txBox="1"/>
            <p:nvPr/>
          </p:nvSpPr>
          <p:spPr>
            <a:xfrm>
              <a:off x="7956042" y="2406968"/>
              <a:ext cx="2414016"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1991–2000 几乎贴地，</a:t>
              </a:r>
              <a:br/>
              <a:r>
                <a:rPr lang="zh-CN" sz="1350" dirty="0">
                  <a:solidFill>
                    <a:schemeClr val="dk1"/>
                  </a:solidFill>
                  <a:latin typeface="+mn-lt"/>
                  <a:ea typeface="+mn-ea"/>
                  <a:cs typeface="+mn-cs"/>
                </a:rPr>
                <a:t>2004–2008 最陡，终点 0.6 MW</a:t>
              </a:r>
            </a:p>
          </p:txBody>
        </p:sp>
        <p:sp>
          <p:nvSpPr>
            <p:cNvPr id="13" name="TextBox 13"/>
            <p:cNvSpPr txBox="1"/>
            <p:nvPr/>
          </p:nvSpPr>
          <p:spPr>
            <a:xfrm>
              <a:off x="7536942" y="3149918"/>
              <a:ext cx="223622"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Consolas"/>
                  <a:ea typeface="Consolas"/>
                  <a:cs typeface="Consolas"/>
                </a:rPr>
                <a:t>02</a:t>
              </a:r>
            </a:p>
          </p:txBody>
        </p:sp>
        <p:sp>
          <p:nvSpPr>
            <p:cNvPr id="14" name="TextBox 14"/>
            <p:cNvSpPr txBox="1"/>
            <p:nvPr/>
          </p:nvSpPr>
          <p:spPr>
            <a:xfrm>
              <a:off x="7956042" y="3149918"/>
              <a:ext cx="1540307"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两条成本曲线分岔</a:t>
              </a:r>
            </a:p>
          </p:txBody>
        </p:sp>
        <p:sp>
          <p:nvSpPr>
            <p:cNvPr id="15" name="TextBox 15"/>
            <p:cNvSpPr txBox="1"/>
            <p:nvPr/>
          </p:nvSpPr>
          <p:spPr>
            <a:xfrm>
              <a:off x="7956042" y="3416618"/>
              <a:ext cx="2345436"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国内 −85.9%、国外 −96.6%；</a:t>
              </a:r>
              <a:br/>
              <a:r>
                <a:rPr lang="zh-CN" sz="1350" dirty="0">
                  <a:solidFill>
                    <a:schemeClr val="dk1"/>
                  </a:solidFill>
                  <a:latin typeface="+mn-lt"/>
                  <a:ea typeface="+mn-ea"/>
                  <a:cs typeface="+mn-cs"/>
                </a:rPr>
                <a:t>2000 年后差距迅速拉开</a:t>
              </a:r>
            </a:p>
          </p:txBody>
        </p:sp>
        <p:sp>
          <p:nvSpPr>
            <p:cNvPr id="16" name="TextBox 16"/>
            <p:cNvSpPr txBox="1"/>
            <p:nvPr/>
          </p:nvSpPr>
          <p:spPr>
            <a:xfrm>
              <a:off x="7536942" y="4254818"/>
              <a:ext cx="223622"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Consolas"/>
                  <a:ea typeface="Consolas"/>
                  <a:cs typeface="Consolas"/>
                </a:rPr>
                <a:t>03</a:t>
              </a:r>
            </a:p>
          </p:txBody>
        </p:sp>
        <p:sp>
          <p:nvSpPr>
            <p:cNvPr id="17" name="TextBox 17"/>
            <p:cNvSpPr txBox="1"/>
            <p:nvPr/>
          </p:nvSpPr>
          <p:spPr>
            <a:xfrm>
              <a:off x="7956042" y="4254818"/>
              <a:ext cx="1656961"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采用者同样呈 S 形</a:t>
              </a:r>
            </a:p>
          </p:txBody>
        </p:sp>
        <p:sp>
          <p:nvSpPr>
            <p:cNvPr id="18" name="TextBox 18"/>
            <p:cNvSpPr txBox="1"/>
            <p:nvPr/>
          </p:nvSpPr>
          <p:spPr>
            <a:xfrm>
              <a:off x="7956042" y="4521518"/>
              <a:ext cx="1642491"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50 / 500 = 10%；</a:t>
              </a:r>
              <a:br/>
              <a:r>
                <a:rPr lang="zh-CN" sz="1350" dirty="0">
                  <a:solidFill>
                    <a:schemeClr val="dk1"/>
                  </a:solidFill>
                  <a:latin typeface="+mn-lt"/>
                  <a:ea typeface="+mn-ea"/>
                  <a:cs typeface="+mn-cs"/>
                </a:rPr>
                <a:t>2008 年之后再无新增</a:t>
              </a:r>
            </a:p>
          </p:txBody>
        </p:sp>
        <p:sp>
          <p:nvSpPr>
            <p:cNvPr id="19" name="TextBox 19"/>
            <p:cNvSpPr txBox="1"/>
            <p:nvPr/>
          </p:nvSpPr>
          <p:spPr>
            <a:xfrm>
              <a:off x="7536942" y="5112068"/>
              <a:ext cx="223622"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Consolas"/>
                  <a:ea typeface="Consolas"/>
                  <a:cs typeface="Consolas"/>
                </a:rPr>
                <a:t>04</a:t>
              </a:r>
            </a:p>
          </p:txBody>
        </p:sp>
        <p:sp>
          <p:nvSpPr>
            <p:cNvPr id="20" name="TextBox 20"/>
            <p:cNvSpPr txBox="1"/>
            <p:nvPr/>
          </p:nvSpPr>
          <p:spPr>
            <a:xfrm>
              <a:off x="7956042" y="5112068"/>
              <a:ext cx="1158659"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政策信号先行</a:t>
              </a:r>
            </a:p>
          </p:txBody>
        </p:sp>
        <p:sp>
          <p:nvSpPr>
            <p:cNvPr id="21" name="TextBox 21"/>
            <p:cNvSpPr txBox="1"/>
            <p:nvPr/>
          </p:nvSpPr>
          <p:spPr>
            <a:xfrm>
              <a:off x="7956042" y="5378768"/>
              <a:ext cx="2834068"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FiT 2000 年上线、2004–2008 见顶，</a:t>
              </a:r>
              <a:br/>
              <a:r>
                <a:rPr lang="zh-CN" sz="1350" dirty="0">
                  <a:solidFill>
                    <a:schemeClr val="dk1"/>
                  </a:solidFill>
                  <a:latin typeface="+mn-lt"/>
                  <a:ea typeface="+mn-ea"/>
                  <a:cs typeface="+mn-cs"/>
                </a:rPr>
                <a:t>此后持续退坡</a:t>
              </a:r>
            </a:p>
          </p:txBody>
        </p:sp>
        <p:sp>
          <p:nvSpPr>
            <p:cNvPr id="22" name="TextBox 22"/>
            <p:cNvSpPr txBox="1"/>
            <p:nvPr/>
          </p:nvSpPr>
          <p:spPr>
            <a:xfrm>
              <a:off x="7537704" y="5833110"/>
              <a:ext cx="2919984" cy="234696"/>
            </a:xfrm>
            <a:prstGeom prst="rect">
              <a:avLst/>
            </a:prstGeom>
            <a:noFill/>
            <a:ln>
              <a:noFill/>
            </a:ln>
          </p:spPr>
          <p:txBody>
            <a:bodyPr wrap="none" lIns="0" tIns="0" rIns="0" bIns="0" anchor="t" anchorCtr="0">
              <a:spAutoFit/>
            </a:bodyPr>
            <a:lstStyle/>
            <a:p>
              <a:pPr algn="l"/>
              <a:r>
                <a:rPr lang="zh-CN" sz="1200" dirty="0">
                  <a:solidFill>
                    <a:schemeClr val="dk1">
                      <a:alphaMod val="85000"/>
                    </a:schemeClr>
                  </a:solidFill>
                  <a:latin typeface="+mn-lt"/>
                  <a:ea typeface="+mn-ea"/>
                  <a:cs typeface="+mn-cs"/>
                </a:rPr>
                <a:t>结论：采纳是被政策点燃的，不是自发的</a:t>
              </a:r>
            </a:p>
          </p:txBody>
        </p:sp>
      </p:grpSp>
      <p:grpSp>
        <p:nvGrpSpPr>
          <p:cNvPr id="27" name="Group 27"/>
          <p:cNvGrpSpPr/>
          <p:nvPr/>
        </p:nvGrpSpPr>
        <p:grpSpPr>
          <a:xfrm>
            <a:off x="679704" y="6286500"/>
            <a:ext cx="10832592" cy="390906"/>
            <a:chOff x="679704" y="6286500"/>
            <a:chExt cx="10832592" cy="390906"/>
          </a:xfrm>
        </p:grpSpPr>
        <p:sp>
          <p:nvSpPr>
            <p:cNvPr id="24" name="Line 24"/>
            <p:cNvSpPr/>
            <p:nvPr/>
          </p:nvSpPr>
          <p:spPr>
            <a:xfrm>
              <a:off x="685800" y="6286500"/>
              <a:ext cx="10820400" cy="9525"/>
            </a:xfrm>
            <a:custGeom>
              <a:avLst/>
              <a:gdLst/>
              <a:ahLst/>
              <a:cxnLst/>
              <a:rect l="l" t="t" r="r" b="b"/>
              <a:pathLst>
                <a:path w="10820400" h="9525">
                  <a:moveTo>
                    <a:pt x="0" y="0"/>
                  </a:moveTo>
                  <a:lnTo>
                    <a:pt x="10820400" y="0"/>
                  </a:lnTo>
                </a:path>
              </a:pathLst>
            </a:custGeom>
            <a:noFill/>
            <a:ln w="9525">
              <a:solidFill>
                <a:schemeClr val="accent1">
                  <a:alpha val="30000"/>
                </a:schemeClr>
              </a:solidFill>
            </a:ln>
          </p:spPr>
        </p:sp>
        <p:sp>
          <p:nvSpPr>
            <p:cNvPr id="25" name="TextBox 25"/>
            <p:cNvSpPr txBox="1"/>
            <p:nvPr/>
          </p:nvSpPr>
          <p:spPr>
            <a:xfrm>
              <a:off x="679704" y="6442710"/>
              <a:ext cx="4990740" cy="234696"/>
            </a:xfrm>
            <a:prstGeom prst="rect">
              <a:avLst/>
            </a:prstGeom>
            <a:noFill/>
            <a:ln>
              <a:noFill/>
            </a:ln>
          </p:spPr>
          <p:txBody>
            <a:bodyPr wrap="none" lIns="0" tIns="0" rIns="0" bIns="0" anchor="t" anchorCtr="0">
              <a:spAutoFit/>
            </a:bodyPr>
            <a:lstStyle/>
            <a:p>
              <a:pPr algn="l"/>
              <a:r>
                <a:rPr lang="zh-CN" sz="1200" dirty="0">
                  <a:solidFill>
                    <a:schemeClr val="dk1">
                      <a:alphaMod val="72000"/>
                    </a:schemeClr>
                  </a:solidFill>
                  <a:latin typeface="+mn-lt"/>
                  <a:ea typeface="+mn-ea"/>
                  <a:cs typeface="+mn-cs"/>
                </a:rPr>
                <a:t>运行条件：312 tick · seed=42 · 合成数据 · 公式模式（不含 LLM）</a:t>
              </a:r>
            </a:p>
          </p:txBody>
        </p:sp>
        <p:sp>
          <p:nvSpPr>
            <p:cNvPr id="26" name="TextBox 26"/>
            <p:cNvSpPr txBox="1"/>
            <p:nvPr/>
          </p:nvSpPr>
          <p:spPr>
            <a:xfrm>
              <a:off x="10958932" y="6442710"/>
              <a:ext cx="553364" cy="234696"/>
            </a:xfrm>
            <a:prstGeom prst="rect">
              <a:avLst/>
            </a:prstGeom>
            <a:noFill/>
            <a:ln>
              <a:noFill/>
            </a:ln>
          </p:spPr>
          <p:txBody>
            <a:bodyPr wrap="none" lIns="0" tIns="0" rIns="0" bIns="0" anchor="t" anchorCtr="0">
              <a:spAutoFit/>
            </a:bodyPr>
            <a:lstStyle/>
            <a:p>
              <a:pPr algn="r"/>
              <a:r>
                <a:rPr lang="zh-CN" sz="1200" dirty="0">
                  <a:solidFill>
                    <a:schemeClr val="dk1">
                      <a:alphaMod val="72000"/>
                    </a:schemeClr>
                  </a:solidFill>
                  <a:latin typeface="+mn-lt"/>
                  <a:ea typeface="+mn-ea"/>
                  <a:cs typeface="+mn-cs"/>
                </a:rPr>
                <a:t>10 / 14</a:t>
              </a:r>
            </a:p>
          </p:txBody>
        </p:sp>
      </p:gr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669798" y="552450"/>
            <a:ext cx="10836402" cy="1076135"/>
            <a:chOff x="669798" y="552450"/>
            <a:chExt cx="10836402" cy="1076135"/>
          </a:xfrm>
        </p:grpSpPr>
        <p:sp>
          <p:nvSpPr>
            <p:cNvPr id="2" name="Rectangle 2"/>
            <p:cNvSpPr/>
            <p:nvPr/>
          </p:nvSpPr>
          <p:spPr>
            <a:xfrm>
              <a:off x="685800" y="552450"/>
              <a:ext cx="533400" cy="38100"/>
            </a:xfrm>
            <a:prstGeom prst="rect">
              <a:avLst/>
            </a:prstGeom>
            <a:solidFill>
              <a:schemeClr val="accent2"/>
            </a:solidFill>
            <a:ln>
              <a:noFill/>
            </a:ln>
          </p:spPr>
        </p:sp>
        <p:sp>
          <p:nvSpPr>
            <p:cNvPr id="3" name="TextBox 3"/>
            <p:cNvSpPr txBox="1"/>
            <p:nvPr/>
          </p:nvSpPr>
          <p:spPr>
            <a:xfrm>
              <a:off x="678942" y="768668"/>
              <a:ext cx="1780337" cy="264033"/>
            </a:xfrm>
            <a:prstGeom prst="rect">
              <a:avLst/>
            </a:prstGeom>
            <a:noFill/>
            <a:ln>
              <a:noFill/>
            </a:ln>
          </p:spPr>
          <p:txBody>
            <a:bodyPr wrap="none" lIns="0" tIns="0" rIns="0" bIns="0" anchor="t" anchorCtr="0">
              <a:spAutoFit/>
            </a:bodyPr>
            <a:lstStyle/>
            <a:p>
              <a:pPr algn="l"/>
              <a:r>
                <a:rPr lang="zh-CN" sz="1350" dirty="0">
                  <a:solidFill>
                    <a:schemeClr val="accent1">
                      <a:alphaMod val="78000"/>
                    </a:schemeClr>
                  </a:solidFill>
                  <a:latin typeface="+mn-lt"/>
                  <a:ea typeface="+mn-ea"/>
                  <a:cs typeface="+mn-cs"/>
                </a:rPr>
                <a:t>PART 4 · 结果与验证</a:t>
              </a:r>
            </a:p>
          </p:txBody>
        </p:sp>
        <p:sp>
          <p:nvSpPr>
            <p:cNvPr id="4" name="TextBox 4"/>
            <p:cNvSpPr txBox="1"/>
            <p:nvPr/>
          </p:nvSpPr>
          <p:spPr>
            <a:xfrm>
              <a:off x="669798" y="1012508"/>
              <a:ext cx="4484561"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关键数字与年度检查点</a:t>
              </a:r>
            </a:p>
          </p:txBody>
        </p:sp>
        <p:sp>
          <p:nvSpPr>
            <p:cNvPr id="5" name="Line 5"/>
            <p:cNvSpPr/>
            <p:nvPr/>
          </p:nvSpPr>
          <p:spPr>
            <a:xfrm>
              <a:off x="685800" y="1600200"/>
              <a:ext cx="10820400" cy="9525"/>
            </a:xfrm>
            <a:custGeom>
              <a:avLst/>
              <a:gdLst/>
              <a:ahLst/>
              <a:cxnLst/>
              <a:rect l="l" t="t" r="r" b="b"/>
              <a:pathLst>
                <a:path w="10820400" h="9525">
                  <a:moveTo>
                    <a:pt x="0" y="0"/>
                  </a:moveTo>
                  <a:lnTo>
                    <a:pt x="10820400" y="0"/>
                  </a:lnTo>
                </a:path>
              </a:pathLst>
            </a:custGeom>
            <a:noFill/>
            <a:ln w="9525">
              <a:solidFill>
                <a:schemeClr val="accent1">
                  <a:alpha val="22000"/>
                </a:schemeClr>
              </a:solidFill>
            </a:ln>
          </p:spPr>
        </p:sp>
      </p:grpSp>
      <p:grpSp>
        <p:nvGrpSpPr>
          <p:cNvPr id="19" name="Group 19"/>
          <p:cNvGrpSpPr/>
          <p:nvPr/>
        </p:nvGrpSpPr>
        <p:grpSpPr>
          <a:xfrm>
            <a:off x="685800" y="1943100"/>
            <a:ext cx="10820400" cy="899351"/>
            <a:chOff x="685800" y="1943100"/>
            <a:chExt cx="10820400" cy="899351"/>
          </a:xfrm>
        </p:grpSpPr>
        <p:sp>
          <p:nvSpPr>
            <p:cNvPr id="7" name="Rectangle 7"/>
            <p:cNvSpPr/>
            <p:nvPr/>
          </p:nvSpPr>
          <p:spPr>
            <a:xfrm>
              <a:off x="685800" y="1943100"/>
              <a:ext cx="2476500" cy="876300"/>
            </a:xfrm>
            <a:prstGeom prst="rect">
              <a:avLst/>
            </a:prstGeom>
            <a:solidFill>
              <a:schemeClr val="lt2"/>
            </a:solidFill>
            <a:ln>
              <a:noFill/>
            </a:ln>
          </p:spPr>
        </p:sp>
        <p:sp>
          <p:nvSpPr>
            <p:cNvPr id="8" name="TextBox 8"/>
            <p:cNvSpPr txBox="1"/>
            <p:nvPr/>
          </p:nvSpPr>
          <p:spPr>
            <a:xfrm>
              <a:off x="898398" y="2117408"/>
              <a:ext cx="1501348"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Consolas"/>
                  <a:ea typeface="Consolas"/>
                  <a:cs typeface="Consolas"/>
                </a:rPr>
                <a:t>50/500</a:t>
              </a:r>
            </a:p>
          </p:txBody>
        </p:sp>
        <p:sp>
          <p:nvSpPr>
            <p:cNvPr id="9" name="TextBox 9"/>
            <p:cNvSpPr txBox="1"/>
            <p:nvPr/>
          </p:nvSpPr>
          <p:spPr>
            <a:xfrm>
              <a:off x="907542" y="2578418"/>
              <a:ext cx="180382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累计采用户数（10%）</a:t>
              </a:r>
            </a:p>
          </p:txBody>
        </p:sp>
        <p:sp>
          <p:nvSpPr>
            <p:cNvPr id="10" name="Rectangle 10"/>
            <p:cNvSpPr/>
            <p:nvPr/>
          </p:nvSpPr>
          <p:spPr>
            <a:xfrm>
              <a:off x="3390900" y="1943100"/>
              <a:ext cx="2476500" cy="876300"/>
            </a:xfrm>
            <a:prstGeom prst="rect">
              <a:avLst/>
            </a:prstGeom>
            <a:solidFill>
              <a:schemeClr val="lt2"/>
            </a:solidFill>
            <a:ln>
              <a:noFill/>
            </a:ln>
          </p:spPr>
        </p:sp>
        <p:sp>
          <p:nvSpPr>
            <p:cNvPr id="11" name="TextBox 11"/>
            <p:cNvSpPr txBox="1"/>
            <p:nvPr/>
          </p:nvSpPr>
          <p:spPr>
            <a:xfrm>
              <a:off x="3603498" y="2117408"/>
              <a:ext cx="1655087"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Consolas"/>
                  <a:ea typeface="Consolas"/>
                  <a:cs typeface="Consolas"/>
                </a:rPr>
                <a:t>0.6 MW</a:t>
              </a:r>
            </a:p>
          </p:txBody>
        </p:sp>
        <p:sp>
          <p:nvSpPr>
            <p:cNvPr id="12" name="TextBox 12"/>
            <p:cNvSpPr txBox="1"/>
            <p:nvPr/>
          </p:nvSpPr>
          <p:spPr>
            <a:xfrm>
              <a:off x="3612642" y="2578418"/>
              <a:ext cx="740664"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累计装机</a:t>
              </a:r>
            </a:p>
          </p:txBody>
        </p:sp>
        <p:sp>
          <p:nvSpPr>
            <p:cNvPr id="13" name="Rectangle 13"/>
            <p:cNvSpPr/>
            <p:nvPr/>
          </p:nvSpPr>
          <p:spPr>
            <a:xfrm>
              <a:off x="6096000" y="1943100"/>
              <a:ext cx="2476500" cy="876300"/>
            </a:xfrm>
            <a:prstGeom prst="rect">
              <a:avLst/>
            </a:prstGeom>
            <a:solidFill>
              <a:schemeClr val="lt2"/>
            </a:solidFill>
            <a:ln>
              <a:noFill/>
            </a:ln>
          </p:spPr>
        </p:sp>
        <p:sp>
          <p:nvSpPr>
            <p:cNvPr id="14" name="TextBox 14"/>
            <p:cNvSpPr txBox="1"/>
            <p:nvPr/>
          </p:nvSpPr>
          <p:spPr>
            <a:xfrm>
              <a:off x="6308598" y="2117408"/>
              <a:ext cx="1590399" cy="616077"/>
            </a:xfrm>
            <a:prstGeom prst="rect">
              <a:avLst/>
            </a:prstGeom>
            <a:noFill/>
            <a:ln>
              <a:noFill/>
            </a:ln>
          </p:spPr>
          <p:txBody>
            <a:bodyPr wrap="none" lIns="0" tIns="0" rIns="0" bIns="0" anchor="t" anchorCtr="0">
              <a:spAutoFit/>
            </a:bodyPr>
            <a:lstStyle/>
            <a:p>
              <a:pPr algn="l"/>
              <a:r>
                <a:rPr lang="zh-CN" sz="3150" b="1" dirty="0">
                  <a:solidFill>
                    <a:schemeClr val="accent2"/>
                  </a:solidFill>
                  <a:latin typeface="Consolas"/>
                  <a:ea typeface="Consolas"/>
                  <a:cs typeface="Consolas"/>
                </a:rPr>
                <a:t>−85.9%</a:t>
              </a:r>
            </a:p>
          </p:txBody>
        </p:sp>
        <p:sp>
          <p:nvSpPr>
            <p:cNvPr id="15" name="TextBox 15"/>
            <p:cNvSpPr txBox="1"/>
            <p:nvPr/>
          </p:nvSpPr>
          <p:spPr>
            <a:xfrm>
              <a:off x="6317742" y="2578418"/>
              <a:ext cx="146761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国内组件成本降幅</a:t>
              </a:r>
            </a:p>
          </p:txBody>
        </p:sp>
        <p:sp>
          <p:nvSpPr>
            <p:cNvPr id="16" name="Rectangle 16"/>
            <p:cNvSpPr/>
            <p:nvPr/>
          </p:nvSpPr>
          <p:spPr>
            <a:xfrm>
              <a:off x="8801100" y="1943100"/>
              <a:ext cx="2705100" cy="876300"/>
            </a:xfrm>
            <a:prstGeom prst="rect">
              <a:avLst/>
            </a:prstGeom>
            <a:solidFill>
              <a:schemeClr val="lt2"/>
            </a:solidFill>
            <a:ln>
              <a:noFill/>
            </a:ln>
          </p:spPr>
        </p:sp>
        <p:sp>
          <p:nvSpPr>
            <p:cNvPr id="17" name="TextBox 17"/>
            <p:cNvSpPr txBox="1"/>
            <p:nvPr/>
          </p:nvSpPr>
          <p:spPr>
            <a:xfrm>
              <a:off x="9013698" y="2117408"/>
              <a:ext cx="521785"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Consolas"/>
                  <a:ea typeface="Consolas"/>
                  <a:cs typeface="Consolas"/>
                </a:rPr>
                <a:t>93</a:t>
              </a:r>
            </a:p>
          </p:txBody>
        </p:sp>
        <p:sp>
          <p:nvSpPr>
            <p:cNvPr id="18" name="TextBox 18"/>
            <p:cNvSpPr txBox="1"/>
            <p:nvPr/>
          </p:nvSpPr>
          <p:spPr>
            <a:xfrm>
              <a:off x="9022842" y="2578418"/>
              <a:ext cx="146761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单元测试全部通过</a:t>
              </a:r>
            </a:p>
          </p:txBody>
        </p:sp>
      </p:grpSp>
      <p:grpSp>
        <p:nvGrpSpPr>
          <p:cNvPr id="39" name="Group 39"/>
          <p:cNvGrpSpPr/>
          <p:nvPr/>
        </p:nvGrpSpPr>
        <p:grpSpPr>
          <a:xfrm>
            <a:off x="678942" y="3473768"/>
            <a:ext cx="5988558" cy="2365057"/>
            <a:chOff x="678942" y="3473768"/>
            <a:chExt cx="5988558" cy="2365057"/>
          </a:xfrm>
        </p:grpSpPr>
        <p:sp>
          <p:nvSpPr>
            <p:cNvPr id="20" name="TextBox 20"/>
            <p:cNvSpPr txBox="1"/>
            <p:nvPr/>
          </p:nvSpPr>
          <p:spPr>
            <a:xfrm>
              <a:off x="678942" y="3473768"/>
              <a:ext cx="395364"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年末</a:t>
              </a:r>
            </a:p>
          </p:txBody>
        </p:sp>
        <p:sp>
          <p:nvSpPr>
            <p:cNvPr id="21" name="TextBox 21"/>
            <p:cNvSpPr txBox="1"/>
            <p:nvPr/>
          </p:nvSpPr>
          <p:spPr>
            <a:xfrm>
              <a:off x="2850642" y="3473768"/>
              <a:ext cx="1349483"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累计采用（户）</a:t>
              </a:r>
            </a:p>
          </p:txBody>
        </p:sp>
        <p:sp>
          <p:nvSpPr>
            <p:cNvPr id="22" name="Line 22"/>
            <p:cNvSpPr/>
            <p:nvPr/>
          </p:nvSpPr>
          <p:spPr>
            <a:xfrm>
              <a:off x="685800" y="3771900"/>
              <a:ext cx="5981700" cy="9525"/>
            </a:xfrm>
            <a:custGeom>
              <a:avLst/>
              <a:gdLst/>
              <a:ahLst/>
              <a:cxnLst/>
              <a:rect l="l" t="t" r="r" b="b"/>
              <a:pathLst>
                <a:path w="5981700" h="9525">
                  <a:moveTo>
                    <a:pt x="0" y="0"/>
                  </a:moveTo>
                  <a:lnTo>
                    <a:pt x="5981700" y="0"/>
                  </a:lnTo>
                </a:path>
              </a:pathLst>
            </a:custGeom>
            <a:noFill/>
            <a:ln w="9525">
              <a:solidFill>
                <a:schemeClr val="accent1">
                  <a:alpha val="35000"/>
                </a:schemeClr>
              </a:solidFill>
            </a:ln>
          </p:spPr>
        </p:sp>
        <p:sp>
          <p:nvSpPr>
            <p:cNvPr id="23" name="TextBox 23"/>
            <p:cNvSpPr txBox="1"/>
            <p:nvPr/>
          </p:nvSpPr>
          <p:spPr>
            <a:xfrm>
              <a:off x="678942" y="3969068"/>
              <a:ext cx="413537" cy="264033"/>
            </a:xfrm>
            <a:prstGeom prst="rect">
              <a:avLst/>
            </a:prstGeom>
            <a:noFill/>
            <a:ln>
              <a:noFill/>
            </a:ln>
          </p:spPr>
          <p:txBody>
            <a:bodyPr wrap="none" lIns="0" tIns="0" rIns="0" bIns="0" anchor="t" anchorCtr="0">
              <a:spAutoFit/>
            </a:bodyPr>
            <a:lstStyle/>
            <a:p>
              <a:pPr algn="l"/>
              <a:r>
                <a:rPr lang="zh-CN" sz="1350" dirty="0">
                  <a:solidFill>
                    <a:schemeClr val="dk1"/>
                  </a:solidFill>
                  <a:latin typeface="Consolas"/>
                  <a:ea typeface="Consolas"/>
                  <a:cs typeface="Consolas"/>
                </a:rPr>
                <a:t>1991</a:t>
              </a:r>
            </a:p>
          </p:txBody>
        </p:sp>
        <p:sp>
          <p:nvSpPr>
            <p:cNvPr id="24" name="TextBox 24"/>
            <p:cNvSpPr txBox="1"/>
            <p:nvPr/>
          </p:nvSpPr>
          <p:spPr>
            <a:xfrm>
              <a:off x="2850642" y="3969068"/>
              <a:ext cx="113671" cy="264033"/>
            </a:xfrm>
            <a:prstGeom prst="rect">
              <a:avLst/>
            </a:prstGeom>
            <a:noFill/>
            <a:ln>
              <a:noFill/>
            </a:ln>
          </p:spPr>
          <p:txBody>
            <a:bodyPr wrap="none" lIns="0" tIns="0" rIns="0" bIns="0" anchor="t" anchorCtr="0">
              <a:spAutoFit/>
            </a:bodyPr>
            <a:lstStyle/>
            <a:p>
              <a:pPr algn="l"/>
              <a:r>
                <a:rPr lang="zh-CN" sz="1350" dirty="0">
                  <a:solidFill>
                    <a:schemeClr val="accent1"/>
                  </a:solidFill>
                  <a:latin typeface="Consolas"/>
                  <a:ea typeface="Consolas"/>
                  <a:cs typeface="Consolas"/>
                </a:rPr>
                <a:t>6</a:t>
              </a:r>
            </a:p>
          </p:txBody>
        </p:sp>
        <p:sp>
          <p:nvSpPr>
            <p:cNvPr id="25" name="Line 25"/>
            <p:cNvSpPr/>
            <p:nvPr/>
          </p:nvSpPr>
          <p:spPr>
            <a:xfrm>
              <a:off x="685800" y="4286250"/>
              <a:ext cx="5981700" cy="9525"/>
            </a:xfrm>
            <a:custGeom>
              <a:avLst/>
              <a:gdLst/>
              <a:ahLst/>
              <a:cxnLst/>
              <a:rect l="l" t="t" r="r" b="b"/>
              <a:pathLst>
                <a:path w="5981700" h="9525">
                  <a:moveTo>
                    <a:pt x="0" y="0"/>
                  </a:moveTo>
                  <a:lnTo>
                    <a:pt x="5981700" y="0"/>
                  </a:lnTo>
                </a:path>
              </a:pathLst>
            </a:custGeom>
            <a:noFill/>
            <a:ln w="9525">
              <a:solidFill>
                <a:schemeClr val="accent1">
                  <a:alpha val="15000"/>
                </a:schemeClr>
              </a:solidFill>
            </a:ln>
          </p:spPr>
        </p:sp>
        <p:sp>
          <p:nvSpPr>
            <p:cNvPr id="26" name="TextBox 26"/>
            <p:cNvSpPr txBox="1"/>
            <p:nvPr/>
          </p:nvSpPr>
          <p:spPr>
            <a:xfrm>
              <a:off x="678942" y="4483418"/>
              <a:ext cx="413537" cy="264033"/>
            </a:xfrm>
            <a:prstGeom prst="rect">
              <a:avLst/>
            </a:prstGeom>
            <a:noFill/>
            <a:ln>
              <a:noFill/>
            </a:ln>
          </p:spPr>
          <p:txBody>
            <a:bodyPr wrap="none" lIns="0" tIns="0" rIns="0" bIns="0" anchor="t" anchorCtr="0">
              <a:spAutoFit/>
            </a:bodyPr>
            <a:lstStyle/>
            <a:p>
              <a:pPr algn="l"/>
              <a:r>
                <a:rPr lang="zh-CN" sz="1350" dirty="0">
                  <a:solidFill>
                    <a:schemeClr val="dk1"/>
                  </a:solidFill>
                  <a:latin typeface="Consolas"/>
                  <a:ea typeface="Consolas"/>
                  <a:cs typeface="Consolas"/>
                </a:rPr>
                <a:t>2000</a:t>
              </a:r>
            </a:p>
          </p:txBody>
        </p:sp>
        <p:sp>
          <p:nvSpPr>
            <p:cNvPr id="27" name="TextBox 27"/>
            <p:cNvSpPr txBox="1"/>
            <p:nvPr/>
          </p:nvSpPr>
          <p:spPr>
            <a:xfrm>
              <a:off x="2850642" y="4483418"/>
              <a:ext cx="113671" cy="264033"/>
            </a:xfrm>
            <a:prstGeom prst="rect">
              <a:avLst/>
            </a:prstGeom>
            <a:noFill/>
            <a:ln>
              <a:noFill/>
            </a:ln>
          </p:spPr>
          <p:txBody>
            <a:bodyPr wrap="none" lIns="0" tIns="0" rIns="0" bIns="0" anchor="t" anchorCtr="0">
              <a:spAutoFit/>
            </a:bodyPr>
            <a:lstStyle/>
            <a:p>
              <a:pPr algn="l"/>
              <a:r>
                <a:rPr lang="zh-CN" sz="1350" dirty="0">
                  <a:solidFill>
                    <a:schemeClr val="accent1"/>
                  </a:solidFill>
                  <a:latin typeface="Consolas"/>
                  <a:ea typeface="Consolas"/>
                  <a:cs typeface="Consolas"/>
                </a:rPr>
                <a:t>8</a:t>
              </a:r>
            </a:p>
          </p:txBody>
        </p:sp>
        <p:sp>
          <p:nvSpPr>
            <p:cNvPr id="28" name="Line 28"/>
            <p:cNvSpPr/>
            <p:nvPr/>
          </p:nvSpPr>
          <p:spPr>
            <a:xfrm>
              <a:off x="685800" y="4800600"/>
              <a:ext cx="5981700" cy="9525"/>
            </a:xfrm>
            <a:custGeom>
              <a:avLst/>
              <a:gdLst/>
              <a:ahLst/>
              <a:cxnLst/>
              <a:rect l="l" t="t" r="r" b="b"/>
              <a:pathLst>
                <a:path w="5981700" h="9525">
                  <a:moveTo>
                    <a:pt x="0" y="0"/>
                  </a:moveTo>
                  <a:lnTo>
                    <a:pt x="5981700" y="0"/>
                  </a:lnTo>
                </a:path>
              </a:pathLst>
            </a:custGeom>
            <a:noFill/>
            <a:ln w="9525">
              <a:solidFill>
                <a:schemeClr val="accent1">
                  <a:alpha val="15000"/>
                </a:schemeClr>
              </a:solidFill>
            </a:ln>
          </p:spPr>
        </p:sp>
        <p:sp>
          <p:nvSpPr>
            <p:cNvPr id="29" name="TextBox 29"/>
            <p:cNvSpPr txBox="1"/>
            <p:nvPr/>
          </p:nvSpPr>
          <p:spPr>
            <a:xfrm>
              <a:off x="678942" y="4997768"/>
              <a:ext cx="413537" cy="264033"/>
            </a:xfrm>
            <a:prstGeom prst="rect">
              <a:avLst/>
            </a:prstGeom>
            <a:noFill/>
            <a:ln>
              <a:noFill/>
            </a:ln>
          </p:spPr>
          <p:txBody>
            <a:bodyPr wrap="none" lIns="0" tIns="0" rIns="0" bIns="0" anchor="t" anchorCtr="0">
              <a:spAutoFit/>
            </a:bodyPr>
            <a:lstStyle/>
            <a:p>
              <a:pPr algn="l"/>
              <a:r>
                <a:rPr lang="zh-CN" sz="1350" dirty="0">
                  <a:solidFill>
                    <a:schemeClr val="dk1"/>
                  </a:solidFill>
                  <a:latin typeface="Consolas"/>
                  <a:ea typeface="Consolas"/>
                  <a:cs typeface="Consolas"/>
                </a:rPr>
                <a:t>2004</a:t>
              </a:r>
            </a:p>
          </p:txBody>
        </p:sp>
        <p:sp>
          <p:nvSpPr>
            <p:cNvPr id="30" name="TextBox 30"/>
            <p:cNvSpPr txBox="1"/>
            <p:nvPr/>
          </p:nvSpPr>
          <p:spPr>
            <a:xfrm>
              <a:off x="2850642" y="4997768"/>
              <a:ext cx="213627" cy="264033"/>
            </a:xfrm>
            <a:prstGeom prst="rect">
              <a:avLst/>
            </a:prstGeom>
            <a:noFill/>
            <a:ln>
              <a:noFill/>
            </a:ln>
          </p:spPr>
          <p:txBody>
            <a:bodyPr wrap="none" lIns="0" tIns="0" rIns="0" bIns="0" anchor="t" anchorCtr="0">
              <a:spAutoFit/>
            </a:bodyPr>
            <a:lstStyle/>
            <a:p>
              <a:pPr algn="l"/>
              <a:r>
                <a:rPr lang="zh-CN" sz="1350" dirty="0">
                  <a:solidFill>
                    <a:schemeClr val="accent1"/>
                  </a:solidFill>
                  <a:latin typeface="Consolas"/>
                  <a:ea typeface="Consolas"/>
                  <a:cs typeface="Consolas"/>
                </a:rPr>
                <a:t>22</a:t>
              </a:r>
            </a:p>
          </p:txBody>
        </p:sp>
        <p:sp>
          <p:nvSpPr>
            <p:cNvPr id="31" name="Line 31"/>
            <p:cNvSpPr/>
            <p:nvPr/>
          </p:nvSpPr>
          <p:spPr>
            <a:xfrm>
              <a:off x="685800" y="5314950"/>
              <a:ext cx="5981700" cy="9525"/>
            </a:xfrm>
            <a:custGeom>
              <a:avLst/>
              <a:gdLst/>
              <a:ahLst/>
              <a:cxnLst/>
              <a:rect l="l" t="t" r="r" b="b"/>
              <a:pathLst>
                <a:path w="5981700" h="9525">
                  <a:moveTo>
                    <a:pt x="0" y="0"/>
                  </a:moveTo>
                  <a:lnTo>
                    <a:pt x="5981700" y="0"/>
                  </a:lnTo>
                </a:path>
              </a:pathLst>
            </a:custGeom>
            <a:noFill/>
            <a:ln w="9525">
              <a:solidFill>
                <a:schemeClr val="accent1">
                  <a:alpha val="15000"/>
                </a:schemeClr>
              </a:solidFill>
            </a:ln>
          </p:spPr>
        </p:sp>
        <p:sp>
          <p:nvSpPr>
            <p:cNvPr id="32" name="TextBox 32"/>
            <p:cNvSpPr txBox="1"/>
            <p:nvPr/>
          </p:nvSpPr>
          <p:spPr>
            <a:xfrm>
              <a:off x="678942" y="5512118"/>
              <a:ext cx="413537" cy="264033"/>
            </a:xfrm>
            <a:prstGeom prst="rect">
              <a:avLst/>
            </a:prstGeom>
            <a:noFill/>
            <a:ln>
              <a:noFill/>
            </a:ln>
          </p:spPr>
          <p:txBody>
            <a:bodyPr wrap="none" lIns="0" tIns="0" rIns="0" bIns="0" anchor="t" anchorCtr="0">
              <a:spAutoFit/>
            </a:bodyPr>
            <a:lstStyle/>
            <a:p>
              <a:pPr algn="l"/>
              <a:r>
                <a:rPr lang="zh-CN" sz="1350" dirty="0">
                  <a:solidFill>
                    <a:schemeClr val="dk1"/>
                  </a:solidFill>
                  <a:latin typeface="Consolas"/>
                  <a:ea typeface="Consolas"/>
                  <a:cs typeface="Consolas"/>
                </a:rPr>
                <a:t>2008</a:t>
              </a:r>
            </a:p>
          </p:txBody>
        </p:sp>
        <p:sp>
          <p:nvSpPr>
            <p:cNvPr id="33" name="TextBox 33"/>
            <p:cNvSpPr txBox="1"/>
            <p:nvPr/>
          </p:nvSpPr>
          <p:spPr>
            <a:xfrm>
              <a:off x="2850642" y="5512118"/>
              <a:ext cx="213627" cy="264033"/>
            </a:xfrm>
            <a:prstGeom prst="rect">
              <a:avLst/>
            </a:prstGeom>
            <a:noFill/>
            <a:ln>
              <a:noFill/>
            </a:ln>
          </p:spPr>
          <p:txBody>
            <a:bodyPr wrap="none" lIns="0" tIns="0" rIns="0" bIns="0" anchor="t" anchorCtr="0">
              <a:spAutoFit/>
            </a:bodyPr>
            <a:lstStyle/>
            <a:p>
              <a:pPr algn="l"/>
              <a:r>
                <a:rPr lang="zh-CN" sz="1350" dirty="0">
                  <a:solidFill>
                    <a:schemeClr val="accent1"/>
                  </a:solidFill>
                  <a:latin typeface="Consolas"/>
                  <a:ea typeface="Consolas"/>
                  <a:cs typeface="Consolas"/>
                </a:rPr>
                <a:t>50</a:t>
              </a:r>
            </a:p>
          </p:txBody>
        </p:sp>
        <p:sp>
          <p:nvSpPr>
            <p:cNvPr id="34" name="Line 34"/>
            <p:cNvSpPr/>
            <p:nvPr/>
          </p:nvSpPr>
          <p:spPr>
            <a:xfrm>
              <a:off x="685800" y="5829300"/>
              <a:ext cx="5981700" cy="9525"/>
            </a:xfrm>
            <a:custGeom>
              <a:avLst/>
              <a:gdLst/>
              <a:ahLst/>
              <a:cxnLst/>
              <a:rect l="l" t="t" r="r" b="b"/>
              <a:pathLst>
                <a:path w="5981700" h="9525">
                  <a:moveTo>
                    <a:pt x="0" y="0"/>
                  </a:moveTo>
                  <a:lnTo>
                    <a:pt x="5981700" y="0"/>
                  </a:lnTo>
                </a:path>
              </a:pathLst>
            </a:custGeom>
            <a:noFill/>
            <a:ln w="9525">
              <a:solidFill>
                <a:schemeClr val="accent1">
                  <a:alpha val="15000"/>
                </a:schemeClr>
              </a:solidFill>
            </a:ln>
          </p:spPr>
        </p:sp>
        <p:sp>
          <p:nvSpPr>
            <p:cNvPr id="35" name="TextBox 35"/>
            <p:cNvSpPr txBox="1"/>
            <p:nvPr/>
          </p:nvSpPr>
          <p:spPr>
            <a:xfrm>
              <a:off x="4565142" y="3969068"/>
              <a:ext cx="413537" cy="264033"/>
            </a:xfrm>
            <a:prstGeom prst="rect">
              <a:avLst/>
            </a:prstGeom>
            <a:noFill/>
            <a:ln>
              <a:noFill/>
            </a:ln>
          </p:spPr>
          <p:txBody>
            <a:bodyPr wrap="none" lIns="0" tIns="0" rIns="0" bIns="0" anchor="t" anchorCtr="0">
              <a:spAutoFit/>
            </a:bodyPr>
            <a:lstStyle/>
            <a:p>
              <a:pPr algn="l"/>
              <a:r>
                <a:rPr lang="zh-CN" sz="1350" dirty="0">
                  <a:solidFill>
                    <a:schemeClr val="dk1"/>
                  </a:solidFill>
                  <a:latin typeface="Consolas"/>
                  <a:ea typeface="Consolas"/>
                  <a:cs typeface="Consolas"/>
                </a:rPr>
                <a:t>2012</a:t>
              </a:r>
            </a:p>
          </p:txBody>
        </p:sp>
        <p:sp>
          <p:nvSpPr>
            <p:cNvPr id="36" name="TextBox 36"/>
            <p:cNvSpPr txBox="1"/>
            <p:nvPr/>
          </p:nvSpPr>
          <p:spPr>
            <a:xfrm>
              <a:off x="6089142" y="3969068"/>
              <a:ext cx="213627" cy="264033"/>
            </a:xfrm>
            <a:prstGeom prst="rect">
              <a:avLst/>
            </a:prstGeom>
            <a:noFill/>
            <a:ln>
              <a:noFill/>
            </a:ln>
          </p:spPr>
          <p:txBody>
            <a:bodyPr wrap="none" lIns="0" tIns="0" rIns="0" bIns="0" anchor="t" anchorCtr="0">
              <a:spAutoFit/>
            </a:bodyPr>
            <a:lstStyle/>
            <a:p>
              <a:pPr algn="l"/>
              <a:r>
                <a:rPr lang="zh-CN" sz="1350" dirty="0">
                  <a:solidFill>
                    <a:schemeClr val="accent1"/>
                  </a:solidFill>
                  <a:latin typeface="Consolas"/>
                  <a:ea typeface="Consolas"/>
                  <a:cs typeface="Consolas"/>
                </a:rPr>
                <a:t>50</a:t>
              </a:r>
            </a:p>
          </p:txBody>
        </p:sp>
        <p:sp>
          <p:nvSpPr>
            <p:cNvPr id="37" name="TextBox 37"/>
            <p:cNvSpPr txBox="1"/>
            <p:nvPr/>
          </p:nvSpPr>
          <p:spPr>
            <a:xfrm>
              <a:off x="4565142" y="4483418"/>
              <a:ext cx="413537" cy="264033"/>
            </a:xfrm>
            <a:prstGeom prst="rect">
              <a:avLst/>
            </a:prstGeom>
            <a:noFill/>
            <a:ln>
              <a:noFill/>
            </a:ln>
          </p:spPr>
          <p:txBody>
            <a:bodyPr wrap="none" lIns="0" tIns="0" rIns="0" bIns="0" anchor="t" anchorCtr="0">
              <a:spAutoFit/>
            </a:bodyPr>
            <a:lstStyle/>
            <a:p>
              <a:pPr algn="l"/>
              <a:r>
                <a:rPr lang="zh-CN" sz="1350" dirty="0">
                  <a:solidFill>
                    <a:schemeClr val="dk1"/>
                  </a:solidFill>
                  <a:latin typeface="Consolas"/>
                  <a:ea typeface="Consolas"/>
                  <a:cs typeface="Consolas"/>
                </a:rPr>
                <a:t>2016</a:t>
              </a:r>
            </a:p>
          </p:txBody>
        </p:sp>
        <p:sp>
          <p:nvSpPr>
            <p:cNvPr id="38" name="TextBox 38"/>
            <p:cNvSpPr txBox="1"/>
            <p:nvPr/>
          </p:nvSpPr>
          <p:spPr>
            <a:xfrm>
              <a:off x="6089142" y="4483418"/>
              <a:ext cx="213627" cy="264033"/>
            </a:xfrm>
            <a:prstGeom prst="rect">
              <a:avLst/>
            </a:prstGeom>
            <a:noFill/>
            <a:ln>
              <a:noFill/>
            </a:ln>
          </p:spPr>
          <p:txBody>
            <a:bodyPr wrap="none" lIns="0" tIns="0" rIns="0" bIns="0" anchor="t" anchorCtr="0">
              <a:spAutoFit/>
            </a:bodyPr>
            <a:lstStyle/>
            <a:p>
              <a:pPr algn="l"/>
              <a:r>
                <a:rPr lang="zh-CN" sz="1350" dirty="0">
                  <a:solidFill>
                    <a:schemeClr val="accent1"/>
                  </a:solidFill>
                  <a:latin typeface="Consolas"/>
                  <a:ea typeface="Consolas"/>
                  <a:cs typeface="Consolas"/>
                </a:rPr>
                <a:t>50</a:t>
              </a:r>
            </a:p>
          </p:txBody>
        </p:sp>
      </p:grpSp>
      <p:grpSp>
        <p:nvGrpSpPr>
          <p:cNvPr id="51" name="Group 51"/>
          <p:cNvGrpSpPr/>
          <p:nvPr/>
        </p:nvGrpSpPr>
        <p:grpSpPr>
          <a:xfrm>
            <a:off x="7804404" y="3261360"/>
            <a:ext cx="3525774" cy="2692146"/>
            <a:chOff x="7804404" y="3261360"/>
            <a:chExt cx="3525774" cy="2692146"/>
          </a:xfrm>
        </p:grpSpPr>
        <p:sp>
          <p:nvSpPr>
            <p:cNvPr id="40" name="TextBox 40"/>
            <p:cNvSpPr txBox="1"/>
            <p:nvPr/>
          </p:nvSpPr>
          <p:spPr>
            <a:xfrm>
              <a:off x="7804404" y="3261360"/>
              <a:ext cx="1603400" cy="234696"/>
            </a:xfrm>
            <a:prstGeom prst="rect">
              <a:avLst/>
            </a:prstGeom>
            <a:noFill/>
            <a:ln>
              <a:noFill/>
            </a:ln>
          </p:spPr>
          <p:txBody>
            <a:bodyPr wrap="none" lIns="0" tIns="0" rIns="0" bIns="0" anchor="t" anchorCtr="0">
              <a:spAutoFit/>
            </a:bodyPr>
            <a:lstStyle/>
            <a:p>
              <a:pPr algn="l"/>
              <a:r>
                <a:rPr lang="zh-CN" sz="1200" dirty="0">
                  <a:solidFill>
                    <a:schemeClr val="dk1">
                      <a:alphaMod val="85000"/>
                    </a:schemeClr>
                  </a:solidFill>
                  <a:latin typeface="+mn-lt"/>
                  <a:ea typeface="+mn-ea"/>
                  <a:cs typeface="+mn-cs"/>
                </a:rPr>
                <a:t>累计采用（户）· 年末</a:t>
              </a:r>
            </a:p>
          </p:txBody>
        </p:sp>
        <p:grpSp>
          <p:nvGrpSpPr>
            <p:cNvPr id="44" name="Group 44"/>
            <p:cNvGrpSpPr/>
            <p:nvPr/>
          </p:nvGrpSpPr>
          <p:grpSpPr>
            <a:xfrm>
              <a:off x="8191500" y="3619500"/>
              <a:ext cx="2857500" cy="1724025"/>
              <a:chOff x="8191500" y="3619500"/>
              <a:chExt cx="2857500" cy="1724025"/>
            </a:xfrm>
          </p:grpSpPr>
          <p:sp>
            <p:nvSpPr>
              <p:cNvPr id="41" name="Line 41"/>
              <p:cNvSpPr/>
              <p:nvPr/>
            </p:nvSpPr>
            <p:spPr>
              <a:xfrm>
                <a:off x="8191500" y="3619500"/>
                <a:ext cx="9525" cy="1714500"/>
              </a:xfrm>
              <a:custGeom>
                <a:avLst/>
                <a:gdLst/>
                <a:ahLst/>
                <a:cxnLst/>
                <a:rect l="l" t="t" r="r" b="b"/>
                <a:pathLst>
                  <a:path w="9525" h="1714500">
                    <a:moveTo>
                      <a:pt x="0" y="0"/>
                    </a:moveTo>
                    <a:lnTo>
                      <a:pt x="0" y="1714500"/>
                    </a:lnTo>
                  </a:path>
                </a:pathLst>
              </a:custGeom>
              <a:noFill/>
              <a:ln w="9525">
                <a:solidFill>
                  <a:schemeClr val="accent1">
                    <a:alpha val="35000"/>
                  </a:schemeClr>
                </a:solidFill>
              </a:ln>
            </p:spPr>
          </p:sp>
          <p:sp>
            <p:nvSpPr>
              <p:cNvPr id="42" name="Line 42"/>
              <p:cNvSpPr/>
              <p:nvPr/>
            </p:nvSpPr>
            <p:spPr>
              <a:xfrm>
                <a:off x="8191500" y="5334000"/>
                <a:ext cx="2857500" cy="9525"/>
              </a:xfrm>
              <a:custGeom>
                <a:avLst/>
                <a:gdLst/>
                <a:ahLst/>
                <a:cxnLst/>
                <a:rect l="l" t="t" r="r" b="b"/>
                <a:pathLst>
                  <a:path w="2857500" h="9525">
                    <a:moveTo>
                      <a:pt x="0" y="0"/>
                    </a:moveTo>
                    <a:lnTo>
                      <a:pt x="2857500" y="0"/>
                    </a:lnTo>
                  </a:path>
                </a:pathLst>
              </a:custGeom>
              <a:noFill/>
              <a:ln w="9525">
                <a:solidFill>
                  <a:schemeClr val="accent1">
                    <a:alpha val="35000"/>
                  </a:schemeClr>
                </a:solidFill>
              </a:ln>
            </p:spPr>
          </p:sp>
          <p:sp>
            <p:nvSpPr>
              <p:cNvPr id="43" name="Polyline 43"/>
              <p:cNvSpPr/>
              <p:nvPr/>
            </p:nvSpPr>
            <p:spPr>
              <a:xfrm>
                <a:off x="8191500" y="3619500"/>
                <a:ext cx="2857500" cy="1508760"/>
              </a:xfrm>
              <a:custGeom>
                <a:avLst/>
                <a:gdLst/>
                <a:ahLst/>
                <a:cxnLst/>
                <a:rect l="l" t="t" r="r" b="b"/>
                <a:pathLst>
                  <a:path w="2857500" h="1508760">
                    <a:moveTo>
                      <a:pt x="0" y="1508760"/>
                    </a:moveTo>
                    <a:lnTo>
                      <a:pt x="1028700" y="1440180"/>
                    </a:lnTo>
                    <a:lnTo>
                      <a:pt x="1485900" y="960120"/>
                    </a:lnTo>
                    <a:lnTo>
                      <a:pt x="1943100" y="0"/>
                    </a:lnTo>
                    <a:lnTo>
                      <a:pt x="2400300" y="0"/>
                    </a:lnTo>
                    <a:lnTo>
                      <a:pt x="2857500" y="0"/>
                    </a:lnTo>
                  </a:path>
                </a:pathLst>
              </a:custGeom>
              <a:noFill/>
              <a:ln w="28575">
                <a:solidFill>
                  <a:schemeClr val="accent2"/>
                </a:solidFill>
              </a:ln>
            </p:spPr>
          </p:sp>
        </p:grpSp>
        <p:sp>
          <p:nvSpPr>
            <p:cNvPr id="45" name="TextBox 45"/>
            <p:cNvSpPr txBox="1"/>
            <p:nvPr/>
          </p:nvSpPr>
          <p:spPr>
            <a:xfrm>
              <a:off x="7916380" y="3563302"/>
              <a:ext cx="166154" cy="205359"/>
            </a:xfrm>
            <a:prstGeom prst="rect">
              <a:avLst/>
            </a:prstGeom>
            <a:noFill/>
            <a:ln>
              <a:noFill/>
            </a:ln>
          </p:spPr>
          <p:txBody>
            <a:bodyPr wrap="none" lIns="0" tIns="0" rIns="0" bIns="0" anchor="t" anchorCtr="0">
              <a:spAutoFit/>
            </a:bodyPr>
            <a:lstStyle/>
            <a:p>
              <a:pPr algn="r"/>
              <a:r>
                <a:rPr lang="zh-CN" sz="1050" dirty="0">
                  <a:solidFill>
                    <a:schemeClr val="dk1">
                      <a:alphaMod val="85000"/>
                    </a:schemeClr>
                  </a:solidFill>
                  <a:latin typeface="Consolas"/>
                  <a:ea typeface="Consolas"/>
                  <a:cs typeface="Consolas"/>
                </a:rPr>
                <a:t>50</a:t>
              </a:r>
            </a:p>
          </p:txBody>
        </p:sp>
        <p:sp>
          <p:nvSpPr>
            <p:cNvPr id="46" name="TextBox 46"/>
            <p:cNvSpPr txBox="1"/>
            <p:nvPr/>
          </p:nvSpPr>
          <p:spPr>
            <a:xfrm>
              <a:off x="7994123" y="5258752"/>
              <a:ext cx="88411" cy="205359"/>
            </a:xfrm>
            <a:prstGeom prst="rect">
              <a:avLst/>
            </a:prstGeom>
            <a:noFill/>
            <a:ln>
              <a:noFill/>
            </a:ln>
          </p:spPr>
          <p:txBody>
            <a:bodyPr wrap="none" lIns="0" tIns="0" rIns="0" bIns="0" anchor="t" anchorCtr="0">
              <a:spAutoFit/>
            </a:bodyPr>
            <a:lstStyle/>
            <a:p>
              <a:pPr algn="r"/>
              <a:r>
                <a:rPr lang="zh-CN" sz="1050" dirty="0">
                  <a:solidFill>
                    <a:schemeClr val="dk1">
                      <a:alphaMod val="85000"/>
                    </a:schemeClr>
                  </a:solidFill>
                  <a:latin typeface="Consolas"/>
                  <a:ea typeface="Consolas"/>
                  <a:cs typeface="Consolas"/>
                </a:rPr>
                <a:t>0</a:t>
              </a:r>
            </a:p>
          </p:txBody>
        </p:sp>
        <p:sp>
          <p:nvSpPr>
            <p:cNvPr id="47" name="TextBox 47"/>
            <p:cNvSpPr txBox="1"/>
            <p:nvPr/>
          </p:nvSpPr>
          <p:spPr>
            <a:xfrm>
              <a:off x="8186166" y="5449252"/>
              <a:ext cx="321640" cy="205359"/>
            </a:xfrm>
            <a:prstGeom prst="rect">
              <a:avLst/>
            </a:prstGeom>
            <a:noFill/>
            <a:ln>
              <a:noFill/>
            </a:ln>
          </p:spPr>
          <p:txBody>
            <a:bodyPr wrap="none" lIns="0" tIns="0" rIns="0" bIns="0" anchor="t" anchorCtr="0">
              <a:spAutoFit/>
            </a:bodyPr>
            <a:lstStyle/>
            <a:p>
              <a:pPr algn="l"/>
              <a:r>
                <a:rPr lang="zh-CN" sz="1050" dirty="0">
                  <a:solidFill>
                    <a:schemeClr val="dk1">
                      <a:alphaMod val="85000"/>
                    </a:schemeClr>
                  </a:solidFill>
                  <a:latin typeface="Consolas"/>
                  <a:ea typeface="Consolas"/>
                  <a:cs typeface="Consolas"/>
                </a:rPr>
                <a:t>1991</a:t>
              </a:r>
            </a:p>
          </p:txBody>
        </p:sp>
        <p:sp>
          <p:nvSpPr>
            <p:cNvPr id="48" name="TextBox 48"/>
            <p:cNvSpPr txBox="1"/>
            <p:nvPr/>
          </p:nvSpPr>
          <p:spPr>
            <a:xfrm>
              <a:off x="9973780" y="5449252"/>
              <a:ext cx="321640" cy="205359"/>
            </a:xfrm>
            <a:prstGeom prst="rect">
              <a:avLst/>
            </a:prstGeom>
            <a:noFill/>
            <a:ln>
              <a:noFill/>
            </a:ln>
          </p:spPr>
          <p:txBody>
            <a:bodyPr wrap="none" lIns="0" tIns="0" rIns="0" bIns="0" anchor="t" anchorCtr="0">
              <a:spAutoFit/>
            </a:bodyPr>
            <a:lstStyle/>
            <a:p>
              <a:pPr algn="ctr"/>
              <a:r>
                <a:rPr lang="zh-CN" sz="1050" dirty="0">
                  <a:solidFill>
                    <a:schemeClr val="dk1">
                      <a:alphaMod val="85000"/>
                    </a:schemeClr>
                  </a:solidFill>
                  <a:latin typeface="Consolas"/>
                  <a:ea typeface="Consolas"/>
                  <a:cs typeface="Consolas"/>
                </a:rPr>
                <a:t>2008</a:t>
              </a:r>
            </a:p>
          </p:txBody>
        </p:sp>
        <p:sp>
          <p:nvSpPr>
            <p:cNvPr id="49" name="TextBox 49"/>
            <p:cNvSpPr txBox="1"/>
            <p:nvPr/>
          </p:nvSpPr>
          <p:spPr>
            <a:xfrm>
              <a:off x="10732694" y="5449252"/>
              <a:ext cx="321640" cy="205359"/>
            </a:xfrm>
            <a:prstGeom prst="rect">
              <a:avLst/>
            </a:prstGeom>
            <a:noFill/>
            <a:ln>
              <a:noFill/>
            </a:ln>
          </p:spPr>
          <p:txBody>
            <a:bodyPr wrap="none" lIns="0" tIns="0" rIns="0" bIns="0" anchor="t" anchorCtr="0">
              <a:spAutoFit/>
            </a:bodyPr>
            <a:lstStyle/>
            <a:p>
              <a:pPr algn="r"/>
              <a:r>
                <a:rPr lang="zh-CN" sz="1050" dirty="0">
                  <a:solidFill>
                    <a:schemeClr val="dk1">
                      <a:alphaMod val="85000"/>
                    </a:schemeClr>
                  </a:solidFill>
                  <a:latin typeface="Consolas"/>
                  <a:ea typeface="Consolas"/>
                  <a:cs typeface="Consolas"/>
                </a:rPr>
                <a:t>2016</a:t>
              </a:r>
            </a:p>
          </p:txBody>
        </p:sp>
        <p:sp>
          <p:nvSpPr>
            <p:cNvPr id="50" name="TextBox 50"/>
            <p:cNvSpPr txBox="1"/>
            <p:nvPr/>
          </p:nvSpPr>
          <p:spPr>
            <a:xfrm>
              <a:off x="7804404" y="5718810"/>
              <a:ext cx="3525774" cy="234696"/>
            </a:xfrm>
            <a:prstGeom prst="rect">
              <a:avLst/>
            </a:prstGeom>
            <a:noFill/>
            <a:ln>
              <a:noFill/>
            </a:ln>
          </p:spPr>
          <p:txBody>
            <a:bodyPr wrap="none" lIns="0" tIns="0" rIns="0" bIns="0" anchor="t" anchorCtr="0">
              <a:spAutoFit/>
            </a:bodyPr>
            <a:lstStyle/>
            <a:p>
              <a:pPr algn="l"/>
              <a:r>
                <a:rPr lang="zh-CN" sz="1200" dirty="0">
                  <a:solidFill>
                    <a:schemeClr val="dk1">
                      <a:alphaMod val="85000"/>
                    </a:schemeClr>
                  </a:solidFill>
                  <a:latin typeface="+mn-lt"/>
                  <a:ea typeface="+mn-ea"/>
                  <a:cs typeface="+mn-cs"/>
                </a:rPr>
                <a:t>真实采用率约 7%，本模型 10%：偏差来源见下页</a:t>
              </a:r>
            </a:p>
          </p:txBody>
        </p:sp>
      </p:grpSp>
      <p:grpSp>
        <p:nvGrpSpPr>
          <p:cNvPr id="55" name="Group 55"/>
          <p:cNvGrpSpPr/>
          <p:nvPr/>
        </p:nvGrpSpPr>
        <p:grpSpPr>
          <a:xfrm>
            <a:off x="679704" y="6286500"/>
            <a:ext cx="10832592" cy="390906"/>
            <a:chOff x="679704" y="6286500"/>
            <a:chExt cx="10832592" cy="390906"/>
          </a:xfrm>
        </p:grpSpPr>
        <p:sp>
          <p:nvSpPr>
            <p:cNvPr id="52" name="Line 52"/>
            <p:cNvSpPr/>
            <p:nvPr/>
          </p:nvSpPr>
          <p:spPr>
            <a:xfrm>
              <a:off x="685800" y="6286500"/>
              <a:ext cx="10820400" cy="9525"/>
            </a:xfrm>
            <a:custGeom>
              <a:avLst/>
              <a:gdLst/>
              <a:ahLst/>
              <a:cxnLst/>
              <a:rect l="l" t="t" r="r" b="b"/>
              <a:pathLst>
                <a:path w="10820400" h="9525">
                  <a:moveTo>
                    <a:pt x="0" y="0"/>
                  </a:moveTo>
                  <a:lnTo>
                    <a:pt x="10820400" y="0"/>
                  </a:lnTo>
                </a:path>
              </a:pathLst>
            </a:custGeom>
            <a:noFill/>
            <a:ln w="9525">
              <a:solidFill>
                <a:schemeClr val="accent1">
                  <a:alpha val="30000"/>
                </a:schemeClr>
              </a:solidFill>
            </a:ln>
          </p:spPr>
        </p:sp>
        <p:sp>
          <p:nvSpPr>
            <p:cNvPr id="53" name="TextBox 53"/>
            <p:cNvSpPr txBox="1"/>
            <p:nvPr/>
          </p:nvSpPr>
          <p:spPr>
            <a:xfrm>
              <a:off x="679704" y="6442710"/>
              <a:ext cx="5190134" cy="234696"/>
            </a:xfrm>
            <a:prstGeom prst="rect">
              <a:avLst/>
            </a:prstGeom>
            <a:noFill/>
            <a:ln>
              <a:noFill/>
            </a:ln>
          </p:spPr>
          <p:txBody>
            <a:bodyPr wrap="none" lIns="0" tIns="0" rIns="0" bIns="0" anchor="t" anchorCtr="0">
              <a:spAutoFit/>
            </a:bodyPr>
            <a:lstStyle/>
            <a:p>
              <a:pPr algn="l"/>
              <a:r>
                <a:rPr lang="zh-CN" sz="1200" dirty="0">
                  <a:solidFill>
                    <a:schemeClr val="dk1">
                      <a:alphaMod val="72000"/>
                    </a:schemeClr>
                  </a:solidFill>
                  <a:latin typeface="+mn-lt"/>
                  <a:ea typeface="+mn-ea"/>
                  <a:cs typeface="+mn-cs"/>
                </a:rPr>
                <a:t>公式模式跑完 312 tick 约 12–15 秒；LLM 模式受 API 速率限制需节流</a:t>
              </a:r>
            </a:p>
          </p:txBody>
        </p:sp>
        <p:sp>
          <p:nvSpPr>
            <p:cNvPr id="54" name="TextBox 54"/>
            <p:cNvSpPr txBox="1"/>
            <p:nvPr/>
          </p:nvSpPr>
          <p:spPr>
            <a:xfrm>
              <a:off x="10958932" y="6442710"/>
              <a:ext cx="553364" cy="234696"/>
            </a:xfrm>
            <a:prstGeom prst="rect">
              <a:avLst/>
            </a:prstGeom>
            <a:noFill/>
            <a:ln>
              <a:noFill/>
            </a:ln>
          </p:spPr>
          <p:txBody>
            <a:bodyPr wrap="none" lIns="0" tIns="0" rIns="0" bIns="0" anchor="t" anchorCtr="0">
              <a:spAutoFit/>
            </a:bodyPr>
            <a:lstStyle/>
            <a:p>
              <a:pPr algn="r"/>
              <a:r>
                <a:rPr lang="zh-CN" sz="1200" dirty="0">
                  <a:solidFill>
                    <a:schemeClr val="dk1">
                      <a:alphaMod val="72000"/>
                    </a:schemeClr>
                  </a:solidFill>
                  <a:latin typeface="+mn-lt"/>
                  <a:ea typeface="+mn-ea"/>
                  <a:cs typeface="+mn-cs"/>
                </a:rPr>
                <a:t>11 / 14</a:t>
              </a:r>
            </a:p>
          </p:txBody>
        </p:sp>
      </p:gr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669798" y="552450"/>
            <a:ext cx="10836402" cy="1076135"/>
            <a:chOff x="669798" y="552450"/>
            <a:chExt cx="10836402" cy="1076135"/>
          </a:xfrm>
        </p:grpSpPr>
        <p:sp>
          <p:nvSpPr>
            <p:cNvPr id="2" name="Rectangle 2"/>
            <p:cNvSpPr/>
            <p:nvPr/>
          </p:nvSpPr>
          <p:spPr>
            <a:xfrm>
              <a:off x="685800" y="552450"/>
              <a:ext cx="533400" cy="38100"/>
            </a:xfrm>
            <a:prstGeom prst="rect">
              <a:avLst/>
            </a:prstGeom>
            <a:solidFill>
              <a:schemeClr val="accent2"/>
            </a:solidFill>
            <a:ln>
              <a:noFill/>
            </a:ln>
          </p:spPr>
        </p:sp>
        <p:sp>
          <p:nvSpPr>
            <p:cNvPr id="3" name="TextBox 3"/>
            <p:cNvSpPr txBox="1"/>
            <p:nvPr/>
          </p:nvSpPr>
          <p:spPr>
            <a:xfrm>
              <a:off x="678942" y="768668"/>
              <a:ext cx="2548433" cy="264033"/>
            </a:xfrm>
            <a:prstGeom prst="rect">
              <a:avLst/>
            </a:prstGeom>
            <a:noFill/>
            <a:ln>
              <a:noFill/>
            </a:ln>
          </p:spPr>
          <p:txBody>
            <a:bodyPr wrap="none" lIns="0" tIns="0" rIns="0" bIns="0" anchor="t" anchorCtr="0">
              <a:spAutoFit/>
            </a:bodyPr>
            <a:lstStyle/>
            <a:p>
              <a:pPr algn="l"/>
              <a:r>
                <a:rPr lang="zh-CN" sz="1350" dirty="0">
                  <a:solidFill>
                    <a:schemeClr val="accent1">
                      <a:alphaMod val="78000"/>
                    </a:schemeClr>
                  </a:solidFill>
                  <a:latin typeface="+mn-lt"/>
                  <a:ea typeface="+mn-ea"/>
                  <a:cs typeface="+mn-cs"/>
                </a:rPr>
                <a:t>PART 5 · 偏差、进度与下一步</a:t>
              </a:r>
            </a:p>
          </p:txBody>
        </p:sp>
        <p:sp>
          <p:nvSpPr>
            <p:cNvPr id="4" name="TextBox 4"/>
            <p:cNvSpPr txBox="1"/>
            <p:nvPr/>
          </p:nvSpPr>
          <p:spPr>
            <a:xfrm>
              <a:off x="669798" y="1012508"/>
              <a:ext cx="6265583"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两处偏差已定位，但都还没有修</a:t>
              </a:r>
            </a:p>
          </p:txBody>
        </p:sp>
        <p:sp>
          <p:nvSpPr>
            <p:cNvPr id="5" name="Line 5"/>
            <p:cNvSpPr/>
            <p:nvPr/>
          </p:nvSpPr>
          <p:spPr>
            <a:xfrm>
              <a:off x="685800" y="1600200"/>
              <a:ext cx="10820400" cy="9525"/>
            </a:xfrm>
            <a:custGeom>
              <a:avLst/>
              <a:gdLst/>
              <a:ahLst/>
              <a:cxnLst/>
              <a:rect l="l" t="t" r="r" b="b"/>
              <a:pathLst>
                <a:path w="10820400" h="9525">
                  <a:moveTo>
                    <a:pt x="0" y="0"/>
                  </a:moveTo>
                  <a:lnTo>
                    <a:pt x="10820400" y="0"/>
                  </a:lnTo>
                </a:path>
              </a:pathLst>
            </a:custGeom>
            <a:noFill/>
            <a:ln w="9525">
              <a:solidFill>
                <a:schemeClr val="accent1">
                  <a:alpha val="22000"/>
                </a:schemeClr>
              </a:solidFill>
            </a:ln>
          </p:spPr>
        </p:sp>
      </p:grpSp>
      <p:grpSp>
        <p:nvGrpSpPr>
          <p:cNvPr id="18" name="Group 18"/>
          <p:cNvGrpSpPr/>
          <p:nvPr/>
        </p:nvGrpSpPr>
        <p:grpSpPr>
          <a:xfrm>
            <a:off x="678942" y="1993913"/>
            <a:ext cx="3979926" cy="3153588"/>
            <a:chOff x="678942" y="1993913"/>
            <a:chExt cx="3979926" cy="3153588"/>
          </a:xfrm>
        </p:grpSpPr>
        <p:grpSp>
          <p:nvGrpSpPr>
            <p:cNvPr id="10" name="Group 10"/>
            <p:cNvGrpSpPr/>
            <p:nvPr/>
          </p:nvGrpSpPr>
          <p:grpSpPr>
            <a:xfrm>
              <a:off x="708599" y="1993913"/>
              <a:ext cx="240143" cy="206314"/>
              <a:chOff x="708599" y="1993913"/>
              <a:chExt cx="240143" cy="206314"/>
            </a:xfrm>
          </p:grpSpPr>
          <p:sp>
            <p:nvSpPr>
              <p:cNvPr id="7" name="Freeform 7"/>
              <p:cNvSpPr/>
              <p:nvPr/>
            </p:nvSpPr>
            <p:spPr>
              <a:xfrm>
                <a:off x="828675" y="2069306"/>
                <a:ext cx="9525" cy="47625"/>
              </a:xfrm>
              <a:custGeom>
                <a:avLst/>
                <a:gdLst/>
                <a:ahLst/>
                <a:cxnLst/>
                <a:rect l="l" t="t" r="r" b="b"/>
                <a:pathLst>
                  <a:path w="9525" h="47625">
                    <a:moveTo>
                      <a:pt x="0" y="0"/>
                    </a:moveTo>
                    <a:lnTo>
                      <a:pt x="0" y="47625"/>
                    </a:lnTo>
                  </a:path>
                </a:pathLst>
              </a:custGeom>
              <a:noFill/>
              <a:ln w="23812">
                <a:solidFill>
                  <a:schemeClr val="accent2"/>
                </a:solidFill>
              </a:ln>
            </p:spPr>
          </p:sp>
          <p:sp>
            <p:nvSpPr>
              <p:cNvPr id="8" name="Freeform 8"/>
              <p:cNvSpPr/>
              <p:nvPr/>
            </p:nvSpPr>
            <p:spPr>
              <a:xfrm>
                <a:off x="708599" y="1993913"/>
                <a:ext cx="240143" cy="206314"/>
              </a:xfrm>
              <a:custGeom>
                <a:avLst/>
                <a:gdLst/>
                <a:ahLst/>
                <a:cxnLst/>
                <a:rect l="l" t="t" r="r" b="b"/>
                <a:pathLst>
                  <a:path w="240143" h="206314">
                    <a:moveTo>
                      <a:pt x="100585" y="10992"/>
                    </a:moveTo>
                    <a:lnTo>
                      <a:pt x="4073" y="172131"/>
                    </a:lnTo>
                    <a:cubicBezTo>
                      <a:pt x="25" y="179142"/>
                      <a:pt x="0" y="187775"/>
                      <a:pt x="4008" y="194810"/>
                    </a:cubicBezTo>
                    <a:cubicBezTo>
                      <a:pt x="8017" y="201844"/>
                      <a:pt x="15456" y="206223"/>
                      <a:pt x="23552" y="206314"/>
                    </a:cubicBezTo>
                    <a:lnTo>
                      <a:pt x="216600" y="206314"/>
                    </a:lnTo>
                    <a:cubicBezTo>
                      <a:pt x="224692" y="206221"/>
                      <a:pt x="232127" y="201843"/>
                      <a:pt x="236135" y="194813"/>
                    </a:cubicBezTo>
                    <a:cubicBezTo>
                      <a:pt x="240143" y="187782"/>
                      <a:pt x="240121" y="179154"/>
                      <a:pt x="236078" y="172143"/>
                    </a:cubicBezTo>
                    <a:lnTo>
                      <a:pt x="139566" y="10980"/>
                    </a:lnTo>
                    <a:cubicBezTo>
                      <a:pt x="135437" y="4164"/>
                      <a:pt x="128046" y="0"/>
                      <a:pt x="120076" y="0"/>
                    </a:cubicBezTo>
                    <a:cubicBezTo>
                      <a:pt x="112106" y="0"/>
                      <a:pt x="104715" y="4164"/>
                      <a:pt x="100585" y="10980"/>
                    </a:cubicBezTo>
                  </a:path>
                </a:pathLst>
              </a:custGeom>
              <a:noFill/>
              <a:ln w="23812">
                <a:solidFill>
                  <a:schemeClr val="accent2"/>
                </a:solidFill>
              </a:ln>
            </p:spPr>
          </p:sp>
          <p:sp>
            <p:nvSpPr>
              <p:cNvPr id="9" name="Freeform 9"/>
              <p:cNvSpPr/>
              <p:nvPr/>
            </p:nvSpPr>
            <p:spPr>
              <a:xfrm>
                <a:off x="828675" y="2152650"/>
                <a:ext cx="9525" cy="9525"/>
              </a:xfrm>
              <a:custGeom>
                <a:avLst/>
                <a:gdLst/>
                <a:ahLst/>
                <a:cxnLst/>
                <a:rect l="l" t="t" r="r" b="b"/>
                <a:pathLst>
                  <a:path w="9525" h="9525">
                    <a:moveTo>
                      <a:pt x="0" y="0"/>
                    </a:moveTo>
                    <a:lnTo>
                      <a:pt x="119" y="0"/>
                    </a:lnTo>
                  </a:path>
                </a:pathLst>
              </a:custGeom>
              <a:noFill/>
              <a:ln w="23812">
                <a:solidFill>
                  <a:schemeClr val="accent2"/>
                </a:solidFill>
              </a:ln>
            </p:spPr>
          </p:sp>
        </p:grpSp>
        <p:sp>
          <p:nvSpPr>
            <p:cNvPr id="11" name="TextBox 11"/>
            <p:cNvSpPr txBox="1"/>
            <p:nvPr/>
          </p:nvSpPr>
          <p:spPr>
            <a:xfrm>
              <a:off x="1095756" y="1996440"/>
              <a:ext cx="2346339"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偏差一 · 采用率偏高</a:t>
              </a:r>
            </a:p>
          </p:txBody>
        </p:sp>
        <p:sp>
          <p:nvSpPr>
            <p:cNvPr id="12" name="TextBox 12"/>
            <p:cNvSpPr txBox="1"/>
            <p:nvPr/>
          </p:nvSpPr>
          <p:spPr>
            <a:xfrm>
              <a:off x="678942" y="2578418"/>
              <a:ext cx="395364"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偏差</a:t>
              </a:r>
            </a:p>
          </p:txBody>
        </p:sp>
        <p:sp>
          <p:nvSpPr>
            <p:cNvPr id="13" name="TextBox 13"/>
            <p:cNvSpPr txBox="1"/>
            <p:nvPr/>
          </p:nvSpPr>
          <p:spPr>
            <a:xfrm>
              <a:off x="1250442" y="2578418"/>
              <a:ext cx="178565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模型 10%，真实约 7%</a:t>
              </a:r>
            </a:p>
          </p:txBody>
        </p:sp>
        <p:sp>
          <p:nvSpPr>
            <p:cNvPr id="14" name="TextBox 14"/>
            <p:cNvSpPr txBox="1"/>
            <p:nvPr/>
          </p:nvSpPr>
          <p:spPr>
            <a:xfrm>
              <a:off x="678942" y="3207068"/>
              <a:ext cx="395364"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根因</a:t>
              </a:r>
            </a:p>
          </p:txBody>
        </p:sp>
        <p:sp>
          <p:nvSpPr>
            <p:cNvPr id="15" name="TextBox 15"/>
            <p:cNvSpPr txBox="1"/>
            <p:nvPr/>
          </p:nvSpPr>
          <p:spPr>
            <a:xfrm>
              <a:off x="1250442" y="3207068"/>
              <a:ext cx="3408426" cy="797433"/>
            </a:xfrm>
            <a:prstGeom prst="rect">
              <a:avLst/>
            </a:prstGeom>
            <a:noFill/>
            <a:ln>
              <a:noFill/>
            </a:ln>
          </p:spPr>
          <p:txBody>
            <a:bodyPr wrap="none" lIns="0" tIns="0" rIns="0" bIns="0" anchor="t" anchorCtr="0">
              <a:spAutoFit/>
            </a:bodyPr>
            <a:lstStyle/>
            <a:p>
              <a:pPr algn="l">
                <a:lnSpc>
                  <a:spcPts val="2100"/>
                </a:lnSpc>
              </a:pPr>
              <a:r>
                <a:rPr lang="zh-CN" sz="1350" dirty="0">
                  <a:solidFill>
                    <a:schemeClr val="dk1"/>
                  </a:solidFill>
                  <a:latin typeface="+mn-lt"/>
                  <a:ea typeface="+mn-ea"/>
                  <a:cs typeface="+mn-cs"/>
                </a:rPr>
                <a:t>邻居半径用 10 km（论文为 1 km），</a:t>
              </a:r>
              <a:br/>
              <a:r>
                <a:rPr lang="zh-CN" sz="1350" dirty="0">
                  <a:solidFill>
                    <a:schemeClr val="dk1"/>
                  </a:solidFill>
                  <a:latin typeface="+mn-lt"/>
                  <a:ea typeface="+mn-ea"/>
                  <a:cs typeface="+mn-cs"/>
                </a:rPr>
                <a:t>是为 500 主体缩比做的补偿；1 km 下</a:t>
              </a:r>
              <a:br/>
              <a:r>
                <a:rPr lang="zh-CN" sz="1350" dirty="0">
                  <a:solidFill>
                    <a:schemeClr val="dk1"/>
                  </a:solidFill>
                  <a:latin typeface="+mn-lt"/>
                  <a:ea typeface="+mn-ea"/>
                  <a:cs typeface="+mn-cs"/>
                </a:rPr>
                <a:t>平均只有 0.16 个邻居，社会影响无法启动。</a:t>
              </a:r>
            </a:p>
          </p:txBody>
        </p:sp>
        <p:sp>
          <p:nvSpPr>
            <p:cNvPr id="16" name="TextBox 16"/>
            <p:cNvSpPr txBox="1"/>
            <p:nvPr/>
          </p:nvSpPr>
          <p:spPr>
            <a:xfrm>
              <a:off x="678942" y="4616768"/>
              <a:ext cx="395364"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修法</a:t>
              </a:r>
            </a:p>
          </p:txBody>
        </p:sp>
        <p:sp>
          <p:nvSpPr>
            <p:cNvPr id="17" name="TextBox 17"/>
            <p:cNvSpPr txBox="1"/>
            <p:nvPr/>
          </p:nvSpPr>
          <p:spPr>
            <a:xfrm>
              <a:off x="1250442" y="4616768"/>
              <a:ext cx="2439734" cy="530733"/>
            </a:xfrm>
            <a:prstGeom prst="rect">
              <a:avLst/>
            </a:prstGeom>
            <a:noFill/>
            <a:ln>
              <a:noFill/>
            </a:ln>
          </p:spPr>
          <p:txBody>
            <a:bodyPr wrap="none" lIns="0" tIns="0" rIns="0" bIns="0" anchor="t" anchorCtr="0">
              <a:spAutoFit/>
            </a:bodyPr>
            <a:lstStyle/>
            <a:p>
              <a:pPr algn="l">
                <a:lnSpc>
                  <a:spcPts val="2100"/>
                </a:lnSpc>
              </a:pPr>
              <a:r>
                <a:rPr lang="zh-CN" sz="1350" dirty="0">
                  <a:solidFill>
                    <a:schemeClr val="dk1"/>
                  </a:solidFill>
                  <a:latin typeface="+mn-lt"/>
                  <a:ea typeface="+mn-ea"/>
                  <a:cs typeface="+mn-cs"/>
                </a:rPr>
                <a:t>接入空间索引、主体扩到 2 万后</a:t>
              </a:r>
              <a:br/>
              <a:r>
                <a:rPr lang="zh-CN" sz="1350" dirty="0">
                  <a:solidFill>
                    <a:schemeClr val="dk1"/>
                  </a:solidFill>
                  <a:latin typeface="+mn-lt"/>
                  <a:ea typeface="+mn-ea"/>
                  <a:cs typeface="+mn-cs"/>
                </a:rPr>
                <a:t>改回 1 km 并重新标定。</a:t>
              </a:r>
            </a:p>
          </p:txBody>
        </p:sp>
      </p:grpSp>
      <p:sp>
        <p:nvSpPr>
          <p:cNvPr id="19" name="Line 19"/>
          <p:cNvSpPr/>
          <p:nvPr/>
        </p:nvSpPr>
        <p:spPr>
          <a:xfrm>
            <a:off x="6362700" y="2019300"/>
            <a:ext cx="9525" cy="3619500"/>
          </a:xfrm>
          <a:custGeom>
            <a:avLst/>
            <a:gdLst/>
            <a:ahLst/>
            <a:cxnLst/>
            <a:rect l="l" t="t" r="r" b="b"/>
            <a:pathLst>
              <a:path w="9525" h="3619500">
                <a:moveTo>
                  <a:pt x="0" y="0"/>
                </a:moveTo>
                <a:lnTo>
                  <a:pt x="0" y="3619500"/>
                </a:lnTo>
              </a:path>
            </a:pathLst>
          </a:custGeom>
          <a:noFill/>
          <a:ln w="9525">
            <a:solidFill>
              <a:schemeClr val="accent1">
                <a:alpha val="22000"/>
              </a:schemeClr>
            </a:solidFill>
          </a:ln>
        </p:spPr>
      </p:sp>
      <p:grpSp>
        <p:nvGrpSpPr>
          <p:cNvPr id="31" name="Group 31"/>
          <p:cNvGrpSpPr/>
          <p:nvPr/>
        </p:nvGrpSpPr>
        <p:grpSpPr>
          <a:xfrm>
            <a:off x="6698742" y="1993913"/>
            <a:ext cx="3523183" cy="3153588"/>
            <a:chOff x="6698742" y="1993913"/>
            <a:chExt cx="3523183" cy="3153588"/>
          </a:xfrm>
        </p:grpSpPr>
        <p:grpSp>
          <p:nvGrpSpPr>
            <p:cNvPr id="23" name="Group 23"/>
            <p:cNvGrpSpPr/>
            <p:nvPr/>
          </p:nvGrpSpPr>
          <p:grpSpPr>
            <a:xfrm>
              <a:off x="6728399" y="1993913"/>
              <a:ext cx="240143" cy="206314"/>
              <a:chOff x="6728399" y="1993913"/>
              <a:chExt cx="240143" cy="206314"/>
            </a:xfrm>
          </p:grpSpPr>
          <p:sp>
            <p:nvSpPr>
              <p:cNvPr id="20" name="Freeform 20"/>
              <p:cNvSpPr/>
              <p:nvPr/>
            </p:nvSpPr>
            <p:spPr>
              <a:xfrm>
                <a:off x="6848475" y="2069306"/>
                <a:ext cx="9525" cy="47625"/>
              </a:xfrm>
              <a:custGeom>
                <a:avLst/>
                <a:gdLst/>
                <a:ahLst/>
                <a:cxnLst/>
                <a:rect l="l" t="t" r="r" b="b"/>
                <a:pathLst>
                  <a:path w="9525" h="47625">
                    <a:moveTo>
                      <a:pt x="0" y="0"/>
                    </a:moveTo>
                    <a:lnTo>
                      <a:pt x="0" y="47625"/>
                    </a:lnTo>
                  </a:path>
                </a:pathLst>
              </a:custGeom>
              <a:noFill/>
              <a:ln w="23812">
                <a:solidFill>
                  <a:schemeClr val="accent2"/>
                </a:solidFill>
              </a:ln>
            </p:spPr>
          </p:sp>
          <p:sp>
            <p:nvSpPr>
              <p:cNvPr id="21" name="Freeform 21"/>
              <p:cNvSpPr/>
              <p:nvPr/>
            </p:nvSpPr>
            <p:spPr>
              <a:xfrm>
                <a:off x="6728399" y="1993913"/>
                <a:ext cx="240143" cy="206314"/>
              </a:xfrm>
              <a:custGeom>
                <a:avLst/>
                <a:gdLst/>
                <a:ahLst/>
                <a:cxnLst/>
                <a:rect l="l" t="t" r="r" b="b"/>
                <a:pathLst>
                  <a:path w="240143" h="206314">
                    <a:moveTo>
                      <a:pt x="100585" y="10992"/>
                    </a:moveTo>
                    <a:lnTo>
                      <a:pt x="4073" y="172131"/>
                    </a:lnTo>
                    <a:cubicBezTo>
                      <a:pt x="25" y="179142"/>
                      <a:pt x="0" y="187775"/>
                      <a:pt x="4008" y="194810"/>
                    </a:cubicBezTo>
                    <a:cubicBezTo>
                      <a:pt x="8017" y="201844"/>
                      <a:pt x="15456" y="206223"/>
                      <a:pt x="23552" y="206314"/>
                    </a:cubicBezTo>
                    <a:lnTo>
                      <a:pt x="216600" y="206314"/>
                    </a:lnTo>
                    <a:cubicBezTo>
                      <a:pt x="224692" y="206221"/>
                      <a:pt x="232127" y="201843"/>
                      <a:pt x="236135" y="194813"/>
                    </a:cubicBezTo>
                    <a:cubicBezTo>
                      <a:pt x="240143" y="187782"/>
                      <a:pt x="240121" y="179154"/>
                      <a:pt x="236078" y="172143"/>
                    </a:cubicBezTo>
                    <a:lnTo>
                      <a:pt x="139566" y="10980"/>
                    </a:lnTo>
                    <a:cubicBezTo>
                      <a:pt x="135437" y="4164"/>
                      <a:pt x="128046" y="0"/>
                      <a:pt x="120076" y="0"/>
                    </a:cubicBezTo>
                    <a:cubicBezTo>
                      <a:pt x="112106" y="0"/>
                      <a:pt x="104715" y="4164"/>
                      <a:pt x="100585" y="10980"/>
                    </a:cubicBezTo>
                  </a:path>
                </a:pathLst>
              </a:custGeom>
              <a:noFill/>
              <a:ln w="23812">
                <a:solidFill>
                  <a:schemeClr val="accent2"/>
                </a:solidFill>
              </a:ln>
            </p:spPr>
          </p:sp>
          <p:sp>
            <p:nvSpPr>
              <p:cNvPr id="22" name="Freeform 22"/>
              <p:cNvSpPr/>
              <p:nvPr/>
            </p:nvSpPr>
            <p:spPr>
              <a:xfrm>
                <a:off x="6848475" y="2152650"/>
                <a:ext cx="9525" cy="9525"/>
              </a:xfrm>
              <a:custGeom>
                <a:avLst/>
                <a:gdLst/>
                <a:ahLst/>
                <a:cxnLst/>
                <a:rect l="l" t="t" r="r" b="b"/>
                <a:pathLst>
                  <a:path w="9525" h="9525">
                    <a:moveTo>
                      <a:pt x="0" y="0"/>
                    </a:moveTo>
                    <a:lnTo>
                      <a:pt x="119" y="0"/>
                    </a:lnTo>
                  </a:path>
                </a:pathLst>
              </a:custGeom>
              <a:noFill/>
              <a:ln w="23812">
                <a:solidFill>
                  <a:schemeClr val="accent2"/>
                </a:solidFill>
              </a:ln>
            </p:spPr>
          </p:sp>
        </p:grpSp>
        <p:sp>
          <p:nvSpPr>
            <p:cNvPr id="24" name="TextBox 24"/>
            <p:cNvSpPr txBox="1"/>
            <p:nvPr/>
          </p:nvSpPr>
          <p:spPr>
            <a:xfrm>
              <a:off x="7115556" y="1996440"/>
              <a:ext cx="2600771"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偏差二 · 国外成本塌缩</a:t>
              </a:r>
            </a:p>
          </p:txBody>
        </p:sp>
        <p:sp>
          <p:nvSpPr>
            <p:cNvPr id="25" name="TextBox 25"/>
            <p:cNvSpPr txBox="1"/>
            <p:nvPr/>
          </p:nvSpPr>
          <p:spPr>
            <a:xfrm>
              <a:off x="6698742" y="2578418"/>
              <a:ext cx="395364"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偏差</a:t>
              </a:r>
            </a:p>
          </p:txBody>
        </p:sp>
        <p:sp>
          <p:nvSpPr>
            <p:cNvPr id="26" name="TextBox 26"/>
            <p:cNvSpPr txBox="1"/>
            <p:nvPr/>
          </p:nvSpPr>
          <p:spPr>
            <a:xfrm>
              <a:off x="7270242" y="2578418"/>
              <a:ext cx="2951683"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模型 0.084 €/W，真实约 0.3 €/W</a:t>
              </a:r>
            </a:p>
          </p:txBody>
        </p:sp>
        <p:sp>
          <p:nvSpPr>
            <p:cNvPr id="27" name="TextBox 27"/>
            <p:cNvSpPr txBox="1"/>
            <p:nvPr/>
          </p:nvSpPr>
          <p:spPr>
            <a:xfrm>
              <a:off x="6698742" y="3207068"/>
              <a:ext cx="395364"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根因</a:t>
              </a:r>
            </a:p>
          </p:txBody>
        </p:sp>
        <p:sp>
          <p:nvSpPr>
            <p:cNvPr id="28" name="TextBox 28"/>
            <p:cNvSpPr txBox="1"/>
            <p:nvPr/>
          </p:nvSpPr>
          <p:spPr>
            <a:xfrm>
              <a:off x="7270242" y="3207068"/>
              <a:ext cx="2945511" cy="797433"/>
            </a:xfrm>
            <a:prstGeom prst="rect">
              <a:avLst/>
            </a:prstGeom>
            <a:noFill/>
            <a:ln>
              <a:noFill/>
            </a:ln>
          </p:spPr>
          <p:txBody>
            <a:bodyPr wrap="none" lIns="0" tIns="0" rIns="0" bIns="0" anchor="t" anchorCtr="0">
              <a:spAutoFit/>
            </a:bodyPr>
            <a:lstStyle/>
            <a:p>
              <a:pPr algn="l">
                <a:lnSpc>
                  <a:spcPts val="2100"/>
                </a:lnSpc>
              </a:pPr>
              <a:r>
                <a:rPr lang="zh-CN" sz="1350" dirty="0">
                  <a:solidFill>
                    <a:schemeClr val="dk1"/>
                  </a:solidFill>
                  <a:latin typeface="+mn-lt"/>
                  <a:ea typeface="+mn-ea"/>
                  <a:cs typeface="+mn-cs"/>
                </a:rPr>
                <a:t>学习驱动量用"全球累计装机"替代论文</a:t>
              </a:r>
              <a:br/>
              <a:r>
                <a:rPr lang="zh-CN" sz="1350" dirty="0">
                  <a:solidFill>
                    <a:schemeClr val="dk1"/>
                  </a:solidFill>
                  <a:latin typeface="+mn-lt"/>
                  <a:ea typeface="+mn-ea"/>
                  <a:cs typeface="+mn-cs"/>
                </a:rPr>
                <a:t>要求的"本区域累计产量"，且合成量级</a:t>
              </a:r>
              <a:br/>
              <a:r>
                <a:rPr lang="zh-CN" sz="1350" dirty="0">
                  <a:solidFill>
                    <a:schemeClr val="dk1"/>
                  </a:solidFill>
                  <a:latin typeface="+mn-lt"/>
                  <a:ea typeface="+mn-ea"/>
                  <a:cs typeface="+mn-cs"/>
                </a:rPr>
                <a:t>膨胀约 10 倍，被 β = −0.448 放大。</a:t>
              </a:r>
            </a:p>
          </p:txBody>
        </p:sp>
        <p:sp>
          <p:nvSpPr>
            <p:cNvPr id="29" name="TextBox 29"/>
            <p:cNvSpPr txBox="1"/>
            <p:nvPr/>
          </p:nvSpPr>
          <p:spPr>
            <a:xfrm>
              <a:off x="6698742" y="4616768"/>
              <a:ext cx="395364"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修法</a:t>
              </a:r>
            </a:p>
          </p:txBody>
        </p:sp>
        <p:sp>
          <p:nvSpPr>
            <p:cNvPr id="30" name="TextBox 30"/>
            <p:cNvSpPr txBox="1"/>
            <p:nvPr/>
          </p:nvSpPr>
          <p:spPr>
            <a:xfrm>
              <a:off x="7270242" y="4616768"/>
              <a:ext cx="2585466" cy="530733"/>
            </a:xfrm>
            <a:prstGeom prst="rect">
              <a:avLst/>
            </a:prstGeom>
            <a:noFill/>
            <a:ln>
              <a:noFill/>
            </a:ln>
          </p:spPr>
          <p:txBody>
            <a:bodyPr wrap="none" lIns="0" tIns="0" rIns="0" bIns="0" anchor="t" anchorCtr="0">
              <a:spAutoFit/>
            </a:bodyPr>
            <a:lstStyle/>
            <a:p>
              <a:pPr algn="l">
                <a:lnSpc>
                  <a:spcPts val="2100"/>
                </a:lnSpc>
              </a:pPr>
              <a:r>
                <a:rPr lang="zh-CN" sz="1350" dirty="0">
                  <a:solidFill>
                    <a:schemeClr val="dk1"/>
                  </a:solidFill>
                  <a:latin typeface="+mn-lt"/>
                  <a:ea typeface="+mn-ea"/>
                  <a:cs typeface="+mn-cs"/>
                </a:rPr>
                <a:t>修正全球装机量级，并为国外厂商</a:t>
              </a:r>
              <a:br/>
              <a:r>
                <a:rPr lang="zh-CN" sz="1350" dirty="0">
                  <a:solidFill>
                    <a:schemeClr val="dk1"/>
                  </a:solidFill>
                  <a:latin typeface="+mn-lt"/>
                  <a:ea typeface="+mn-ea"/>
                  <a:cs typeface="+mn-cs"/>
                </a:rPr>
                <a:t>引入外生区域产量序列。</a:t>
              </a:r>
            </a:p>
          </p:txBody>
        </p:sp>
      </p:grpSp>
      <p:grpSp>
        <p:nvGrpSpPr>
          <p:cNvPr id="33" name="Group 33"/>
          <p:cNvGrpSpPr/>
          <p:nvPr/>
        </p:nvGrpSpPr>
        <p:grpSpPr>
          <a:xfrm>
            <a:off x="679704" y="5871210"/>
            <a:ext cx="7829702" cy="234696"/>
            <a:chOff x="679704" y="5871210"/>
            <a:chExt cx="7829702" cy="234696"/>
          </a:xfrm>
        </p:grpSpPr>
        <p:sp>
          <p:nvSpPr>
            <p:cNvPr id="32" name="TextBox 32"/>
            <p:cNvSpPr txBox="1"/>
            <p:nvPr/>
          </p:nvSpPr>
          <p:spPr>
            <a:xfrm>
              <a:off x="679704" y="5871210"/>
              <a:ext cx="7829702" cy="234696"/>
            </a:xfrm>
            <a:prstGeom prst="rect">
              <a:avLst/>
            </a:prstGeom>
            <a:noFill/>
            <a:ln>
              <a:noFill/>
            </a:ln>
          </p:spPr>
          <p:txBody>
            <a:bodyPr wrap="none" lIns="0" tIns="0" rIns="0" bIns="0" anchor="t" anchorCtr="0">
              <a:spAutoFit/>
            </a:bodyPr>
            <a:lstStyle/>
            <a:p>
              <a:pPr algn="l"/>
              <a:r>
                <a:rPr lang="zh-CN" sz="1200" dirty="0">
                  <a:solidFill>
                    <a:schemeClr val="dk1">
                      <a:alphaMod val="85000"/>
                    </a:schemeClr>
                  </a:solidFill>
                  <a:latin typeface="+mn-lt"/>
                  <a:ea typeface="+mn-ea"/>
                  <a:cs typeface="+mn-cs"/>
                </a:rPr>
                <a:t>字面改回"自产累计产量"会反向失真（国外 2.24、国内 0.761 €/W）；取舍分析见测试记录第十三轮。</a:t>
              </a:r>
            </a:p>
          </p:txBody>
        </p:sp>
      </p:grpSp>
      <p:grpSp>
        <p:nvGrpSpPr>
          <p:cNvPr id="37" name="Group 37"/>
          <p:cNvGrpSpPr/>
          <p:nvPr/>
        </p:nvGrpSpPr>
        <p:grpSpPr>
          <a:xfrm>
            <a:off x="679704" y="6286500"/>
            <a:ext cx="10832592" cy="390906"/>
            <a:chOff x="679704" y="6286500"/>
            <a:chExt cx="10832592" cy="390906"/>
          </a:xfrm>
        </p:grpSpPr>
        <p:sp>
          <p:nvSpPr>
            <p:cNvPr id="34" name="Line 34"/>
            <p:cNvSpPr/>
            <p:nvPr/>
          </p:nvSpPr>
          <p:spPr>
            <a:xfrm>
              <a:off x="685800" y="6286500"/>
              <a:ext cx="10820400" cy="9525"/>
            </a:xfrm>
            <a:custGeom>
              <a:avLst/>
              <a:gdLst/>
              <a:ahLst/>
              <a:cxnLst/>
              <a:rect l="l" t="t" r="r" b="b"/>
              <a:pathLst>
                <a:path w="10820400" h="9525">
                  <a:moveTo>
                    <a:pt x="0" y="0"/>
                  </a:moveTo>
                  <a:lnTo>
                    <a:pt x="10820400" y="0"/>
                  </a:lnTo>
                </a:path>
              </a:pathLst>
            </a:custGeom>
            <a:noFill/>
            <a:ln w="9525">
              <a:solidFill>
                <a:schemeClr val="accent1">
                  <a:alpha val="30000"/>
                </a:schemeClr>
              </a:solidFill>
            </a:ln>
          </p:spPr>
        </p:sp>
        <p:sp>
          <p:nvSpPr>
            <p:cNvPr id="35" name="TextBox 35"/>
            <p:cNvSpPr txBox="1"/>
            <p:nvPr/>
          </p:nvSpPr>
          <p:spPr>
            <a:xfrm>
              <a:off x="679704" y="6442710"/>
              <a:ext cx="3404616" cy="234696"/>
            </a:xfrm>
            <a:prstGeom prst="rect">
              <a:avLst/>
            </a:prstGeom>
            <a:noFill/>
            <a:ln>
              <a:noFill/>
            </a:ln>
          </p:spPr>
          <p:txBody>
            <a:bodyPr wrap="none" lIns="0" tIns="0" rIns="0" bIns="0" anchor="t" anchorCtr="0">
              <a:spAutoFit/>
            </a:bodyPr>
            <a:lstStyle/>
            <a:p>
              <a:pPr algn="l"/>
              <a:r>
                <a:rPr lang="zh-CN" sz="1200" dirty="0">
                  <a:solidFill>
                    <a:schemeClr val="dk1">
                      <a:alphaMod val="72000"/>
                    </a:schemeClr>
                  </a:solidFill>
                  <a:latin typeface="+mn-lt"/>
                  <a:ea typeface="+mn-ea"/>
                  <a:cs typeface="+mn-cs"/>
                </a:rPr>
                <a:t>两处偏差均为已知且已定位，不是未发现的问题</a:t>
              </a:r>
            </a:p>
          </p:txBody>
        </p:sp>
        <p:sp>
          <p:nvSpPr>
            <p:cNvPr id="36" name="TextBox 36"/>
            <p:cNvSpPr txBox="1"/>
            <p:nvPr/>
          </p:nvSpPr>
          <p:spPr>
            <a:xfrm>
              <a:off x="10958932" y="6442710"/>
              <a:ext cx="553364" cy="234696"/>
            </a:xfrm>
            <a:prstGeom prst="rect">
              <a:avLst/>
            </a:prstGeom>
            <a:noFill/>
            <a:ln>
              <a:noFill/>
            </a:ln>
          </p:spPr>
          <p:txBody>
            <a:bodyPr wrap="none" lIns="0" tIns="0" rIns="0" bIns="0" anchor="t" anchorCtr="0">
              <a:spAutoFit/>
            </a:bodyPr>
            <a:lstStyle/>
            <a:p>
              <a:pPr algn="r"/>
              <a:r>
                <a:rPr lang="zh-CN" sz="1200" dirty="0">
                  <a:solidFill>
                    <a:schemeClr val="dk1">
                      <a:alphaMod val="72000"/>
                    </a:schemeClr>
                  </a:solidFill>
                  <a:latin typeface="+mn-lt"/>
                  <a:ea typeface="+mn-ea"/>
                  <a:cs typeface="+mn-cs"/>
                </a:rPr>
                <a:t>12 / 14</a:t>
              </a:r>
            </a:p>
          </p:txBody>
        </p:sp>
      </p:gr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669798" y="552450"/>
            <a:ext cx="10836402" cy="1076135"/>
            <a:chOff x="669798" y="552450"/>
            <a:chExt cx="10836402" cy="1076135"/>
          </a:xfrm>
        </p:grpSpPr>
        <p:sp>
          <p:nvSpPr>
            <p:cNvPr id="2" name="Rectangle 2"/>
            <p:cNvSpPr/>
            <p:nvPr/>
          </p:nvSpPr>
          <p:spPr>
            <a:xfrm>
              <a:off x="685800" y="552450"/>
              <a:ext cx="533400" cy="38100"/>
            </a:xfrm>
            <a:prstGeom prst="rect">
              <a:avLst/>
            </a:prstGeom>
            <a:solidFill>
              <a:schemeClr val="accent2"/>
            </a:solidFill>
            <a:ln>
              <a:noFill/>
            </a:ln>
          </p:spPr>
        </p:sp>
        <p:sp>
          <p:nvSpPr>
            <p:cNvPr id="3" name="TextBox 3"/>
            <p:cNvSpPr txBox="1"/>
            <p:nvPr/>
          </p:nvSpPr>
          <p:spPr>
            <a:xfrm>
              <a:off x="678942" y="768668"/>
              <a:ext cx="2548433" cy="264033"/>
            </a:xfrm>
            <a:prstGeom prst="rect">
              <a:avLst/>
            </a:prstGeom>
            <a:noFill/>
            <a:ln>
              <a:noFill/>
            </a:ln>
          </p:spPr>
          <p:txBody>
            <a:bodyPr wrap="none" lIns="0" tIns="0" rIns="0" bIns="0" anchor="t" anchorCtr="0">
              <a:spAutoFit/>
            </a:bodyPr>
            <a:lstStyle/>
            <a:p>
              <a:pPr algn="l"/>
              <a:r>
                <a:rPr lang="zh-CN" sz="1350" dirty="0">
                  <a:solidFill>
                    <a:schemeClr val="accent1">
                      <a:alphaMod val="78000"/>
                    </a:schemeClr>
                  </a:solidFill>
                  <a:latin typeface="+mn-lt"/>
                  <a:ea typeface="+mn-ea"/>
                  <a:cs typeface="+mn-cs"/>
                </a:rPr>
                <a:t>PART 5 · 偏差、进度与下一步</a:t>
              </a:r>
            </a:p>
          </p:txBody>
        </p:sp>
        <p:sp>
          <p:nvSpPr>
            <p:cNvPr id="4" name="TextBox 4"/>
            <p:cNvSpPr txBox="1"/>
            <p:nvPr/>
          </p:nvSpPr>
          <p:spPr>
            <a:xfrm>
              <a:off x="669798" y="1012508"/>
              <a:ext cx="5953904"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主线一到 95%，主线二到 75%</a:t>
              </a:r>
            </a:p>
          </p:txBody>
        </p:sp>
        <p:sp>
          <p:nvSpPr>
            <p:cNvPr id="5" name="Line 5"/>
            <p:cNvSpPr/>
            <p:nvPr/>
          </p:nvSpPr>
          <p:spPr>
            <a:xfrm>
              <a:off x="685800" y="1600200"/>
              <a:ext cx="10820400" cy="9525"/>
            </a:xfrm>
            <a:custGeom>
              <a:avLst/>
              <a:gdLst/>
              <a:ahLst/>
              <a:cxnLst/>
              <a:rect l="l" t="t" r="r" b="b"/>
              <a:pathLst>
                <a:path w="10820400" h="9525">
                  <a:moveTo>
                    <a:pt x="0" y="0"/>
                  </a:moveTo>
                  <a:lnTo>
                    <a:pt x="10820400" y="0"/>
                  </a:lnTo>
                </a:path>
              </a:pathLst>
            </a:custGeom>
            <a:noFill/>
            <a:ln w="9525">
              <a:solidFill>
                <a:schemeClr val="accent1">
                  <a:alpha val="22000"/>
                </a:schemeClr>
              </a:solidFill>
            </a:ln>
          </p:spPr>
        </p:sp>
      </p:grpSp>
      <p:grpSp>
        <p:nvGrpSpPr>
          <p:cNvPr id="18" name="Group 18"/>
          <p:cNvGrpSpPr/>
          <p:nvPr/>
        </p:nvGrpSpPr>
        <p:grpSpPr>
          <a:xfrm>
            <a:off x="676656" y="2141220"/>
            <a:ext cx="5443895" cy="3196781"/>
            <a:chOff x="676656" y="2141220"/>
            <a:chExt cx="5443895" cy="3196781"/>
          </a:xfrm>
        </p:grpSpPr>
        <p:sp>
          <p:nvSpPr>
            <p:cNvPr id="7" name="TextBox 7"/>
            <p:cNvSpPr txBox="1"/>
            <p:nvPr/>
          </p:nvSpPr>
          <p:spPr>
            <a:xfrm>
              <a:off x="676656" y="2205990"/>
              <a:ext cx="2091907"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主线一 · 模型复现</a:t>
              </a:r>
            </a:p>
          </p:txBody>
        </p:sp>
        <p:sp>
          <p:nvSpPr>
            <p:cNvPr id="8" name="TextBox 8"/>
            <p:cNvSpPr txBox="1"/>
            <p:nvPr/>
          </p:nvSpPr>
          <p:spPr>
            <a:xfrm>
              <a:off x="4977354" y="2141220"/>
              <a:ext cx="940338" cy="469392"/>
            </a:xfrm>
            <a:prstGeom prst="rect">
              <a:avLst/>
            </a:prstGeom>
            <a:noFill/>
            <a:ln>
              <a:noFill/>
            </a:ln>
          </p:spPr>
          <p:txBody>
            <a:bodyPr wrap="none" lIns="0" tIns="0" rIns="0" bIns="0" anchor="t" anchorCtr="0">
              <a:spAutoFit/>
            </a:bodyPr>
            <a:lstStyle/>
            <a:p>
              <a:pPr algn="r"/>
              <a:r>
                <a:rPr lang="zh-CN" sz="2400" b="1" dirty="0">
                  <a:solidFill>
                    <a:schemeClr val="accent2"/>
                  </a:solidFill>
                  <a:latin typeface="Consolas"/>
                  <a:ea typeface="Consolas"/>
                  <a:cs typeface="Consolas"/>
                </a:rPr>
                <a:t>≈ 95%</a:t>
              </a:r>
            </a:p>
          </p:txBody>
        </p:sp>
        <p:sp>
          <p:nvSpPr>
            <p:cNvPr id="9" name="Rectangle 9"/>
            <p:cNvSpPr/>
            <p:nvPr/>
          </p:nvSpPr>
          <p:spPr>
            <a:xfrm>
              <a:off x="685800" y="2647950"/>
              <a:ext cx="5219700" cy="114300"/>
            </a:xfrm>
            <a:prstGeom prst="rect">
              <a:avLst/>
            </a:prstGeom>
            <a:solidFill>
              <a:schemeClr val="lt2"/>
            </a:solidFill>
            <a:ln>
              <a:noFill/>
            </a:ln>
          </p:spPr>
        </p:sp>
        <p:sp>
          <p:nvSpPr>
            <p:cNvPr id="10" name="Rectangle 10"/>
            <p:cNvSpPr/>
            <p:nvPr/>
          </p:nvSpPr>
          <p:spPr>
            <a:xfrm>
              <a:off x="685800" y="2647950"/>
              <a:ext cx="4958715" cy="114300"/>
            </a:xfrm>
            <a:prstGeom prst="rect">
              <a:avLst/>
            </a:prstGeom>
            <a:solidFill>
              <a:schemeClr val="accent2"/>
            </a:solidFill>
            <a:ln>
              <a:noFill/>
            </a:ln>
          </p:spPr>
        </p:sp>
        <p:sp>
          <p:nvSpPr>
            <p:cNvPr id="11" name="TextBox 11"/>
            <p:cNvSpPr txBox="1"/>
            <p:nvPr/>
          </p:nvSpPr>
          <p:spPr>
            <a:xfrm>
              <a:off x="678942" y="2959418"/>
              <a:ext cx="3519868"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主体定义 · 五步调度 · 两阶段采用 · 经验曲线</a:t>
              </a:r>
              <a:br/>
              <a:r>
                <a:rPr lang="zh-CN" sz="1350" dirty="0">
                  <a:solidFill>
                    <a:schemeClr val="dk1"/>
                  </a:solidFill>
                  <a:latin typeface="+mn-lt"/>
                  <a:ea typeface="+mn-ea"/>
                  <a:cs typeface="+mn-cs"/>
                </a:rPr>
                <a:t>劳动力市场 · 宏观与历史数据 · 分析可视化</a:t>
              </a:r>
            </a:p>
          </p:txBody>
        </p:sp>
        <p:sp>
          <p:nvSpPr>
            <p:cNvPr id="12" name="TextBox 12"/>
            <p:cNvSpPr txBox="1"/>
            <p:nvPr/>
          </p:nvSpPr>
          <p:spPr>
            <a:xfrm>
              <a:off x="676656" y="3653790"/>
              <a:ext cx="2249607"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主线二 · LLM 增强</a:t>
              </a:r>
            </a:p>
          </p:txBody>
        </p:sp>
        <p:sp>
          <p:nvSpPr>
            <p:cNvPr id="13" name="TextBox 13"/>
            <p:cNvSpPr txBox="1"/>
            <p:nvPr/>
          </p:nvSpPr>
          <p:spPr>
            <a:xfrm>
              <a:off x="4977354" y="3589020"/>
              <a:ext cx="940338" cy="469392"/>
            </a:xfrm>
            <a:prstGeom prst="rect">
              <a:avLst/>
            </a:prstGeom>
            <a:noFill/>
            <a:ln>
              <a:noFill/>
            </a:ln>
          </p:spPr>
          <p:txBody>
            <a:bodyPr wrap="none" lIns="0" tIns="0" rIns="0" bIns="0" anchor="t" anchorCtr="0">
              <a:spAutoFit/>
            </a:bodyPr>
            <a:lstStyle/>
            <a:p>
              <a:pPr algn="r"/>
              <a:r>
                <a:rPr lang="zh-CN" sz="2400" b="1" dirty="0">
                  <a:solidFill>
                    <a:schemeClr val="accent3"/>
                  </a:solidFill>
                  <a:latin typeface="Consolas"/>
                  <a:ea typeface="Consolas"/>
                  <a:cs typeface="Consolas"/>
                </a:rPr>
                <a:t>≈ 75%</a:t>
              </a:r>
            </a:p>
          </p:txBody>
        </p:sp>
        <p:sp>
          <p:nvSpPr>
            <p:cNvPr id="14" name="Rectangle 14"/>
            <p:cNvSpPr/>
            <p:nvPr/>
          </p:nvSpPr>
          <p:spPr>
            <a:xfrm>
              <a:off x="685800" y="4095750"/>
              <a:ext cx="5219700" cy="114300"/>
            </a:xfrm>
            <a:prstGeom prst="rect">
              <a:avLst/>
            </a:prstGeom>
            <a:solidFill>
              <a:schemeClr val="lt2"/>
            </a:solidFill>
            <a:ln>
              <a:noFill/>
            </a:ln>
          </p:spPr>
        </p:sp>
        <p:sp>
          <p:nvSpPr>
            <p:cNvPr id="15" name="Rectangle 15"/>
            <p:cNvSpPr/>
            <p:nvPr/>
          </p:nvSpPr>
          <p:spPr>
            <a:xfrm>
              <a:off x="685800" y="4095750"/>
              <a:ext cx="3914775" cy="114300"/>
            </a:xfrm>
            <a:prstGeom prst="rect">
              <a:avLst/>
            </a:prstGeom>
            <a:solidFill>
              <a:schemeClr val="accent3"/>
            </a:solidFill>
            <a:ln>
              <a:noFill/>
            </a:ln>
          </p:spPr>
        </p:sp>
        <p:sp>
          <p:nvSpPr>
            <p:cNvPr id="16" name="TextBox 16"/>
            <p:cNvSpPr txBox="1"/>
            <p:nvPr/>
          </p:nvSpPr>
          <p:spPr>
            <a:xfrm>
              <a:off x="678942" y="4407218"/>
              <a:ext cx="5441609"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DeepSeek 接线 · 工具调用 · 对话记忆 · 并发 · 校验 · 确定性回退</a:t>
              </a:r>
            </a:p>
          </p:txBody>
        </p:sp>
        <p:sp>
          <p:nvSpPr>
            <p:cNvPr id="17" name="TextBox 17"/>
            <p:cNvSpPr txBox="1"/>
            <p:nvPr/>
          </p:nvSpPr>
          <p:spPr>
            <a:xfrm>
              <a:off x="678942" y="5073968"/>
              <a:ext cx="4843120" cy="264033"/>
            </a:xfrm>
            <a:prstGeom prst="rect">
              <a:avLst/>
            </a:prstGeom>
            <a:noFill/>
            <a:ln>
              <a:noFill/>
            </a:ln>
          </p:spPr>
          <p:txBody>
            <a:bodyPr wrap="none" lIns="0" tIns="0" rIns="0" bIns="0" anchor="t" anchorCtr="0">
              <a:spAutoFit/>
            </a:bodyPr>
            <a:lstStyle/>
            <a:p>
              <a:pPr algn="l"/>
              <a:r>
                <a:rPr lang="zh-CN" sz="1350" dirty="0">
                  <a:solidFill>
                    <a:schemeClr val="accent1"/>
                  </a:solidFill>
                  <a:latin typeface="+mn-lt"/>
                  <a:ea typeface="+mn-ea"/>
                  <a:cs typeface="+mn-cs"/>
                </a:rPr>
                <a:t>复现部分已可依赖；LLM 部分可用，但覆盖范围仍有限。</a:t>
              </a:r>
            </a:p>
          </p:txBody>
        </p:sp>
      </p:grpSp>
      <p:grpSp>
        <p:nvGrpSpPr>
          <p:cNvPr id="39" name="Group 39"/>
          <p:cNvGrpSpPr/>
          <p:nvPr/>
        </p:nvGrpSpPr>
        <p:grpSpPr>
          <a:xfrm>
            <a:off x="7077075" y="2200275"/>
            <a:ext cx="3882580" cy="2947226"/>
            <a:chOff x="7077075" y="2200275"/>
            <a:chExt cx="3882580" cy="2947226"/>
          </a:xfrm>
        </p:grpSpPr>
        <p:grpSp>
          <p:nvGrpSpPr>
            <p:cNvPr id="21" name="Group 21"/>
            <p:cNvGrpSpPr/>
            <p:nvPr/>
          </p:nvGrpSpPr>
          <p:grpSpPr>
            <a:xfrm>
              <a:off x="7077075" y="2200275"/>
              <a:ext cx="171450" cy="171450"/>
              <a:chOff x="7077075" y="2200275"/>
              <a:chExt cx="171450" cy="171450"/>
            </a:xfrm>
          </p:grpSpPr>
          <p:sp>
            <p:nvSpPr>
              <p:cNvPr id="19" name="Freeform 19"/>
              <p:cNvSpPr/>
              <p:nvPr/>
            </p:nvSpPr>
            <p:spPr>
              <a:xfrm>
                <a:off x="7077075" y="2200275"/>
                <a:ext cx="171450" cy="171450"/>
              </a:xfrm>
              <a:custGeom>
                <a:avLst/>
                <a:gdLst/>
                <a:ahLst/>
                <a:cxnLst/>
                <a:rect l="l" t="t" r="r" b="b"/>
                <a:pathLst>
                  <a:path w="171450" h="171450">
                    <a:moveTo>
                      <a:pt x="0" y="85725"/>
                    </a:moveTo>
                    <a:cubicBezTo>
                      <a:pt x="0" y="133070"/>
                      <a:pt x="38380" y="171450"/>
                      <a:pt x="85725" y="171450"/>
                    </a:cubicBezTo>
                    <a:cubicBezTo>
                      <a:pt x="133070" y="171450"/>
                      <a:pt x="171450" y="133070"/>
                      <a:pt x="171450" y="85725"/>
                    </a:cubicBezTo>
                    <a:cubicBezTo>
                      <a:pt x="171450" y="38380"/>
                      <a:pt x="133070" y="0"/>
                      <a:pt x="85725" y="0"/>
                    </a:cubicBezTo>
                    <a:cubicBezTo>
                      <a:pt x="38380" y="0"/>
                      <a:pt x="0" y="38380"/>
                      <a:pt x="0" y="85725"/>
                    </a:cubicBezTo>
                  </a:path>
                </a:pathLst>
              </a:custGeom>
              <a:noFill/>
              <a:ln w="19050">
                <a:solidFill>
                  <a:schemeClr val="accent3"/>
                </a:solidFill>
              </a:ln>
            </p:spPr>
          </p:sp>
          <p:sp>
            <p:nvSpPr>
              <p:cNvPr id="20" name="Freeform 20"/>
              <p:cNvSpPr/>
              <p:nvPr/>
            </p:nvSpPr>
            <p:spPr>
              <a:xfrm>
                <a:off x="7134225" y="2266950"/>
                <a:ext cx="57150" cy="38100"/>
              </a:xfrm>
              <a:custGeom>
                <a:avLst/>
                <a:gdLst/>
                <a:ahLst/>
                <a:cxnLst/>
                <a:rect l="l" t="t" r="r" b="b"/>
                <a:pathLst>
                  <a:path w="57150" h="38100">
                    <a:moveTo>
                      <a:pt x="0" y="19050"/>
                    </a:moveTo>
                    <a:lnTo>
                      <a:pt x="19050" y="38100"/>
                    </a:lnTo>
                    <a:lnTo>
                      <a:pt x="57150" y="0"/>
                    </a:lnTo>
                  </a:path>
                </a:pathLst>
              </a:custGeom>
              <a:noFill/>
              <a:ln w="19050">
                <a:solidFill>
                  <a:schemeClr val="accent3"/>
                </a:solidFill>
              </a:ln>
            </p:spPr>
          </p:sp>
        </p:grpSp>
        <p:sp>
          <p:nvSpPr>
            <p:cNvPr id="22" name="TextBox 22"/>
            <p:cNvSpPr txBox="1"/>
            <p:nvPr/>
          </p:nvSpPr>
          <p:spPr>
            <a:xfrm>
              <a:off x="7422642" y="2216468"/>
              <a:ext cx="2230907"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312 tick 公式模式完整跑通</a:t>
              </a:r>
            </a:p>
          </p:txBody>
        </p:sp>
        <p:grpSp>
          <p:nvGrpSpPr>
            <p:cNvPr id="25" name="Group 25"/>
            <p:cNvGrpSpPr/>
            <p:nvPr/>
          </p:nvGrpSpPr>
          <p:grpSpPr>
            <a:xfrm>
              <a:off x="7077075" y="2771775"/>
              <a:ext cx="171450" cy="171450"/>
              <a:chOff x="7077075" y="2771775"/>
              <a:chExt cx="171450" cy="171450"/>
            </a:xfrm>
          </p:grpSpPr>
          <p:sp>
            <p:nvSpPr>
              <p:cNvPr id="23" name="Freeform 23"/>
              <p:cNvSpPr/>
              <p:nvPr/>
            </p:nvSpPr>
            <p:spPr>
              <a:xfrm>
                <a:off x="7077075" y="2771775"/>
                <a:ext cx="171450" cy="171450"/>
              </a:xfrm>
              <a:custGeom>
                <a:avLst/>
                <a:gdLst/>
                <a:ahLst/>
                <a:cxnLst/>
                <a:rect l="l" t="t" r="r" b="b"/>
                <a:pathLst>
                  <a:path w="171450" h="171450">
                    <a:moveTo>
                      <a:pt x="0" y="85725"/>
                    </a:moveTo>
                    <a:cubicBezTo>
                      <a:pt x="0" y="133070"/>
                      <a:pt x="38380" y="171450"/>
                      <a:pt x="85725" y="171450"/>
                    </a:cubicBezTo>
                    <a:cubicBezTo>
                      <a:pt x="133070" y="171450"/>
                      <a:pt x="171450" y="133070"/>
                      <a:pt x="171450" y="85725"/>
                    </a:cubicBezTo>
                    <a:cubicBezTo>
                      <a:pt x="171450" y="38380"/>
                      <a:pt x="133070" y="0"/>
                      <a:pt x="85725" y="0"/>
                    </a:cubicBezTo>
                    <a:cubicBezTo>
                      <a:pt x="38380" y="0"/>
                      <a:pt x="0" y="38380"/>
                      <a:pt x="0" y="85725"/>
                    </a:cubicBezTo>
                  </a:path>
                </a:pathLst>
              </a:custGeom>
              <a:noFill/>
              <a:ln w="19050">
                <a:solidFill>
                  <a:schemeClr val="accent3"/>
                </a:solidFill>
              </a:ln>
            </p:spPr>
          </p:sp>
          <p:sp>
            <p:nvSpPr>
              <p:cNvPr id="24" name="Freeform 24"/>
              <p:cNvSpPr/>
              <p:nvPr/>
            </p:nvSpPr>
            <p:spPr>
              <a:xfrm>
                <a:off x="7134225" y="2838450"/>
                <a:ext cx="57150" cy="38100"/>
              </a:xfrm>
              <a:custGeom>
                <a:avLst/>
                <a:gdLst/>
                <a:ahLst/>
                <a:cxnLst/>
                <a:rect l="l" t="t" r="r" b="b"/>
                <a:pathLst>
                  <a:path w="57150" h="38100">
                    <a:moveTo>
                      <a:pt x="0" y="19050"/>
                    </a:moveTo>
                    <a:lnTo>
                      <a:pt x="19050" y="38100"/>
                    </a:lnTo>
                    <a:lnTo>
                      <a:pt x="57150" y="0"/>
                    </a:lnTo>
                  </a:path>
                </a:pathLst>
              </a:custGeom>
              <a:noFill/>
              <a:ln w="19050">
                <a:solidFill>
                  <a:schemeClr val="accent3"/>
                </a:solidFill>
              </a:ln>
            </p:spPr>
          </p:sp>
        </p:grpSp>
        <p:sp>
          <p:nvSpPr>
            <p:cNvPr id="26" name="TextBox 26"/>
            <p:cNvSpPr txBox="1"/>
            <p:nvPr/>
          </p:nvSpPr>
          <p:spPr>
            <a:xfrm>
              <a:off x="7422642" y="2787968"/>
              <a:ext cx="3039637"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93 个单元测试全部通过（约 0.8 秒）</a:t>
              </a:r>
            </a:p>
          </p:txBody>
        </p:sp>
        <p:grpSp>
          <p:nvGrpSpPr>
            <p:cNvPr id="29" name="Group 29"/>
            <p:cNvGrpSpPr/>
            <p:nvPr/>
          </p:nvGrpSpPr>
          <p:grpSpPr>
            <a:xfrm>
              <a:off x="7077075" y="3343275"/>
              <a:ext cx="171450" cy="171450"/>
              <a:chOff x="7077075" y="3343275"/>
              <a:chExt cx="171450" cy="171450"/>
            </a:xfrm>
          </p:grpSpPr>
          <p:sp>
            <p:nvSpPr>
              <p:cNvPr id="27" name="Freeform 27"/>
              <p:cNvSpPr/>
              <p:nvPr/>
            </p:nvSpPr>
            <p:spPr>
              <a:xfrm>
                <a:off x="7077075" y="3343275"/>
                <a:ext cx="171450" cy="171450"/>
              </a:xfrm>
              <a:custGeom>
                <a:avLst/>
                <a:gdLst/>
                <a:ahLst/>
                <a:cxnLst/>
                <a:rect l="l" t="t" r="r" b="b"/>
                <a:pathLst>
                  <a:path w="171450" h="171450">
                    <a:moveTo>
                      <a:pt x="0" y="85725"/>
                    </a:moveTo>
                    <a:cubicBezTo>
                      <a:pt x="0" y="133070"/>
                      <a:pt x="38380" y="171450"/>
                      <a:pt x="85725" y="171450"/>
                    </a:cubicBezTo>
                    <a:cubicBezTo>
                      <a:pt x="133070" y="171450"/>
                      <a:pt x="171450" y="133070"/>
                      <a:pt x="171450" y="85725"/>
                    </a:cubicBezTo>
                    <a:cubicBezTo>
                      <a:pt x="171450" y="38380"/>
                      <a:pt x="133070" y="0"/>
                      <a:pt x="85725" y="0"/>
                    </a:cubicBezTo>
                    <a:cubicBezTo>
                      <a:pt x="38380" y="0"/>
                      <a:pt x="0" y="38380"/>
                      <a:pt x="0" y="85725"/>
                    </a:cubicBezTo>
                  </a:path>
                </a:pathLst>
              </a:custGeom>
              <a:noFill/>
              <a:ln w="19050">
                <a:solidFill>
                  <a:schemeClr val="accent3"/>
                </a:solidFill>
              </a:ln>
            </p:spPr>
          </p:sp>
          <p:sp>
            <p:nvSpPr>
              <p:cNvPr id="28" name="Freeform 28"/>
              <p:cNvSpPr/>
              <p:nvPr/>
            </p:nvSpPr>
            <p:spPr>
              <a:xfrm>
                <a:off x="7134225" y="3409950"/>
                <a:ext cx="57150" cy="38100"/>
              </a:xfrm>
              <a:custGeom>
                <a:avLst/>
                <a:gdLst/>
                <a:ahLst/>
                <a:cxnLst/>
                <a:rect l="l" t="t" r="r" b="b"/>
                <a:pathLst>
                  <a:path w="57150" h="38100">
                    <a:moveTo>
                      <a:pt x="0" y="19050"/>
                    </a:moveTo>
                    <a:lnTo>
                      <a:pt x="19050" y="38100"/>
                    </a:lnTo>
                    <a:lnTo>
                      <a:pt x="57150" y="0"/>
                    </a:lnTo>
                  </a:path>
                </a:pathLst>
              </a:custGeom>
              <a:noFill/>
              <a:ln w="19050">
                <a:solidFill>
                  <a:schemeClr val="accent3"/>
                </a:solidFill>
              </a:ln>
            </p:spPr>
          </p:sp>
        </p:grpSp>
        <p:sp>
          <p:nvSpPr>
            <p:cNvPr id="30" name="TextBox 30"/>
            <p:cNvSpPr txBox="1"/>
            <p:nvPr/>
          </p:nvSpPr>
          <p:spPr>
            <a:xfrm>
              <a:off x="7422642" y="3359468"/>
              <a:ext cx="3537013"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DeepSeek 三项能力实测通过</a:t>
              </a:r>
              <a:br/>
              <a:r>
                <a:rPr lang="zh-CN" sz="1350" dirty="0">
                  <a:solidFill>
                    <a:schemeClr val="dk1"/>
                  </a:solidFill>
                  <a:latin typeface="+mn-lt"/>
                  <a:ea typeface="+mn-ea"/>
                  <a:cs typeface="+mn-cs"/>
                </a:rPr>
                <a:t>（基础对话 / JSON 输出 / function calling）</a:t>
              </a:r>
            </a:p>
          </p:txBody>
        </p:sp>
        <p:grpSp>
          <p:nvGrpSpPr>
            <p:cNvPr id="33" name="Group 33"/>
            <p:cNvGrpSpPr/>
            <p:nvPr/>
          </p:nvGrpSpPr>
          <p:grpSpPr>
            <a:xfrm>
              <a:off x="7077075" y="4105275"/>
              <a:ext cx="171450" cy="171450"/>
              <a:chOff x="7077075" y="4105275"/>
              <a:chExt cx="171450" cy="171450"/>
            </a:xfrm>
          </p:grpSpPr>
          <p:sp>
            <p:nvSpPr>
              <p:cNvPr id="31" name="Freeform 31"/>
              <p:cNvSpPr/>
              <p:nvPr/>
            </p:nvSpPr>
            <p:spPr>
              <a:xfrm>
                <a:off x="7077075" y="4105275"/>
                <a:ext cx="171450" cy="171450"/>
              </a:xfrm>
              <a:custGeom>
                <a:avLst/>
                <a:gdLst/>
                <a:ahLst/>
                <a:cxnLst/>
                <a:rect l="l" t="t" r="r" b="b"/>
                <a:pathLst>
                  <a:path w="171450" h="171450">
                    <a:moveTo>
                      <a:pt x="0" y="85725"/>
                    </a:moveTo>
                    <a:cubicBezTo>
                      <a:pt x="0" y="133070"/>
                      <a:pt x="38380" y="171450"/>
                      <a:pt x="85725" y="171450"/>
                    </a:cubicBezTo>
                    <a:cubicBezTo>
                      <a:pt x="133070" y="171450"/>
                      <a:pt x="171450" y="133070"/>
                      <a:pt x="171450" y="85725"/>
                    </a:cubicBezTo>
                    <a:cubicBezTo>
                      <a:pt x="171450" y="38380"/>
                      <a:pt x="133070" y="0"/>
                      <a:pt x="85725" y="0"/>
                    </a:cubicBezTo>
                    <a:cubicBezTo>
                      <a:pt x="38380" y="0"/>
                      <a:pt x="0" y="38380"/>
                      <a:pt x="0" y="85725"/>
                    </a:cubicBezTo>
                  </a:path>
                </a:pathLst>
              </a:custGeom>
              <a:noFill/>
              <a:ln w="19050">
                <a:solidFill>
                  <a:schemeClr val="accent3"/>
                </a:solidFill>
              </a:ln>
            </p:spPr>
          </p:sp>
          <p:sp>
            <p:nvSpPr>
              <p:cNvPr id="32" name="Freeform 32"/>
              <p:cNvSpPr/>
              <p:nvPr/>
            </p:nvSpPr>
            <p:spPr>
              <a:xfrm>
                <a:off x="7134225" y="4171950"/>
                <a:ext cx="57150" cy="38100"/>
              </a:xfrm>
              <a:custGeom>
                <a:avLst/>
                <a:gdLst/>
                <a:ahLst/>
                <a:cxnLst/>
                <a:rect l="l" t="t" r="r" b="b"/>
                <a:pathLst>
                  <a:path w="57150" h="38100">
                    <a:moveTo>
                      <a:pt x="0" y="19050"/>
                    </a:moveTo>
                    <a:lnTo>
                      <a:pt x="19050" y="38100"/>
                    </a:lnTo>
                    <a:lnTo>
                      <a:pt x="57150" y="0"/>
                    </a:lnTo>
                  </a:path>
                </a:pathLst>
              </a:custGeom>
              <a:noFill/>
              <a:ln w="19050">
                <a:solidFill>
                  <a:schemeClr val="accent3"/>
                </a:solidFill>
              </a:ln>
            </p:spPr>
          </p:sp>
        </p:grpSp>
        <p:sp>
          <p:nvSpPr>
            <p:cNvPr id="34" name="TextBox 34"/>
            <p:cNvSpPr txBox="1"/>
            <p:nvPr/>
          </p:nvSpPr>
          <p:spPr>
            <a:xfrm>
              <a:off x="7422642" y="4121468"/>
              <a:ext cx="1582483"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LLM 回退缺陷已修复</a:t>
              </a:r>
              <a:br/>
              <a:r>
                <a:rPr lang="zh-CN" sz="1350" dirty="0">
                  <a:solidFill>
                    <a:schemeClr val="dk1"/>
                  </a:solidFill>
                  <a:latin typeface="+mn-lt"/>
                  <a:ea typeface="+mn-ea"/>
                  <a:cs typeface="+mn-cs"/>
                </a:rPr>
                <a:t>冒烟测试确认 0 回退</a:t>
              </a:r>
            </a:p>
          </p:txBody>
        </p:sp>
        <p:grpSp>
          <p:nvGrpSpPr>
            <p:cNvPr id="37" name="Group 37"/>
            <p:cNvGrpSpPr/>
            <p:nvPr/>
          </p:nvGrpSpPr>
          <p:grpSpPr>
            <a:xfrm>
              <a:off x="7077075" y="4867275"/>
              <a:ext cx="171450" cy="171450"/>
              <a:chOff x="7077075" y="4867275"/>
              <a:chExt cx="171450" cy="171450"/>
            </a:xfrm>
          </p:grpSpPr>
          <p:sp>
            <p:nvSpPr>
              <p:cNvPr id="35" name="Freeform 35"/>
              <p:cNvSpPr/>
              <p:nvPr/>
            </p:nvSpPr>
            <p:spPr>
              <a:xfrm>
                <a:off x="7077075" y="4867275"/>
                <a:ext cx="171450" cy="171450"/>
              </a:xfrm>
              <a:custGeom>
                <a:avLst/>
                <a:gdLst/>
                <a:ahLst/>
                <a:cxnLst/>
                <a:rect l="l" t="t" r="r" b="b"/>
                <a:pathLst>
                  <a:path w="171450" h="171450">
                    <a:moveTo>
                      <a:pt x="0" y="85725"/>
                    </a:moveTo>
                    <a:cubicBezTo>
                      <a:pt x="0" y="133070"/>
                      <a:pt x="38380" y="171450"/>
                      <a:pt x="85725" y="171450"/>
                    </a:cubicBezTo>
                    <a:cubicBezTo>
                      <a:pt x="133070" y="171450"/>
                      <a:pt x="171450" y="133070"/>
                      <a:pt x="171450" y="85725"/>
                    </a:cubicBezTo>
                    <a:cubicBezTo>
                      <a:pt x="171450" y="38380"/>
                      <a:pt x="133070" y="0"/>
                      <a:pt x="85725" y="0"/>
                    </a:cubicBezTo>
                    <a:cubicBezTo>
                      <a:pt x="38380" y="0"/>
                      <a:pt x="0" y="38380"/>
                      <a:pt x="0" y="85725"/>
                    </a:cubicBezTo>
                  </a:path>
                </a:pathLst>
              </a:custGeom>
              <a:noFill/>
              <a:ln w="19050">
                <a:solidFill>
                  <a:schemeClr val="accent3"/>
                </a:solidFill>
              </a:ln>
            </p:spPr>
          </p:sp>
          <p:sp>
            <p:nvSpPr>
              <p:cNvPr id="36" name="Freeform 36"/>
              <p:cNvSpPr/>
              <p:nvPr/>
            </p:nvSpPr>
            <p:spPr>
              <a:xfrm>
                <a:off x="7134225" y="4933950"/>
                <a:ext cx="57150" cy="38100"/>
              </a:xfrm>
              <a:custGeom>
                <a:avLst/>
                <a:gdLst/>
                <a:ahLst/>
                <a:cxnLst/>
                <a:rect l="l" t="t" r="r" b="b"/>
                <a:pathLst>
                  <a:path w="57150" h="38100">
                    <a:moveTo>
                      <a:pt x="0" y="19050"/>
                    </a:moveTo>
                    <a:lnTo>
                      <a:pt x="19050" y="38100"/>
                    </a:lnTo>
                    <a:lnTo>
                      <a:pt x="57150" y="0"/>
                    </a:lnTo>
                  </a:path>
                </a:pathLst>
              </a:custGeom>
              <a:noFill/>
              <a:ln w="19050">
                <a:solidFill>
                  <a:schemeClr val="accent3"/>
                </a:solidFill>
              </a:ln>
            </p:spPr>
          </p:sp>
        </p:grpSp>
        <p:sp>
          <p:nvSpPr>
            <p:cNvPr id="38" name="TextBox 38"/>
            <p:cNvSpPr txBox="1"/>
            <p:nvPr/>
          </p:nvSpPr>
          <p:spPr>
            <a:xfrm>
              <a:off x="7422642" y="4883468"/>
              <a:ext cx="2012823"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真实历史数据模式可切换</a:t>
              </a:r>
            </a:p>
          </p:txBody>
        </p:sp>
      </p:grpSp>
      <p:grpSp>
        <p:nvGrpSpPr>
          <p:cNvPr id="41" name="Group 41"/>
          <p:cNvGrpSpPr/>
          <p:nvPr/>
        </p:nvGrpSpPr>
        <p:grpSpPr>
          <a:xfrm>
            <a:off x="679704" y="5795010"/>
            <a:ext cx="9341358" cy="234696"/>
            <a:chOff x="679704" y="5795010"/>
            <a:chExt cx="9341358" cy="234696"/>
          </a:xfrm>
        </p:grpSpPr>
        <p:sp>
          <p:nvSpPr>
            <p:cNvPr id="40" name="TextBox 40"/>
            <p:cNvSpPr txBox="1"/>
            <p:nvPr/>
          </p:nvSpPr>
          <p:spPr>
            <a:xfrm>
              <a:off x="679704" y="5795010"/>
              <a:ext cx="9341358" cy="234696"/>
            </a:xfrm>
            <a:prstGeom prst="rect">
              <a:avLst/>
            </a:prstGeom>
            <a:noFill/>
            <a:ln>
              <a:noFill/>
            </a:ln>
          </p:spPr>
          <p:txBody>
            <a:bodyPr wrap="none" lIns="0" tIns="0" rIns="0" bIns="0" anchor="t" anchorCtr="0">
              <a:spAutoFit/>
            </a:bodyPr>
            <a:lstStyle/>
            <a:p>
              <a:pPr algn="l"/>
              <a:r>
                <a:rPr lang="zh-CN" sz="1200" dirty="0">
                  <a:solidFill>
                    <a:schemeClr val="dk1">
                      <a:alphaMod val="85000"/>
                    </a:schemeClr>
                  </a:solidFill>
                  <a:latin typeface="+mn-lt"/>
                  <a:ea typeface="+mn-ea"/>
                  <a:cs typeface="+mn-cs"/>
                </a:rPr>
                <a:t>已知代码债：config.py 参数中心未接入主流程，参数硬编码在 solar_model.py；submodels/tpb.py 为早期版本，仅测试引用。</a:t>
              </a:r>
            </a:p>
          </p:txBody>
        </p:sp>
      </p:grpSp>
      <p:grpSp>
        <p:nvGrpSpPr>
          <p:cNvPr id="45" name="Group 45"/>
          <p:cNvGrpSpPr/>
          <p:nvPr/>
        </p:nvGrpSpPr>
        <p:grpSpPr>
          <a:xfrm>
            <a:off x="679704" y="6286500"/>
            <a:ext cx="10832592" cy="390906"/>
            <a:chOff x="679704" y="6286500"/>
            <a:chExt cx="10832592" cy="390906"/>
          </a:xfrm>
        </p:grpSpPr>
        <p:sp>
          <p:nvSpPr>
            <p:cNvPr id="42" name="Line 42"/>
            <p:cNvSpPr/>
            <p:nvPr/>
          </p:nvSpPr>
          <p:spPr>
            <a:xfrm>
              <a:off x="685800" y="6286500"/>
              <a:ext cx="10820400" cy="9525"/>
            </a:xfrm>
            <a:custGeom>
              <a:avLst/>
              <a:gdLst/>
              <a:ahLst/>
              <a:cxnLst/>
              <a:rect l="l" t="t" r="r" b="b"/>
              <a:pathLst>
                <a:path w="10820400" h="9525">
                  <a:moveTo>
                    <a:pt x="0" y="0"/>
                  </a:moveTo>
                  <a:lnTo>
                    <a:pt x="10820400" y="0"/>
                  </a:lnTo>
                </a:path>
              </a:pathLst>
            </a:custGeom>
            <a:noFill/>
            <a:ln w="9525">
              <a:solidFill>
                <a:schemeClr val="accent1">
                  <a:alpha val="30000"/>
                </a:schemeClr>
              </a:solidFill>
            </a:ln>
          </p:spPr>
        </p:sp>
        <p:sp>
          <p:nvSpPr>
            <p:cNvPr id="43" name="TextBox 43"/>
            <p:cNvSpPr txBox="1"/>
            <p:nvPr/>
          </p:nvSpPr>
          <p:spPr>
            <a:xfrm>
              <a:off x="679704" y="6442710"/>
              <a:ext cx="4987747" cy="234696"/>
            </a:xfrm>
            <a:prstGeom prst="rect">
              <a:avLst/>
            </a:prstGeom>
            <a:noFill/>
            <a:ln>
              <a:noFill/>
            </a:ln>
          </p:spPr>
          <p:txBody>
            <a:bodyPr wrap="none" lIns="0" tIns="0" rIns="0" bIns="0" anchor="t" anchorCtr="0">
              <a:spAutoFit/>
            </a:bodyPr>
            <a:lstStyle/>
            <a:p>
              <a:pPr algn="l"/>
              <a:r>
                <a:rPr lang="zh-CN" sz="1200" dirty="0">
                  <a:solidFill>
                    <a:schemeClr val="dk1">
                      <a:alphaMod val="72000"/>
                    </a:schemeClr>
                  </a:solidFill>
                  <a:latin typeface="+mn-lt"/>
                  <a:ea typeface="+mn-ea"/>
                  <a:cs typeface="+mn-cs"/>
                </a:rPr>
                <a:t>当前版本状态：复现主线稳定，LLM 主线可用但尚未覆盖全部主体</a:t>
              </a:r>
            </a:p>
          </p:txBody>
        </p:sp>
        <p:sp>
          <p:nvSpPr>
            <p:cNvPr id="44" name="TextBox 44"/>
            <p:cNvSpPr txBox="1"/>
            <p:nvPr/>
          </p:nvSpPr>
          <p:spPr>
            <a:xfrm>
              <a:off x="10958932" y="6442710"/>
              <a:ext cx="553364" cy="234696"/>
            </a:xfrm>
            <a:prstGeom prst="rect">
              <a:avLst/>
            </a:prstGeom>
            <a:noFill/>
            <a:ln>
              <a:noFill/>
            </a:ln>
          </p:spPr>
          <p:txBody>
            <a:bodyPr wrap="none" lIns="0" tIns="0" rIns="0" bIns="0" anchor="t" anchorCtr="0">
              <a:spAutoFit/>
            </a:bodyPr>
            <a:lstStyle/>
            <a:p>
              <a:pPr algn="r"/>
              <a:r>
                <a:rPr lang="zh-CN" sz="1200" dirty="0">
                  <a:solidFill>
                    <a:schemeClr val="dk1">
                      <a:alphaMod val="72000"/>
                    </a:schemeClr>
                  </a:solidFill>
                  <a:latin typeface="+mn-lt"/>
                  <a:ea typeface="+mn-ea"/>
                  <a:cs typeface="+mn-cs"/>
                </a:rPr>
                <a:t>13 / 14</a:t>
              </a:r>
            </a:p>
          </p:txBody>
        </p:sp>
      </p:gr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669798" y="552450"/>
            <a:ext cx="10836402" cy="1076135"/>
            <a:chOff x="669798" y="552450"/>
            <a:chExt cx="10836402" cy="1076135"/>
          </a:xfrm>
        </p:grpSpPr>
        <p:sp>
          <p:nvSpPr>
            <p:cNvPr id="2" name="Rectangle 2"/>
            <p:cNvSpPr/>
            <p:nvPr/>
          </p:nvSpPr>
          <p:spPr>
            <a:xfrm>
              <a:off x="685800" y="552450"/>
              <a:ext cx="533400" cy="38100"/>
            </a:xfrm>
            <a:prstGeom prst="rect">
              <a:avLst/>
            </a:prstGeom>
            <a:solidFill>
              <a:schemeClr val="accent2"/>
            </a:solidFill>
            <a:ln>
              <a:noFill/>
            </a:ln>
          </p:spPr>
        </p:sp>
        <p:sp>
          <p:nvSpPr>
            <p:cNvPr id="3" name="TextBox 3"/>
            <p:cNvSpPr txBox="1"/>
            <p:nvPr/>
          </p:nvSpPr>
          <p:spPr>
            <a:xfrm>
              <a:off x="678942" y="768668"/>
              <a:ext cx="2548433" cy="264033"/>
            </a:xfrm>
            <a:prstGeom prst="rect">
              <a:avLst/>
            </a:prstGeom>
            <a:noFill/>
            <a:ln>
              <a:noFill/>
            </a:ln>
          </p:spPr>
          <p:txBody>
            <a:bodyPr wrap="none" lIns="0" tIns="0" rIns="0" bIns="0" anchor="t" anchorCtr="0">
              <a:spAutoFit/>
            </a:bodyPr>
            <a:lstStyle/>
            <a:p>
              <a:pPr algn="l"/>
              <a:r>
                <a:rPr lang="zh-CN" sz="1350" dirty="0">
                  <a:solidFill>
                    <a:schemeClr val="accent1">
                      <a:alphaMod val="78000"/>
                    </a:schemeClr>
                  </a:solidFill>
                  <a:latin typeface="+mn-lt"/>
                  <a:ea typeface="+mn-ea"/>
                  <a:cs typeface="+mn-cs"/>
                </a:rPr>
                <a:t>PART 5 · 偏差、进度与下一步</a:t>
              </a:r>
            </a:p>
          </p:txBody>
        </p:sp>
        <p:sp>
          <p:nvSpPr>
            <p:cNvPr id="4" name="TextBox 4"/>
            <p:cNvSpPr txBox="1"/>
            <p:nvPr/>
          </p:nvSpPr>
          <p:spPr>
            <a:xfrm>
              <a:off x="669798" y="1012508"/>
              <a:ext cx="6265583"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下一步三个候选，建议先做校准</a:t>
              </a:r>
            </a:p>
          </p:txBody>
        </p:sp>
        <p:sp>
          <p:nvSpPr>
            <p:cNvPr id="5" name="Line 5"/>
            <p:cNvSpPr/>
            <p:nvPr/>
          </p:nvSpPr>
          <p:spPr>
            <a:xfrm>
              <a:off x="685800" y="1600200"/>
              <a:ext cx="10820400" cy="9525"/>
            </a:xfrm>
            <a:custGeom>
              <a:avLst/>
              <a:gdLst/>
              <a:ahLst/>
              <a:cxnLst/>
              <a:rect l="l" t="t" r="r" b="b"/>
              <a:pathLst>
                <a:path w="10820400" h="9525">
                  <a:moveTo>
                    <a:pt x="0" y="0"/>
                  </a:moveTo>
                  <a:lnTo>
                    <a:pt x="10820400" y="0"/>
                  </a:lnTo>
                </a:path>
              </a:pathLst>
            </a:custGeom>
            <a:noFill/>
            <a:ln w="9525">
              <a:solidFill>
                <a:schemeClr val="accent1">
                  <a:alpha val="22000"/>
                </a:schemeClr>
              </a:solidFill>
            </a:ln>
          </p:spPr>
        </p:sp>
      </p:grpSp>
      <p:grpSp>
        <p:nvGrpSpPr>
          <p:cNvPr id="12" name="Group 12"/>
          <p:cNvGrpSpPr/>
          <p:nvPr/>
        </p:nvGrpSpPr>
        <p:grpSpPr>
          <a:xfrm>
            <a:off x="669798" y="2384108"/>
            <a:ext cx="3368802" cy="2483548"/>
            <a:chOff x="669798" y="2384108"/>
            <a:chExt cx="3368802" cy="2483548"/>
          </a:xfrm>
        </p:grpSpPr>
        <p:sp>
          <p:nvSpPr>
            <p:cNvPr id="7" name="TextBox 7"/>
            <p:cNvSpPr txBox="1"/>
            <p:nvPr/>
          </p:nvSpPr>
          <p:spPr>
            <a:xfrm>
              <a:off x="669798" y="2384108"/>
              <a:ext cx="290756" cy="616077"/>
            </a:xfrm>
            <a:prstGeom prst="rect">
              <a:avLst/>
            </a:prstGeom>
            <a:noFill/>
            <a:ln>
              <a:noFill/>
            </a:ln>
          </p:spPr>
          <p:txBody>
            <a:bodyPr wrap="none" lIns="0" tIns="0" rIns="0" bIns="0" anchor="t" anchorCtr="0">
              <a:spAutoFit/>
            </a:bodyPr>
            <a:lstStyle/>
            <a:p>
              <a:pPr algn="l"/>
              <a:r>
                <a:rPr lang="zh-CN" sz="3150" b="1" dirty="0">
                  <a:solidFill>
                    <a:schemeClr val="accent2"/>
                  </a:solidFill>
                  <a:latin typeface="Consolas"/>
                  <a:ea typeface="Consolas"/>
                  <a:cs typeface="Consolas"/>
                </a:rPr>
                <a:t>A</a:t>
              </a:r>
            </a:p>
          </p:txBody>
        </p:sp>
        <p:sp>
          <p:nvSpPr>
            <p:cNvPr id="8" name="TextBox 8"/>
            <p:cNvSpPr txBox="1"/>
            <p:nvPr/>
          </p:nvSpPr>
          <p:spPr>
            <a:xfrm>
              <a:off x="676656" y="2948940"/>
              <a:ext cx="2562606"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模型校准（建议优先）</a:t>
              </a:r>
            </a:p>
          </p:txBody>
        </p:sp>
        <p:sp>
          <p:nvSpPr>
            <p:cNvPr id="9" name="TextBox 9"/>
            <p:cNvSpPr txBox="1"/>
            <p:nvPr/>
          </p:nvSpPr>
          <p:spPr>
            <a:xfrm>
              <a:off x="678942" y="3435668"/>
              <a:ext cx="2439734" cy="797433"/>
            </a:xfrm>
            <a:prstGeom prst="rect">
              <a:avLst/>
            </a:prstGeom>
            <a:noFill/>
            <a:ln>
              <a:noFill/>
            </a:ln>
          </p:spPr>
          <p:txBody>
            <a:bodyPr wrap="none" lIns="0" tIns="0" rIns="0" bIns="0" anchor="t" anchorCtr="0">
              <a:spAutoFit/>
            </a:bodyPr>
            <a:lstStyle/>
            <a:p>
              <a:pPr algn="l">
                <a:lnSpc>
                  <a:spcPts val="2100"/>
                </a:lnSpc>
              </a:pPr>
              <a:r>
                <a:rPr lang="zh-CN" sz="1350" dirty="0">
                  <a:solidFill>
                    <a:schemeClr val="dk1"/>
                  </a:solidFill>
                  <a:latin typeface="+mn-lt"/>
                  <a:ea typeface="+mn-ea"/>
                  <a:cs typeface="+mn-cs"/>
                </a:rPr>
                <a:t>修正全球装机量级与国外</a:t>
              </a:r>
              <a:br/>
              <a:r>
                <a:rPr lang="zh-CN" sz="1350" dirty="0">
                  <a:solidFill>
                    <a:schemeClr val="dk1"/>
                  </a:solidFill>
                  <a:latin typeface="+mn-lt"/>
                  <a:ea typeface="+mn-ea"/>
                  <a:cs typeface="+mn-cs"/>
                </a:rPr>
                <a:t>学习驱动量；逐图逐表对比</a:t>
              </a:r>
              <a:br/>
              <a:r>
                <a:rPr lang="zh-CN" sz="1350" dirty="0">
                  <a:solidFill>
                    <a:schemeClr val="dk1"/>
                  </a:solidFill>
                  <a:latin typeface="+mn-lt"/>
                  <a:ea typeface="+mn-ea"/>
                  <a:cs typeface="+mn-cs"/>
                </a:rPr>
                <a:t>论文输出；把采用率拉回 ~7%。</a:t>
              </a:r>
            </a:p>
          </p:txBody>
        </p:sp>
        <p:sp>
          <p:nvSpPr>
            <p:cNvPr id="10" name="Line 10"/>
            <p:cNvSpPr/>
            <p:nvPr/>
          </p:nvSpPr>
          <p:spPr>
            <a:xfrm>
              <a:off x="685800" y="4476750"/>
              <a:ext cx="3352800" cy="9525"/>
            </a:xfrm>
            <a:custGeom>
              <a:avLst/>
              <a:gdLst/>
              <a:ahLst/>
              <a:cxnLst/>
              <a:rect l="l" t="t" r="r" b="b"/>
              <a:pathLst>
                <a:path w="3352800" h="9525">
                  <a:moveTo>
                    <a:pt x="0" y="0"/>
                  </a:moveTo>
                  <a:lnTo>
                    <a:pt x="3352800" y="0"/>
                  </a:lnTo>
                </a:path>
              </a:pathLst>
            </a:custGeom>
            <a:noFill/>
            <a:ln w="9525">
              <a:solidFill>
                <a:schemeClr val="accent1">
                  <a:alpha val="22000"/>
                </a:schemeClr>
              </a:solidFill>
            </a:ln>
          </p:spPr>
        </p:sp>
        <p:sp>
          <p:nvSpPr>
            <p:cNvPr id="11" name="TextBox 11"/>
            <p:cNvSpPr txBox="1"/>
            <p:nvPr/>
          </p:nvSpPr>
          <p:spPr>
            <a:xfrm>
              <a:off x="679704" y="4632960"/>
              <a:ext cx="2459584" cy="234696"/>
            </a:xfrm>
            <a:prstGeom prst="rect">
              <a:avLst/>
            </a:prstGeom>
            <a:noFill/>
            <a:ln>
              <a:noFill/>
            </a:ln>
          </p:spPr>
          <p:txBody>
            <a:bodyPr wrap="none" lIns="0" tIns="0" rIns="0" bIns="0" anchor="t" anchorCtr="0">
              <a:spAutoFit/>
            </a:bodyPr>
            <a:lstStyle/>
            <a:p>
              <a:pPr algn="l"/>
              <a:r>
                <a:rPr lang="zh-CN" sz="1200" dirty="0">
                  <a:solidFill>
                    <a:schemeClr val="accent2"/>
                  </a:solidFill>
                  <a:latin typeface="+mn-lt"/>
                  <a:ea typeface="+mn-ea"/>
                  <a:cs typeface="+mn-cs"/>
                </a:rPr>
                <a:t>代价低 · 直接决定现有结论可信度</a:t>
              </a:r>
            </a:p>
          </p:txBody>
        </p:sp>
      </p:grpSp>
      <p:grpSp>
        <p:nvGrpSpPr>
          <p:cNvPr id="18" name="Group 18"/>
          <p:cNvGrpSpPr/>
          <p:nvPr/>
        </p:nvGrpSpPr>
        <p:grpSpPr>
          <a:xfrm>
            <a:off x="4403598" y="2384108"/>
            <a:ext cx="3368802" cy="2483548"/>
            <a:chOff x="4403598" y="2384108"/>
            <a:chExt cx="3368802" cy="2483548"/>
          </a:xfrm>
        </p:grpSpPr>
        <p:sp>
          <p:nvSpPr>
            <p:cNvPr id="13" name="TextBox 13"/>
            <p:cNvSpPr txBox="1"/>
            <p:nvPr/>
          </p:nvSpPr>
          <p:spPr>
            <a:xfrm>
              <a:off x="4403598" y="2384108"/>
              <a:ext cx="290756" cy="616077"/>
            </a:xfrm>
            <a:prstGeom prst="rect">
              <a:avLst/>
            </a:prstGeom>
            <a:noFill/>
            <a:ln>
              <a:noFill/>
            </a:ln>
          </p:spPr>
          <p:txBody>
            <a:bodyPr wrap="none" lIns="0" tIns="0" rIns="0" bIns="0" anchor="t" anchorCtr="0">
              <a:spAutoFit/>
            </a:bodyPr>
            <a:lstStyle/>
            <a:p>
              <a:pPr algn="l"/>
              <a:r>
                <a:rPr lang="zh-CN" sz="3150" b="1" dirty="0">
                  <a:solidFill>
                    <a:schemeClr val="accent2"/>
                  </a:solidFill>
                  <a:latin typeface="Consolas"/>
                  <a:ea typeface="Consolas"/>
                  <a:cs typeface="Consolas"/>
                </a:rPr>
                <a:t>B</a:t>
              </a:r>
            </a:p>
          </p:txBody>
        </p:sp>
        <p:sp>
          <p:nvSpPr>
            <p:cNvPr id="14" name="TextBox 14"/>
            <p:cNvSpPr txBox="1"/>
            <p:nvPr/>
          </p:nvSpPr>
          <p:spPr>
            <a:xfrm>
              <a:off x="4410456" y="2948940"/>
              <a:ext cx="1544879"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扩大主体规模</a:t>
              </a:r>
            </a:p>
          </p:txBody>
        </p:sp>
        <p:sp>
          <p:nvSpPr>
            <p:cNvPr id="15" name="TextBox 15"/>
            <p:cNvSpPr txBox="1"/>
            <p:nvPr/>
          </p:nvSpPr>
          <p:spPr>
            <a:xfrm>
              <a:off x="4412742" y="3435668"/>
              <a:ext cx="2071116" cy="797433"/>
            </a:xfrm>
            <a:prstGeom prst="rect">
              <a:avLst/>
            </a:prstGeom>
            <a:noFill/>
            <a:ln>
              <a:noFill/>
            </a:ln>
          </p:spPr>
          <p:txBody>
            <a:bodyPr wrap="none" lIns="0" tIns="0" rIns="0" bIns="0" anchor="t" anchorCtr="0">
              <a:spAutoFit/>
            </a:bodyPr>
            <a:lstStyle/>
            <a:p>
              <a:pPr algn="l">
                <a:lnSpc>
                  <a:spcPts val="2100"/>
                </a:lnSpc>
              </a:pPr>
              <a:r>
                <a:rPr lang="zh-CN" sz="1350" dirty="0">
                  <a:solidFill>
                    <a:schemeClr val="dk1"/>
                  </a:solidFill>
                  <a:latin typeface="+mn-lt"/>
                  <a:ea typeface="+mn-ea"/>
                  <a:cs typeface="+mn-cs"/>
                </a:rPr>
                <a:t>为邻居计算接入空间索引，</a:t>
              </a:r>
              <a:br/>
              <a:r>
                <a:rPr lang="zh-CN" sz="1350" dirty="0">
                  <a:solidFill>
                    <a:schemeClr val="dk1"/>
                  </a:solidFill>
                  <a:latin typeface="+mn-lt"/>
                  <a:ea typeface="+mn-ea"/>
                  <a:cs typeface="+mn-cs"/>
                </a:rPr>
                <a:t>主体从 500 扩到 2 万，</a:t>
              </a:r>
              <a:br/>
              <a:r>
                <a:rPr lang="zh-CN" sz="1350" dirty="0">
                  <a:solidFill>
                    <a:schemeClr val="dk1"/>
                  </a:solidFill>
                  <a:latin typeface="+mn-lt"/>
                  <a:ea typeface="+mn-ea"/>
                  <a:cs typeface="+mn-cs"/>
                </a:rPr>
                <a:t>邻居半径改回 1 km。</a:t>
              </a:r>
            </a:p>
          </p:txBody>
        </p:sp>
        <p:sp>
          <p:nvSpPr>
            <p:cNvPr id="16" name="Line 16"/>
            <p:cNvSpPr/>
            <p:nvPr/>
          </p:nvSpPr>
          <p:spPr>
            <a:xfrm>
              <a:off x="4419600" y="4476750"/>
              <a:ext cx="3352800" cy="9525"/>
            </a:xfrm>
            <a:custGeom>
              <a:avLst/>
              <a:gdLst/>
              <a:ahLst/>
              <a:cxnLst/>
              <a:rect l="l" t="t" r="r" b="b"/>
              <a:pathLst>
                <a:path w="3352800" h="9525">
                  <a:moveTo>
                    <a:pt x="0" y="0"/>
                  </a:moveTo>
                  <a:lnTo>
                    <a:pt x="3352800" y="0"/>
                  </a:lnTo>
                </a:path>
              </a:pathLst>
            </a:custGeom>
            <a:noFill/>
            <a:ln w="9525">
              <a:solidFill>
                <a:schemeClr val="accent1">
                  <a:alpha val="22000"/>
                </a:schemeClr>
              </a:solidFill>
            </a:ln>
          </p:spPr>
        </p:sp>
        <p:sp>
          <p:nvSpPr>
            <p:cNvPr id="17" name="TextBox 17"/>
            <p:cNvSpPr txBox="1"/>
            <p:nvPr/>
          </p:nvSpPr>
          <p:spPr>
            <a:xfrm>
              <a:off x="4413504" y="4632960"/>
              <a:ext cx="2782672"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代价中等 · 消除缩比假象，需重新标定</a:t>
              </a:r>
            </a:p>
          </p:txBody>
        </p:sp>
      </p:grpSp>
      <p:grpSp>
        <p:nvGrpSpPr>
          <p:cNvPr id="24" name="Group 24"/>
          <p:cNvGrpSpPr/>
          <p:nvPr/>
        </p:nvGrpSpPr>
        <p:grpSpPr>
          <a:xfrm>
            <a:off x="8137398" y="2384108"/>
            <a:ext cx="3368802" cy="2483548"/>
            <a:chOff x="8137398" y="2384108"/>
            <a:chExt cx="3368802" cy="2483548"/>
          </a:xfrm>
        </p:grpSpPr>
        <p:sp>
          <p:nvSpPr>
            <p:cNvPr id="19" name="TextBox 19"/>
            <p:cNvSpPr txBox="1"/>
            <p:nvPr/>
          </p:nvSpPr>
          <p:spPr>
            <a:xfrm>
              <a:off x="8137398" y="2384108"/>
              <a:ext cx="290756" cy="616077"/>
            </a:xfrm>
            <a:prstGeom prst="rect">
              <a:avLst/>
            </a:prstGeom>
            <a:noFill/>
            <a:ln>
              <a:noFill/>
            </a:ln>
          </p:spPr>
          <p:txBody>
            <a:bodyPr wrap="none" lIns="0" tIns="0" rIns="0" bIns="0" anchor="t" anchorCtr="0">
              <a:spAutoFit/>
            </a:bodyPr>
            <a:lstStyle/>
            <a:p>
              <a:pPr algn="l"/>
              <a:r>
                <a:rPr lang="zh-CN" sz="3150" b="1" dirty="0">
                  <a:solidFill>
                    <a:schemeClr val="accent3"/>
                  </a:solidFill>
                  <a:latin typeface="Consolas"/>
                  <a:ea typeface="Consolas"/>
                  <a:cs typeface="Consolas"/>
                </a:rPr>
                <a:t>C</a:t>
              </a:r>
            </a:p>
          </p:txBody>
        </p:sp>
        <p:sp>
          <p:nvSpPr>
            <p:cNvPr id="20" name="TextBox 20"/>
            <p:cNvSpPr txBox="1"/>
            <p:nvPr/>
          </p:nvSpPr>
          <p:spPr>
            <a:xfrm>
              <a:off x="8144256" y="2948940"/>
              <a:ext cx="2424157"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接入成熟 Agent 框架</a:t>
              </a:r>
            </a:p>
          </p:txBody>
        </p:sp>
        <p:sp>
          <p:nvSpPr>
            <p:cNvPr id="21" name="TextBox 21"/>
            <p:cNvSpPr txBox="1"/>
            <p:nvPr/>
          </p:nvSpPr>
          <p:spPr>
            <a:xfrm>
              <a:off x="8146542" y="3435668"/>
              <a:ext cx="2242566" cy="797433"/>
            </a:xfrm>
            <a:prstGeom prst="rect">
              <a:avLst/>
            </a:prstGeom>
            <a:noFill/>
            <a:ln>
              <a:noFill/>
            </a:ln>
          </p:spPr>
          <p:txBody>
            <a:bodyPr wrap="none" lIns="0" tIns="0" rIns="0" bIns="0" anchor="t" anchorCtr="0">
              <a:spAutoFit/>
            </a:bodyPr>
            <a:lstStyle/>
            <a:p>
              <a:pPr algn="l">
                <a:lnSpc>
                  <a:spcPts val="2100"/>
                </a:lnSpc>
              </a:pPr>
              <a:r>
                <a:rPr lang="zh-CN" sz="1350" dirty="0">
                  <a:solidFill>
                    <a:schemeClr val="dk1"/>
                  </a:solidFill>
                  <a:latin typeface="+mn-lt"/>
                  <a:ea typeface="+mn-ea"/>
                  <a:cs typeface="+mn-cs"/>
                </a:rPr>
                <a:t>引入 LangChain / AutoGen，</a:t>
              </a:r>
              <a:br/>
              <a:r>
                <a:rPr lang="zh-CN" sz="1350" dirty="0">
                  <a:solidFill>
                    <a:schemeClr val="dk1"/>
                  </a:solidFill>
                  <a:latin typeface="+mn-lt"/>
                  <a:ea typeface="+mn-ea"/>
                  <a:cs typeface="+mn-cs"/>
                </a:rPr>
                <a:t>做多步推理与更复杂的</a:t>
              </a:r>
              <a:br/>
              <a:r>
                <a:rPr lang="zh-CN" sz="1350" dirty="0">
                  <a:solidFill>
                    <a:schemeClr val="dk1"/>
                  </a:solidFill>
                  <a:latin typeface="+mn-lt"/>
                  <a:ea typeface="+mn-ea"/>
                  <a:cs typeface="+mn-cs"/>
                </a:rPr>
                <a:t>角色协作。</a:t>
              </a:r>
            </a:p>
          </p:txBody>
        </p:sp>
        <p:sp>
          <p:nvSpPr>
            <p:cNvPr id="22" name="Line 22"/>
            <p:cNvSpPr/>
            <p:nvPr/>
          </p:nvSpPr>
          <p:spPr>
            <a:xfrm>
              <a:off x="8153400" y="4476750"/>
              <a:ext cx="3352800" cy="9525"/>
            </a:xfrm>
            <a:custGeom>
              <a:avLst/>
              <a:gdLst/>
              <a:ahLst/>
              <a:cxnLst/>
              <a:rect l="l" t="t" r="r" b="b"/>
              <a:pathLst>
                <a:path w="3352800" h="9525">
                  <a:moveTo>
                    <a:pt x="0" y="0"/>
                  </a:moveTo>
                  <a:lnTo>
                    <a:pt x="3352800" y="0"/>
                  </a:lnTo>
                </a:path>
              </a:pathLst>
            </a:custGeom>
            <a:noFill/>
            <a:ln w="9525">
              <a:solidFill>
                <a:schemeClr val="accent1">
                  <a:alpha val="22000"/>
                </a:schemeClr>
              </a:solidFill>
            </a:ln>
          </p:spPr>
        </p:sp>
        <p:sp>
          <p:nvSpPr>
            <p:cNvPr id="23" name="TextBox 23"/>
            <p:cNvSpPr txBox="1"/>
            <p:nvPr/>
          </p:nvSpPr>
          <p:spPr>
            <a:xfrm>
              <a:off x="8147304" y="4632960"/>
              <a:ext cx="1651864"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代价高 · 收益偏探索性</a:t>
              </a:r>
            </a:p>
          </p:txBody>
        </p:sp>
      </p:grpSp>
      <p:grpSp>
        <p:nvGrpSpPr>
          <p:cNvPr id="27" name="Group 27"/>
          <p:cNvGrpSpPr/>
          <p:nvPr/>
        </p:nvGrpSpPr>
        <p:grpSpPr>
          <a:xfrm>
            <a:off x="673608" y="5353050"/>
            <a:ext cx="7455408" cy="819912"/>
            <a:chOff x="673608" y="5353050"/>
            <a:chExt cx="7455408" cy="819912"/>
          </a:xfrm>
        </p:grpSpPr>
        <p:sp>
          <p:nvSpPr>
            <p:cNvPr id="25" name="Rectangle 25"/>
            <p:cNvSpPr/>
            <p:nvPr/>
          </p:nvSpPr>
          <p:spPr>
            <a:xfrm>
              <a:off x="685800" y="5353050"/>
              <a:ext cx="1143000" cy="38100"/>
            </a:xfrm>
            <a:prstGeom prst="rect">
              <a:avLst/>
            </a:prstGeom>
            <a:solidFill>
              <a:schemeClr val="accent2"/>
            </a:solidFill>
            <a:ln>
              <a:noFill/>
            </a:ln>
          </p:spPr>
        </p:sp>
        <p:sp>
          <p:nvSpPr>
            <p:cNvPr id="26" name="TextBox 26"/>
            <p:cNvSpPr txBox="1"/>
            <p:nvPr/>
          </p:nvSpPr>
          <p:spPr>
            <a:xfrm>
              <a:off x="673608" y="5703570"/>
              <a:ext cx="7455408"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先让数字可信，再让规模可信，最后才谈能力上限。</a:t>
              </a:r>
            </a:p>
          </p:txBody>
        </p:sp>
      </p:grpSp>
      <p:grpSp>
        <p:nvGrpSpPr>
          <p:cNvPr id="31" name="Group 31"/>
          <p:cNvGrpSpPr/>
          <p:nvPr/>
        </p:nvGrpSpPr>
        <p:grpSpPr>
          <a:xfrm>
            <a:off x="679704" y="6286500"/>
            <a:ext cx="10832592" cy="390906"/>
            <a:chOff x="679704" y="6286500"/>
            <a:chExt cx="10832592" cy="390906"/>
          </a:xfrm>
        </p:grpSpPr>
        <p:sp>
          <p:nvSpPr>
            <p:cNvPr id="28" name="Line 28"/>
            <p:cNvSpPr/>
            <p:nvPr/>
          </p:nvSpPr>
          <p:spPr>
            <a:xfrm>
              <a:off x="685800" y="6286500"/>
              <a:ext cx="10820400" cy="9525"/>
            </a:xfrm>
            <a:custGeom>
              <a:avLst/>
              <a:gdLst/>
              <a:ahLst/>
              <a:cxnLst/>
              <a:rect l="l" t="t" r="r" b="b"/>
              <a:pathLst>
                <a:path w="10820400" h="9525">
                  <a:moveTo>
                    <a:pt x="0" y="0"/>
                  </a:moveTo>
                  <a:lnTo>
                    <a:pt x="10820400" y="0"/>
                  </a:lnTo>
                </a:path>
              </a:pathLst>
            </a:custGeom>
            <a:noFill/>
            <a:ln w="9525">
              <a:solidFill>
                <a:schemeClr val="accent1">
                  <a:alpha val="30000"/>
                </a:schemeClr>
              </a:solidFill>
            </a:ln>
          </p:spPr>
        </p:sp>
        <p:sp>
          <p:nvSpPr>
            <p:cNvPr id="29" name="TextBox 29"/>
            <p:cNvSpPr txBox="1"/>
            <p:nvPr/>
          </p:nvSpPr>
          <p:spPr>
            <a:xfrm>
              <a:off x="679704" y="6442710"/>
              <a:ext cx="4100170" cy="234696"/>
            </a:xfrm>
            <a:prstGeom prst="rect">
              <a:avLst/>
            </a:prstGeom>
            <a:noFill/>
            <a:ln>
              <a:noFill/>
            </a:ln>
          </p:spPr>
          <p:txBody>
            <a:bodyPr wrap="none" lIns="0" tIns="0" rIns="0" bIns="0" anchor="t" anchorCtr="0">
              <a:spAutoFit/>
            </a:bodyPr>
            <a:lstStyle/>
            <a:p>
              <a:pPr algn="l"/>
              <a:r>
                <a:rPr lang="zh-CN" sz="1200" dirty="0">
                  <a:solidFill>
                    <a:schemeClr val="dk1">
                      <a:alphaMod val="72000"/>
                    </a:schemeClr>
                  </a:solidFill>
                  <a:latin typeface="+mn-lt"/>
                  <a:ea typeface="+mn-ea"/>
                  <a:cs typeface="+mn-cs"/>
                </a:rPr>
                <a:t>建议顺序：A → B → C，本次汇报希望就优先级达成一致</a:t>
              </a:r>
            </a:p>
          </p:txBody>
        </p:sp>
        <p:sp>
          <p:nvSpPr>
            <p:cNvPr id="30" name="TextBox 30"/>
            <p:cNvSpPr txBox="1"/>
            <p:nvPr/>
          </p:nvSpPr>
          <p:spPr>
            <a:xfrm>
              <a:off x="10958932" y="6442710"/>
              <a:ext cx="553364" cy="234696"/>
            </a:xfrm>
            <a:prstGeom prst="rect">
              <a:avLst/>
            </a:prstGeom>
            <a:noFill/>
            <a:ln>
              <a:noFill/>
            </a:ln>
          </p:spPr>
          <p:txBody>
            <a:bodyPr wrap="none" lIns="0" tIns="0" rIns="0" bIns="0" anchor="t" anchorCtr="0">
              <a:spAutoFit/>
            </a:bodyPr>
            <a:lstStyle/>
            <a:p>
              <a:pPr algn="r"/>
              <a:r>
                <a:rPr lang="zh-CN" sz="1200" dirty="0">
                  <a:solidFill>
                    <a:schemeClr val="dk1">
                      <a:alphaMod val="72000"/>
                    </a:schemeClr>
                  </a:solidFill>
                  <a:latin typeface="+mn-lt"/>
                  <a:ea typeface="+mn-ea"/>
                  <a:cs typeface="+mn-cs"/>
                </a:rPr>
                <a:t>14 / 14</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solar_abm_report">
  <a:themeElements>
    <a:clrScheme name="solar_abm_report">
      <a:dk1>
        <a:srgbClr val="35322C"/>
      </a:dk1>
      <a:lt1>
        <a:srgbClr val="F7F5F0"/>
      </a:lt1>
      <a:dk2>
        <a:srgbClr val="1F497D"/>
      </a:dk2>
      <a:lt2>
        <a:srgbClr val="EDE8DF"/>
      </a:lt2>
      <a:accent1>
        <a:srgbClr val="16233A"/>
      </a:accent1>
      <a:accent2>
        <a:srgbClr val="C0562B"/>
      </a:accent2>
      <a:accent3>
        <a:srgbClr val="2E6F6A"/>
      </a:accent3>
      <a:accent4>
        <a:srgbClr val="16233A"/>
      </a:accent4>
      <a:accent5>
        <a:srgbClr val="D8D2C6"/>
      </a:accent5>
      <a:accent6>
        <a:srgbClr val="F79646"/>
      </a:accent6>
      <a:hlink>
        <a:srgbClr val="C0562B"/>
      </a:hlink>
      <a:folHlink>
        <a:srgbClr val="2E6F6A"/>
      </a:folHlink>
    </a:clrScheme>
    <a:fontScheme name="solar_abm_report">
      <a:majorFont>
        <a:latin typeface="Georgia"/>
        <a:ea typeface="Microsoft YaHei"/>
        <a:cs typeface="Georgia"/>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Microsoft YaHei"/>
        <a:cs typeface="Segoe UI"/>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olar_abm_repor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solar_abm_report">
  <a:themeElements>
    <a:clrScheme name="solar_abm_report">
      <a:dk1>
        <a:srgbClr val="35322C"/>
      </a:dk1>
      <a:lt1>
        <a:srgbClr val="F7F5F0"/>
      </a:lt1>
      <a:dk2>
        <a:srgbClr val="1F497D"/>
      </a:dk2>
      <a:lt2>
        <a:srgbClr val="EDE8DF"/>
      </a:lt2>
      <a:accent1>
        <a:srgbClr val="16233A"/>
      </a:accent1>
      <a:accent2>
        <a:srgbClr val="C0562B"/>
      </a:accent2>
      <a:accent3>
        <a:srgbClr val="2E6F6A"/>
      </a:accent3>
      <a:accent4>
        <a:srgbClr val="16233A"/>
      </a:accent4>
      <a:accent5>
        <a:srgbClr val="D8D2C6"/>
      </a:accent5>
      <a:accent6>
        <a:srgbClr val="F79646"/>
      </a:accent6>
      <a:hlink>
        <a:srgbClr val="C0562B"/>
      </a:hlink>
      <a:folHlink>
        <a:srgbClr val="2E6F6A"/>
      </a:folHlink>
    </a:clrScheme>
    <a:fontScheme name="solar_abm_report">
      <a:majorFont>
        <a:latin typeface="Georgia"/>
        <a:ea typeface="Microsoft YaHei"/>
        <a:cs typeface="Georgia"/>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Microsoft YaHei"/>
        <a:cs typeface="Segoe UI"/>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olar_abm_repor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14</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zh-CN</dc:language>
  <cp:lastModifiedBy/>
  <cp:revision>1</cp:revision>
  <dcterms:created xsi:type="dcterms:W3CDTF">2026-09-20T06:39:58Z</dcterms:created>
  <dcterms:modified xsi:type="dcterms:W3CDTF">2026-09-20T06:39:58Z</dcterms:modified>
  <cp:category/>
  <cp:contentStatus/>
</cp:coreProperties>
</file>